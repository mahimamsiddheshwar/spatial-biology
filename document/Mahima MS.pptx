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64" r:id="rId9"/>
    <p:sldId id="265" r:id="rId10"/>
    <p:sldId id="309" r:id="rId11"/>
    <p:sldId id="267" r:id="rId12"/>
    <p:sldId id="266" r:id="rId13"/>
    <p:sldId id="268" r:id="rId14"/>
    <p:sldId id="269" r:id="rId15"/>
    <p:sldId id="270" r:id="rId16"/>
    <p:sldId id="271" r:id="rId17"/>
    <p:sldId id="275" r:id="rId18"/>
    <p:sldId id="310" r:id="rId19"/>
    <p:sldId id="31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AD89"/>
    <a:srgbClr val="2C385E"/>
    <a:srgbClr val="006CA2"/>
    <a:srgbClr val="1F1FA1"/>
    <a:srgbClr val="248E9C"/>
    <a:srgbClr val="00CC9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033" autoAdjust="0"/>
  </p:normalViewPr>
  <p:slideViewPr>
    <p:cSldViewPr snapToGrid="0" snapToObjects="1">
      <p:cViewPr varScale="1">
        <p:scale>
          <a:sx n="93" d="100"/>
          <a:sy n="93" d="100"/>
        </p:scale>
        <p:origin x="1162"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702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shows how spatial transcriptomics works. Fresh-frozen tissue is placed on a slide with thousands of barcoded spots. Each spot captures mRNA from nearby cells. After sequencing, transcripts are quantified using UMIs, and gene expression is mapped back to spatial locations, creating a high-resolution map of gene activity across the tissue.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outlines my research question and objectives. The main question is why immune cells fail to penetrate ER-positive tumor regions, and whether we can map that barrier spatially.</a:t>
            </a:r>
          </a:p>
          <a:p>
            <a:r>
              <a:rPr lang="en-US" dirty="0"/>
              <a:t>To address this, I first identify tumor microenvironment domains, then detect spatially variable genes. Next, I estimate cell-type composition, identify tertiary lymphoid structures, and map immunosuppressive signals. Finally, I validate the tumor subtype.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HB% of 0.01% — essentially zero blood contamination — confirms exceptional tissue quality. 99.4% spot retention shows the QC filters were appropriate: stringent enough to remove dead cells, but not over-aggressive.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Data flows between notebooks via .h5ad files. Each notebook has one responsibility. The preprocessing steps in NB02 are ordered: normalization must come before log-transform, log-transform before HVG selection. This ordering is not arbitrary — it matches the mathematical assumptions of each method.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sz="1200" b="0" i="0" kern="1200" dirty="0">
                <a:solidFill>
                  <a:schemeClr val="tx1"/>
                </a:solidFill>
                <a:effectLst/>
                <a:latin typeface="+mn-lt"/>
                <a:ea typeface="+mn-ea"/>
                <a:cs typeface="+mn-cs"/>
              </a:rPr>
              <a:t>filtered out 3 cells that have less than 200 genes expressed</a:t>
            </a:r>
          </a:p>
          <a:p>
            <a:pPr marL="171450" indent="-171450">
              <a:buFontTx/>
              <a:buChar char="-"/>
            </a:pPr>
            <a:r>
              <a:rPr lang="en-US" sz="1200" b="0" i="0" kern="1200" dirty="0">
                <a:solidFill>
                  <a:schemeClr val="tx1"/>
                </a:solidFill>
                <a:effectLst/>
                <a:latin typeface="+mn-lt"/>
                <a:ea typeface="+mn-ea"/>
                <a:cs typeface="+mn-cs"/>
              </a:rPr>
              <a:t>filtered out 26 cells that have less than 500 counts </a:t>
            </a:r>
          </a:p>
          <a:p>
            <a:pPr marL="171450" indent="-171450">
              <a:buFontTx/>
              <a:buChar char="-"/>
            </a:pPr>
            <a:r>
              <a:rPr lang="en-US" sz="1200" b="0" i="0" kern="1200" dirty="0">
                <a:solidFill>
                  <a:schemeClr val="tx1"/>
                </a:solidFill>
                <a:effectLst/>
                <a:latin typeface="+mn-lt"/>
                <a:ea typeface="+mn-ea"/>
                <a:cs typeface="+mn-cs"/>
              </a:rPr>
              <a:t>filtered out 15252 genes that are detected in less than 3 cells </a:t>
            </a:r>
          </a:p>
          <a:p>
            <a:pPr marL="171450" indent="-171450">
              <a:buFontTx/>
              <a:buChar char="-"/>
            </a:pPr>
            <a:r>
              <a:rPr lang="en-US" sz="1200" b="0" i="0" kern="1200" dirty="0">
                <a:solidFill>
                  <a:schemeClr val="tx1"/>
                </a:solidFill>
                <a:effectLst/>
                <a:latin typeface="+mn-lt"/>
                <a:ea typeface="+mn-ea"/>
                <a:cs typeface="+mn-cs"/>
              </a:rPr>
              <a:t>After filtering: 4898 -&gt; 4869 spots; 36601 -&gt; 21349 genes</a:t>
            </a: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*Figure Interpretation: Spatial Organization of Tumor Heterogeneity*</a:t>
            </a:r>
            <a:r>
              <a:rPr lang="en-US" sz="1200" b="1" kern="120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figure validates that the Invasive Carcinoma is not a uniform mass, but rather composed of four distinct tumor cell clusters with unique molecular profiles: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Proliferating </a:t>
            </a:r>
            <a:r>
              <a:rPr lang="en-US" sz="1200" b="0" kern="1200" dirty="0" err="1">
                <a:solidFill>
                  <a:schemeClr val="tx1"/>
                </a:solidFill>
                <a:effectLst/>
                <a:latin typeface="+mn-lt"/>
                <a:ea typeface="+mn-ea"/>
                <a:cs typeface="+mn-cs"/>
              </a:rPr>
              <a:t>Tumour</a:t>
            </a:r>
            <a:r>
              <a:rPr lang="en-US" sz="1200" b="0" kern="1200" dirty="0">
                <a:solidFill>
                  <a:schemeClr val="tx1"/>
                </a:solidFill>
                <a:effectLst/>
                <a:latin typeface="+mn-lt"/>
                <a:ea typeface="+mn-ea"/>
                <a:cs typeface="+mn-cs"/>
              </a:rPr>
              <a:t> (Orange): Forms the large, dense mass in the bottom-half of the tissue. (CCND1+).</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Invasive Carcinoma (Pink): Composes the multiple tumor nests in the top-half. (GATA3+).</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Luminal Epithelium (Red): Forms separate tumor "islands." (SCGB2A2+).</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Secretory Cancer (Light Blue): Shows a small, distinct subpopulation. (CRISP3+).</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Combined, these four clusters represent the entire "Target" (the cancer core), which is completely delineated and separated from the rest of the stroma by the MGP+ Stromal Barrier (Purple). This map is definitive proof that the tissue is an highly organized, structured ecosystem.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r>
              <a:rPr lang="en-US" sz="1200" i="1" dirty="0">
                <a:solidFill>
                  <a:srgbClr val="0B6E63"/>
                </a:solidFill>
                <a:latin typeface="Calibri" pitchFamily="34" charset="0"/>
                <a:ea typeface="Calibri" pitchFamily="34" charset="-122"/>
                <a:cs typeface="Calibri" pitchFamily="34" charset="-120"/>
              </a:rPr>
              <a:t>TLS SIGNAL: Immunoglobulins IGLC2, IGHG3, IGKC rank #2 #4 #6 — all made exclusively by plasma cells — concentrated in the same perivascular tissue zone. First independent TLS evidence.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B6E63"/>
                </a:solidFill>
                <a:latin typeface="Calibri" pitchFamily="34" charset="0"/>
                <a:ea typeface="Calibri" pitchFamily="34" charset="-122"/>
                <a:cs typeface="Calibri" pitchFamily="34" charset="-120"/>
              </a:rPr>
              <a:t>With this I also validated the TLS structure with other methods like </a:t>
            </a:r>
            <a:r>
              <a:rPr lang="en-US" sz="1200" b="0" i="0" kern="1200" dirty="0">
                <a:solidFill>
                  <a:schemeClr val="tx1"/>
                </a:solidFill>
                <a:effectLst/>
                <a:latin typeface="+mn-lt"/>
                <a:ea typeface="+mn-ea"/>
                <a:cs typeface="+mn-cs"/>
              </a:rPr>
              <a:t>Neighborhood enrichment and Ripley L stats </a:t>
            </a:r>
            <a:r>
              <a:rPr lang="en-US" sz="1200" b="0" kern="1200" dirty="0">
                <a:solidFill>
                  <a:schemeClr val="tx1"/>
                </a:solidFill>
                <a:effectLst/>
                <a:latin typeface="+mn-lt"/>
                <a:ea typeface="+mn-ea"/>
                <a:cs typeface="+mn-cs"/>
              </a:rPr>
              <a:t>analysis confirmed that all eleven cell type clusters show positive L values — meaning every cluster is more spatially </a:t>
            </a:r>
            <a:r>
              <a:rPr lang="en-US" sz="1200" b="0" kern="1200" dirty="0" err="1">
                <a:solidFill>
                  <a:schemeClr val="tx1"/>
                </a:solidFill>
                <a:effectLst/>
                <a:latin typeface="+mn-lt"/>
                <a:ea typeface="+mn-ea"/>
                <a:cs typeface="+mn-cs"/>
              </a:rPr>
              <a:t>organised</a:t>
            </a:r>
            <a:r>
              <a:rPr lang="en-US" sz="1200" b="0" kern="1200" dirty="0">
                <a:solidFill>
                  <a:schemeClr val="tx1"/>
                </a:solidFill>
                <a:effectLst/>
                <a:latin typeface="+mn-lt"/>
                <a:ea typeface="+mn-ea"/>
                <a:cs typeface="+mn-cs"/>
              </a:rPr>
              <a:t> than random chance predicts.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dirty="0"/>
            </a:br>
            <a:r>
              <a:rPr lang="en-US" sz="1200" b="0" kern="1200" dirty="0">
                <a:solidFill>
                  <a:schemeClr val="tx1"/>
                </a:solidFill>
                <a:effectLst/>
                <a:latin typeface="+mn-lt"/>
                <a:ea typeface="+mn-ea"/>
                <a:cs typeface="+mn-cs"/>
              </a:rPr>
              <a:t>This is biologically meaningful as it confirms that the </a:t>
            </a:r>
            <a:r>
              <a:rPr lang="en-US" sz="1200" b="0" kern="1200" dirty="0" err="1">
                <a:solidFill>
                  <a:schemeClr val="tx1"/>
                </a:solidFill>
                <a:effectLst/>
                <a:latin typeface="+mn-lt"/>
                <a:ea typeface="+mn-ea"/>
                <a:cs typeface="+mn-cs"/>
              </a:rPr>
              <a:t>tumour</a:t>
            </a:r>
            <a:r>
              <a:rPr lang="en-US" sz="1200" b="0" kern="1200" dirty="0">
                <a:solidFill>
                  <a:schemeClr val="tx1"/>
                </a:solidFill>
                <a:effectLst/>
                <a:latin typeface="+mn-lt"/>
                <a:ea typeface="+mn-ea"/>
                <a:cs typeface="+mn-cs"/>
              </a:rPr>
              <a:t> forms dense concentrated nests and that the plasma cells are genuinely </a:t>
            </a:r>
            <a:r>
              <a:rPr lang="en-US" sz="1200" b="0" kern="1200" dirty="0" err="1">
                <a:solidFill>
                  <a:schemeClr val="tx1"/>
                </a:solidFill>
                <a:effectLst/>
                <a:latin typeface="+mn-lt"/>
                <a:ea typeface="+mn-ea"/>
                <a:cs typeface="+mn-cs"/>
              </a:rPr>
              <a:t>organised</a:t>
            </a:r>
            <a:r>
              <a:rPr lang="en-US" sz="1200" b="0" kern="1200" dirty="0">
                <a:solidFill>
                  <a:schemeClr val="tx1"/>
                </a:solidFill>
                <a:effectLst/>
                <a:latin typeface="+mn-lt"/>
                <a:ea typeface="+mn-ea"/>
                <a:cs typeface="+mn-cs"/>
              </a:rPr>
              <a:t> into a spatially coherent structure consistent with a Tertiary Lymphoid Structure.</a:t>
            </a:r>
          </a:p>
          <a:p>
            <a:pPr marL="0" indent="0">
              <a:buNone/>
            </a:pP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EB55F-1A5F-9704-2DE9-9BDB87248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6CA8E-AF5A-374E-3AB5-2DED006B12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870987-601F-BD6B-7606-B9AC951BB3F3}"/>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This heatmap is the single most information-dense figure in my project. Reading across rows shows where each cell type is enriched  and reading down columns shows the complete biological identity of each cluster. Three findings stand out. </a:t>
            </a:r>
          </a:p>
          <a:p>
            <a:r>
              <a:rPr lang="en-US" sz="1200" b="0" kern="1200" dirty="0">
                <a:solidFill>
                  <a:schemeClr val="tx1"/>
                </a:solidFill>
                <a:effectLst/>
                <a:latin typeface="+mn-lt"/>
                <a:ea typeface="+mn-ea"/>
                <a:cs typeface="+mn-cs"/>
              </a:rPr>
              <a:t>- First, the ER+ Invasive Carcinoma column shows Luminal A score of 1.00 confirming the molecular subtype, but all immune scores near zero numerically proving immune cells are absent from the </a:t>
            </a:r>
            <a:r>
              <a:rPr lang="en-US" sz="1200" b="0" kern="1200" dirty="0" err="1">
                <a:solidFill>
                  <a:schemeClr val="tx1"/>
                </a:solidFill>
                <a:effectLst/>
                <a:latin typeface="+mn-lt"/>
                <a:ea typeface="+mn-ea"/>
                <a:cs typeface="+mn-cs"/>
              </a:rPr>
              <a:t>tumour</a:t>
            </a:r>
            <a:r>
              <a:rPr lang="en-US" sz="1200" b="0" kern="1200" dirty="0">
                <a:solidFill>
                  <a:schemeClr val="tx1"/>
                </a:solidFill>
                <a:effectLst/>
                <a:latin typeface="+mn-lt"/>
                <a:ea typeface="+mn-ea"/>
                <a:cs typeface="+mn-cs"/>
              </a:rPr>
              <a:t> core.</a:t>
            </a:r>
          </a:p>
          <a:p>
            <a:r>
              <a:rPr lang="en-US" sz="1200" b="0" kern="1200" dirty="0">
                <a:solidFill>
                  <a:schemeClr val="tx1"/>
                </a:solidFill>
                <a:effectLst/>
                <a:latin typeface="+mn-lt"/>
                <a:ea typeface="+mn-ea"/>
                <a:cs typeface="+mn-cs"/>
              </a:rPr>
              <a:t>- Second, the Macrophages/APC column shows every immune signature at exactly 1.00 all immune cells are maximally concentrated at this boundary cluster quantitatively confirming immune exclusion. </a:t>
            </a:r>
          </a:p>
          <a:p>
            <a:r>
              <a:rPr lang="en-US" sz="1200" b="0" kern="1200" dirty="0">
                <a:solidFill>
                  <a:schemeClr val="tx1"/>
                </a:solidFill>
                <a:effectLst/>
                <a:latin typeface="+mn-lt"/>
                <a:ea typeface="+mn-ea"/>
                <a:cs typeface="+mn-cs"/>
              </a:rPr>
              <a:t>- Third, the Plasma Cells/TLS column shows TLS signature at 0.91, B cells at 0.84, and plasma cells at 0.82 simultaneously three independent TLS markers co-enriched in the same cluster.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heatmap essentially </a:t>
            </a:r>
            <a:r>
              <a:rPr lang="en-US" sz="1200" b="0" kern="1200" dirty="0" err="1">
                <a:solidFill>
                  <a:schemeClr val="tx1"/>
                </a:solidFill>
                <a:effectLst/>
                <a:latin typeface="+mn-lt"/>
                <a:ea typeface="+mn-ea"/>
                <a:cs typeface="+mn-cs"/>
              </a:rPr>
              <a:t>summarises</a:t>
            </a:r>
            <a:r>
              <a:rPr lang="en-US" sz="1200" b="0" kern="1200" dirty="0">
                <a:solidFill>
                  <a:schemeClr val="tx1"/>
                </a:solidFill>
                <a:effectLst/>
                <a:latin typeface="+mn-lt"/>
                <a:ea typeface="+mn-ea"/>
                <a:cs typeface="+mn-cs"/>
              </a:rPr>
              <a:t> my entire project in one figure where the </a:t>
            </a:r>
            <a:r>
              <a:rPr lang="en-US" sz="1200" b="0" kern="1200" dirty="0" err="1">
                <a:solidFill>
                  <a:schemeClr val="tx1"/>
                </a:solidFill>
                <a:effectLst/>
                <a:latin typeface="+mn-lt"/>
                <a:ea typeface="+mn-ea"/>
                <a:cs typeface="+mn-cs"/>
              </a:rPr>
              <a:t>tumour</a:t>
            </a:r>
            <a:r>
              <a:rPr lang="en-US" sz="1200" b="0" kern="1200" dirty="0">
                <a:solidFill>
                  <a:schemeClr val="tx1"/>
                </a:solidFill>
                <a:effectLst/>
                <a:latin typeface="+mn-lt"/>
                <a:ea typeface="+mn-ea"/>
                <a:cs typeface="+mn-cs"/>
              </a:rPr>
              <a:t> is, where immune cells are blocked, and where the TLS has formed.</a:t>
            </a:r>
          </a:p>
          <a:p>
            <a:endParaRPr lang="en-US" dirty="0"/>
          </a:p>
        </p:txBody>
      </p:sp>
      <p:sp>
        <p:nvSpPr>
          <p:cNvPr id="4" name="Slide Number Placeholder 3">
            <a:extLst>
              <a:ext uri="{FF2B5EF4-FFF2-40B4-BE49-F238E27FC236}">
                <a16:creationId xmlns:a16="http://schemas.microsoft.com/office/drawing/2014/main" id="{419123FF-576B-76B5-67C9-1A5005B355A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00835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heatmap perfectly maps the "Spatial Standoff." It shows the immune system is recruited to the Macrophages (the border), but is blocked by the Stroma (the wall) and never reaches the Carcinoma (the target).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categorical immune exclusion is the most compelling slide in the project. Every cytotoxic immune cell — T, CD8, NK, B — scores ZERO in the tumour core. Immune cells are present in the tissue but spatially excluded from the cancer cell nests. Plasma cells are the exception because they are in the TLS, not excluded — they score highest of all immune types.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Spatial subtyping using the PAM50 signature confirmed that the malignant regions are characterized by a Luminal A molecular profile (n=2,815 spots). This clinical validation provides the necessary framework to interpret the Dual Barrier mechanism: we are observing a hormone-driven (Luminal A) carcinoma that has successfully constructed a stromal wall and an immune-checkpoint shield to achieve spatial exclusion.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sz="1200" b="0" kern="1200" dirty="0">
                <a:solidFill>
                  <a:schemeClr val="tx1"/>
                </a:solidFill>
                <a:effectLst/>
                <a:latin typeface="+mn-lt"/>
                <a:ea typeface="+mn-ea"/>
                <a:cs typeface="+mn-cs"/>
              </a:rPr>
              <a:t>&gt; The tumor is a Mosaic of Resistance because the Dual Barrier is not applied uniformly. Some regions rely on structural stiffness (MGP/Collagens) to survive, while others utilize immunological exhaustion (JAK-STAT/Macrophages) to maintain the standoff. This patchy distribution is exactly why these tumors are so difficult to treat—you are fighting multiple different 'fortresses' within a single patient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Challenges demonstrate scientific maturity. Challenge 1 shows deep understanding of how AnnData propagates information. Challenge 3 shows statistical rigour — reporting the representative mean rather than the extreme max. Challenge 4 shows honest acknowledgement of platform limitations.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Order by feasibility: near-term items (01, 02) can start immediately using existing data. Mid-term items (03-05) require new experiments or data access. Long-term (06) is exploratory. The TCGA survival correlation (05) would translate this spatial finding into a clinically usable biomarker.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Mirror the opening: the three findings directly answer the central question from slide 5. End with the clinical take-away: this project spatially mapped why ER+ breast cancer resists immunotherapy — and the findings directly support a specific combination therapy that is already in Phase II trials.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Comparison slide shows you understand where each technology fits in the ecosystem. Spatial transcriptomics is NOT replacing bulk or scRNA-seq — it is filling the spatial information gap that both lack. End by linking back to your project: your use of spatial transcriptomics was motivated by needing to answer WHERE immune cells are relative to tumour, which neither bulk nor scRNA-seq can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A380C-4AF0-7F1B-14DE-DAC5BB8EA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DF77F-0B21-48AA-4705-1BBFCE85CB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2D2133-A48F-6B8E-887B-51C2E429DF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043D053-31E9-BC81-A059-E523A32AB1A6}"/>
              </a:ext>
            </a:extLst>
          </p:cNvPr>
          <p:cNvSpPr>
            <a:spLocks noGrp="1"/>
          </p:cNvSpPr>
          <p:nvPr>
            <p:ph type="sldNum" sz="quarter" idx="5"/>
          </p:nvPr>
        </p:nvSpPr>
        <p:spPr/>
        <p:txBody>
          <a:bodyPr/>
          <a:lstStyle/>
          <a:p>
            <a:fld id="{8E71E4BD-D1B2-4669-9018-599CD0EC7EAE}" type="slidenum">
              <a:rPr lang="en-US" smtClean="0"/>
              <a:t>18</a:t>
            </a:fld>
            <a:endParaRPr lang="en-US"/>
          </a:p>
        </p:txBody>
      </p:sp>
    </p:spTree>
    <p:extLst>
      <p:ext uri="{BB962C8B-B14F-4D97-AF65-F5344CB8AC3E}">
        <p14:creationId xmlns:p14="http://schemas.microsoft.com/office/powerpoint/2010/main" val="302808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0888E-EC2D-2774-5A6B-BA174DF61B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7E3EF8-F462-E4F5-D161-E090BE04EE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6A0C56-AEB0-64BF-8A77-DCBF5552BDBE}"/>
              </a:ext>
            </a:extLst>
          </p:cNvPr>
          <p:cNvSpPr>
            <a:spLocks noGrp="1"/>
          </p:cNvSpPr>
          <p:nvPr>
            <p:ph type="dt" sz="half" idx="10"/>
          </p:nvPr>
        </p:nvSpPr>
        <p:spPr/>
        <p:txBody>
          <a:bodyPr/>
          <a:lstStyle/>
          <a:p>
            <a:fld id="{C7597C10-95C6-4B83-B0D7-5C45E2B9D335}" type="datetimeFigureOut">
              <a:rPr lang="en-US" smtClean="0"/>
              <a:t>4/16/2026</a:t>
            </a:fld>
            <a:endParaRPr lang="en-US"/>
          </a:p>
        </p:txBody>
      </p:sp>
      <p:sp>
        <p:nvSpPr>
          <p:cNvPr id="5" name="Footer Placeholder 4">
            <a:extLst>
              <a:ext uri="{FF2B5EF4-FFF2-40B4-BE49-F238E27FC236}">
                <a16:creationId xmlns:a16="http://schemas.microsoft.com/office/drawing/2014/main" id="{2445F78C-8841-391F-CEC3-7761513D41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BE7B2-A98E-52A4-E6C7-897F7E0DC454}"/>
              </a:ext>
            </a:extLst>
          </p:cNvPr>
          <p:cNvSpPr>
            <a:spLocks noGrp="1"/>
          </p:cNvSpPr>
          <p:nvPr>
            <p:ph type="sldNum" sz="quarter" idx="12"/>
          </p:nvPr>
        </p:nvSpPr>
        <p:spPr/>
        <p:txBody>
          <a:bodyPr/>
          <a:lstStyle/>
          <a:p>
            <a:fld id="{D5919729-0CB7-466E-9A78-BC6EE4AD0948}" type="slidenum">
              <a:rPr lang="en-US" smtClean="0"/>
              <a:t>‹#›</a:t>
            </a:fld>
            <a:endParaRPr lang="en-US"/>
          </a:p>
        </p:txBody>
      </p:sp>
    </p:spTree>
    <p:extLst>
      <p:ext uri="{BB962C8B-B14F-4D97-AF65-F5344CB8AC3E}">
        <p14:creationId xmlns:p14="http://schemas.microsoft.com/office/powerpoint/2010/main" val="26509461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researchgate.net/figure/Four-main-types-of-spatial-transcriptomic-methods-Sequencing-based-methods-method-A_fig1_373086296" TargetMode="External"/><Relationship Id="rId5" Type="http://schemas.openxmlformats.org/officeDocument/2006/relationships/image" Target="../media/image2.png"/><Relationship Id="rId4" Type="http://schemas.openxmlformats.org/officeDocument/2006/relationships/hyperlink" Target="https://geneviatechnologies.com/bioinformatics-analyses/spatial-transcriptomic-data-analysi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MahimaMSiddheshwar" TargetMode="External"/><Relationship Id="rId5" Type="http://schemas.openxmlformats.org/officeDocument/2006/relationships/hyperlink" Target="https://www.linkedin.com/in/mahima-siddheshwar-98a585196" TargetMode="External"/><Relationship Id="rId4" Type="http://schemas.openxmlformats.org/officeDocument/2006/relationships/hyperlink" Target="mailto:mahimamahabaleshwar@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3"/>
          </a:solidFill>
          <a:ln w="12700">
            <a:solidFill>
              <a:srgbClr val="0B6E63"/>
            </a:solidFill>
            <a:prstDash val="solid"/>
          </a:ln>
        </p:spPr>
        <p:txBody>
          <a:bodyPr/>
          <a:lstStyle/>
          <a:p>
            <a:endParaRPr lang="en-US"/>
          </a:p>
        </p:txBody>
      </p:sp>
      <p:sp>
        <p:nvSpPr>
          <p:cNvPr id="3" name="Shape 1"/>
          <p:cNvSpPr/>
          <p:nvPr/>
        </p:nvSpPr>
        <p:spPr>
          <a:xfrm>
            <a:off x="128016" y="2286000"/>
            <a:ext cx="9015984" cy="45720"/>
          </a:xfrm>
          <a:prstGeom prst="rect">
            <a:avLst/>
          </a:prstGeom>
          <a:solidFill>
            <a:srgbClr val="0F9080"/>
          </a:solidFill>
          <a:ln w="12700">
            <a:solidFill>
              <a:srgbClr val="0F9080"/>
            </a:solidFill>
            <a:prstDash val="solid"/>
          </a:ln>
        </p:spPr>
        <p:txBody>
          <a:bodyPr/>
          <a:lstStyle/>
          <a:p>
            <a:endParaRPr lang="en-US"/>
          </a:p>
        </p:txBody>
      </p:sp>
      <p:sp>
        <p:nvSpPr>
          <p:cNvPr id="4" name="Text 2"/>
          <p:cNvSpPr/>
          <p:nvPr/>
        </p:nvSpPr>
        <p:spPr>
          <a:xfrm>
            <a:off x="347472" y="212891"/>
            <a:ext cx="8229600" cy="329184"/>
          </a:xfrm>
          <a:prstGeom prst="rect">
            <a:avLst/>
          </a:prstGeom>
          <a:noFill/>
          <a:ln/>
        </p:spPr>
        <p:txBody>
          <a:bodyPr wrap="square" rtlCol="0" anchor="ctr"/>
          <a:lstStyle/>
          <a:p>
            <a:pPr marL="0" indent="0">
              <a:buNone/>
            </a:pPr>
            <a:r>
              <a:rPr lang="en-US" sz="1200" b="1" i="1" kern="0" spc="400" dirty="0">
                <a:solidFill>
                  <a:srgbClr val="0F9080"/>
                </a:solidFill>
                <a:latin typeface="Calibri" pitchFamily="34" charset="0"/>
                <a:ea typeface="Calibri" pitchFamily="34" charset="-122"/>
                <a:cs typeface="Calibri" pitchFamily="34" charset="-120"/>
              </a:rPr>
              <a:t>SPATIAL TRANSCRIPTOMICS</a:t>
            </a:r>
            <a:endParaRPr lang="en-US" sz="1200" i="1" dirty="0"/>
          </a:p>
        </p:txBody>
      </p:sp>
      <p:sp>
        <p:nvSpPr>
          <p:cNvPr id="5" name="Text 3"/>
          <p:cNvSpPr/>
          <p:nvPr/>
        </p:nvSpPr>
        <p:spPr>
          <a:xfrm>
            <a:off x="457200" y="792714"/>
            <a:ext cx="8229600" cy="1371600"/>
          </a:xfrm>
          <a:prstGeom prst="rect">
            <a:avLst/>
          </a:prstGeom>
          <a:noFill/>
          <a:ln/>
        </p:spPr>
        <p:txBody>
          <a:bodyPr wrap="square" rtlCol="0" anchor="ctr"/>
          <a:lstStyle/>
          <a:p>
            <a:pPr algn="ctr"/>
            <a:r>
              <a:rPr lang="en-US" sz="3200" b="1" dirty="0">
                <a:solidFill>
                  <a:schemeClr val="bg2"/>
                </a:solidFill>
              </a:rPr>
              <a:t>The Mosaic of Resistance: Decoding the Dual-Barrier Mechanism of Immune Exclusion in ER+ Breast Cancer</a:t>
            </a:r>
            <a:endParaRPr lang="en-US" sz="3000" b="1" dirty="0">
              <a:solidFill>
                <a:schemeClr val="bg2"/>
              </a:solidFill>
            </a:endParaRPr>
          </a:p>
        </p:txBody>
      </p:sp>
      <p:sp>
        <p:nvSpPr>
          <p:cNvPr id="7" name="Text 4">
            <a:extLst>
              <a:ext uri="{FF2B5EF4-FFF2-40B4-BE49-F238E27FC236}">
                <a16:creationId xmlns:a16="http://schemas.microsoft.com/office/drawing/2014/main" id="{AC68F123-3719-E888-8B25-877F7B8FABB8}"/>
              </a:ext>
            </a:extLst>
          </p:cNvPr>
          <p:cNvSpPr/>
          <p:nvPr/>
        </p:nvSpPr>
        <p:spPr>
          <a:xfrm>
            <a:off x="347472" y="2571750"/>
            <a:ext cx="8546436" cy="359019"/>
          </a:xfrm>
          <a:prstGeom prst="rect">
            <a:avLst/>
          </a:prstGeom>
          <a:noFill/>
          <a:ln/>
        </p:spPr>
        <p:txBody>
          <a:bodyPr wrap="square" rtlCol="0" anchor="ctr"/>
          <a:lstStyle/>
          <a:p>
            <a:r>
              <a:rPr lang="en-US" sz="1300" dirty="0">
                <a:solidFill>
                  <a:schemeClr val="bg2"/>
                </a:solidFill>
                <a:latin typeface="Georgia" panose="02040502050405020303" pitchFamily="18" charset="0"/>
              </a:rPr>
              <a:t>A Spatial Analysis using 10x Genomics Visium</a:t>
            </a:r>
            <a:endParaRPr lang="en-US" sz="1300" dirty="0">
              <a:solidFill>
                <a:schemeClr val="bg2"/>
              </a:solidFill>
              <a:latin typeface="Georgia" panose="02040502050405020303" pitchFamily="18" charset="0"/>
              <a:ea typeface="Calibri" pitchFamily="34" charset="-122"/>
              <a:cs typeface="Calibri" pitchFamily="34" charset="-120"/>
            </a:endParaRPr>
          </a:p>
        </p:txBody>
      </p:sp>
      <p:grpSp>
        <p:nvGrpSpPr>
          <p:cNvPr id="8" name="Group 7">
            <a:extLst>
              <a:ext uri="{FF2B5EF4-FFF2-40B4-BE49-F238E27FC236}">
                <a16:creationId xmlns:a16="http://schemas.microsoft.com/office/drawing/2014/main" id="{D4446287-83FA-8B64-9BB3-3D359B660423}"/>
              </a:ext>
            </a:extLst>
          </p:cNvPr>
          <p:cNvGrpSpPr/>
          <p:nvPr/>
        </p:nvGrpSpPr>
        <p:grpSpPr>
          <a:xfrm>
            <a:off x="210312" y="4617720"/>
            <a:ext cx="8503920" cy="475488"/>
            <a:chOff x="329184" y="4169664"/>
            <a:chExt cx="8503920" cy="475488"/>
          </a:xfrm>
        </p:grpSpPr>
        <p:sp>
          <p:nvSpPr>
            <p:cNvPr id="16" name="Text 14"/>
            <p:cNvSpPr/>
            <p:nvPr/>
          </p:nvSpPr>
          <p:spPr>
            <a:xfrm>
              <a:off x="329184" y="4169664"/>
              <a:ext cx="6400800" cy="25603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Mahima Mahabaleshwar Siddheshwar</a:t>
              </a:r>
              <a:endParaRPr lang="en-US" sz="1200" dirty="0"/>
            </a:p>
          </p:txBody>
        </p:sp>
        <p:sp>
          <p:nvSpPr>
            <p:cNvPr id="17" name="Text 15"/>
            <p:cNvSpPr/>
            <p:nvPr/>
          </p:nvSpPr>
          <p:spPr>
            <a:xfrm>
              <a:off x="329184" y="4443984"/>
              <a:ext cx="8503920" cy="201168"/>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MS Bioinformatics · Indiana University Indianapolis · Python · Scanpy v1.12 · Squidpy v1.8.1</a:t>
              </a:r>
              <a:endParaRPr lang="en-US" sz="85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WHAT IS SPATIAL TRANSCRIPTOMICS IN GENOMICS</a:t>
            </a:r>
            <a:endParaRPr lang="en-US" sz="1700" dirty="0"/>
          </a:p>
        </p:txBody>
      </p:sp>
      <p:grpSp>
        <p:nvGrpSpPr>
          <p:cNvPr id="44" name="Group 43">
            <a:extLst>
              <a:ext uri="{FF2B5EF4-FFF2-40B4-BE49-F238E27FC236}">
                <a16:creationId xmlns:a16="http://schemas.microsoft.com/office/drawing/2014/main" id="{4FB1E824-45B3-7116-ECDC-0B014303FD87}"/>
              </a:ext>
            </a:extLst>
          </p:cNvPr>
          <p:cNvGrpSpPr/>
          <p:nvPr/>
        </p:nvGrpSpPr>
        <p:grpSpPr>
          <a:xfrm>
            <a:off x="88312" y="700063"/>
            <a:ext cx="3956162" cy="4418740"/>
            <a:chOff x="255876" y="700063"/>
            <a:chExt cx="4063286" cy="4418740"/>
          </a:xfrm>
        </p:grpSpPr>
        <p:grpSp>
          <p:nvGrpSpPr>
            <p:cNvPr id="26" name="Group 25">
              <a:extLst>
                <a:ext uri="{FF2B5EF4-FFF2-40B4-BE49-F238E27FC236}">
                  <a16:creationId xmlns:a16="http://schemas.microsoft.com/office/drawing/2014/main" id="{854CCF6F-7BA4-CAC1-89F6-53419F7E396F}"/>
                </a:ext>
              </a:extLst>
            </p:cNvPr>
            <p:cNvGrpSpPr/>
            <p:nvPr/>
          </p:nvGrpSpPr>
          <p:grpSpPr>
            <a:xfrm>
              <a:off x="255876" y="700063"/>
              <a:ext cx="3931920" cy="4418740"/>
              <a:chOff x="4937760" y="749808"/>
              <a:chExt cx="3931920" cy="4418740"/>
            </a:xfrm>
          </p:grpSpPr>
          <p:sp>
            <p:nvSpPr>
              <p:cNvPr id="14" name="Shape 12"/>
              <p:cNvSpPr/>
              <p:nvPr/>
            </p:nvSpPr>
            <p:spPr>
              <a:xfrm>
                <a:off x="4937760" y="749808"/>
                <a:ext cx="3931920" cy="45720"/>
              </a:xfrm>
              <a:prstGeom prst="rect">
                <a:avLst/>
              </a:prstGeom>
              <a:solidFill>
                <a:srgbClr val="0B6E63"/>
              </a:solidFill>
              <a:ln w="12700">
                <a:solidFill>
                  <a:srgbClr val="0B6E63"/>
                </a:solidFill>
                <a:prstDash val="solid"/>
              </a:ln>
            </p:spPr>
            <p:txBody>
              <a:bodyPr/>
              <a:lstStyle/>
              <a:p>
                <a:endParaRPr lang="en-US"/>
              </a:p>
            </p:txBody>
          </p:sp>
          <p:sp>
            <p:nvSpPr>
              <p:cNvPr id="15" name="Text 13"/>
              <p:cNvSpPr/>
              <p:nvPr/>
            </p:nvSpPr>
            <p:spPr>
              <a:xfrm>
                <a:off x="5047488" y="804672"/>
                <a:ext cx="3712464" cy="292608"/>
              </a:xfrm>
              <a:prstGeom prst="rect">
                <a:avLst/>
              </a:prstGeom>
              <a:noFill/>
              <a:ln/>
            </p:spPr>
            <p:txBody>
              <a:bodyPr wrap="square" rtlCol="0" anchor="ctr"/>
              <a:lstStyle/>
              <a:p>
                <a:pPr marL="0" indent="0">
                  <a:buNone/>
                </a:pPr>
                <a:r>
                  <a:rPr lang="en-US" sz="1200" b="1" dirty="0">
                    <a:solidFill>
                      <a:srgbClr val="0B6E63"/>
                    </a:solidFill>
                    <a:latin typeface="Calibri" pitchFamily="34" charset="0"/>
                    <a:ea typeface="Calibri" pitchFamily="34" charset="-122"/>
                    <a:cs typeface="Calibri" pitchFamily="34" charset="-120"/>
                  </a:rPr>
                  <a:t>SPATIAL TRANSCRIPTOMICS</a:t>
                </a:r>
                <a:endParaRPr lang="en-US" sz="1200" dirty="0"/>
              </a:p>
            </p:txBody>
          </p:sp>
          <p:sp>
            <p:nvSpPr>
              <p:cNvPr id="19" name="Text 17"/>
              <p:cNvSpPr/>
              <p:nvPr/>
            </p:nvSpPr>
            <p:spPr>
              <a:xfrm>
                <a:off x="5101358" y="3339748"/>
                <a:ext cx="3749040" cy="1828800"/>
              </a:xfrm>
              <a:prstGeom prst="rect">
                <a:avLst/>
              </a:prstGeom>
              <a:noFill/>
              <a:ln/>
            </p:spPr>
            <p:txBody>
              <a:bodyPr wrap="square" rtlCol="0" anchor="ctr"/>
              <a:lstStyle/>
              <a:p>
                <a:pPr algn="ctr">
                  <a:spcAft>
                    <a:spcPts val="300"/>
                  </a:spcAft>
                  <a:buSzPct val="100000"/>
                </a:pPr>
                <a:r>
                  <a:rPr lang="en-US" sz="1600" dirty="0">
                    <a:solidFill>
                      <a:srgbClr val="002060"/>
                    </a:solidFill>
                  </a:rPr>
                  <a:t>Spatial transcriptomics is a molecular profiling method that maps gene expression (RNA) directly onto tissue sections, preserving spatial context. </a:t>
                </a:r>
              </a:p>
            </p:txBody>
          </p:sp>
        </p:grpSp>
        <p:grpSp>
          <p:nvGrpSpPr>
            <p:cNvPr id="35" name="Group 34">
              <a:extLst>
                <a:ext uri="{FF2B5EF4-FFF2-40B4-BE49-F238E27FC236}">
                  <a16:creationId xmlns:a16="http://schemas.microsoft.com/office/drawing/2014/main" id="{36193859-6C14-C41D-EC99-BB9BE5C0015D}"/>
                </a:ext>
              </a:extLst>
            </p:cNvPr>
            <p:cNvGrpSpPr/>
            <p:nvPr/>
          </p:nvGrpSpPr>
          <p:grpSpPr>
            <a:xfrm>
              <a:off x="285579" y="1047535"/>
              <a:ext cx="4033583" cy="2587752"/>
              <a:chOff x="314777" y="980615"/>
              <a:chExt cx="3347386" cy="2213024"/>
            </a:xfrm>
          </p:grpSpPr>
          <p:pic>
            <p:nvPicPr>
              <p:cNvPr id="36" name="Picture 6" descr="Spatial transcriptomic data analysis - Genevia Technologies">
                <a:extLst>
                  <a:ext uri="{FF2B5EF4-FFF2-40B4-BE49-F238E27FC236}">
                    <a16:creationId xmlns:a16="http://schemas.microsoft.com/office/drawing/2014/main" id="{98E7487B-C41D-173C-F3A2-3883C55BB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777" y="980615"/>
                <a:ext cx="3048635" cy="2179999"/>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6B297926-6507-5A16-6F16-18C0FEB4BD15}"/>
                  </a:ext>
                </a:extLst>
              </p:cNvPr>
              <p:cNvSpPr txBox="1"/>
              <p:nvPr/>
            </p:nvSpPr>
            <p:spPr>
              <a:xfrm>
                <a:off x="613528" y="3024362"/>
                <a:ext cx="3048635" cy="169277"/>
              </a:xfrm>
              <a:prstGeom prst="rect">
                <a:avLst/>
              </a:prstGeom>
              <a:noFill/>
            </p:spPr>
            <p:txBody>
              <a:bodyPr wrap="square">
                <a:spAutoFit/>
              </a:bodyPr>
              <a:lstStyle/>
              <a:p>
                <a:r>
                  <a:rPr lang="en-US" sz="500" dirty="0"/>
                  <a:t>Reference: </a:t>
                </a:r>
                <a:r>
                  <a:rPr lang="en-US" sz="500" dirty="0">
                    <a:hlinkClick r:id="rId4"/>
                  </a:rPr>
                  <a:t>https://geneviatechnologies.com/bioinformatics-analyses/spatial-transcriptomic-data-analysis/</a:t>
                </a:r>
                <a:r>
                  <a:rPr lang="en-US" sz="500" dirty="0"/>
                  <a:t> </a:t>
                </a:r>
              </a:p>
            </p:txBody>
          </p:sp>
        </p:grpSp>
      </p:grpSp>
      <p:grpSp>
        <p:nvGrpSpPr>
          <p:cNvPr id="47" name="Group 46">
            <a:extLst>
              <a:ext uri="{FF2B5EF4-FFF2-40B4-BE49-F238E27FC236}">
                <a16:creationId xmlns:a16="http://schemas.microsoft.com/office/drawing/2014/main" id="{AE41DF2D-1927-9160-CF0C-D2E2501C2E4D}"/>
              </a:ext>
            </a:extLst>
          </p:cNvPr>
          <p:cNvGrpSpPr/>
          <p:nvPr/>
        </p:nvGrpSpPr>
        <p:grpSpPr>
          <a:xfrm>
            <a:off x="3916571" y="901231"/>
            <a:ext cx="5110198" cy="3494854"/>
            <a:chOff x="3916571" y="901231"/>
            <a:chExt cx="5110198" cy="3494854"/>
          </a:xfrm>
        </p:grpSpPr>
        <p:pic>
          <p:nvPicPr>
            <p:cNvPr id="43" name="Picture 42">
              <a:extLst>
                <a:ext uri="{FF2B5EF4-FFF2-40B4-BE49-F238E27FC236}">
                  <a16:creationId xmlns:a16="http://schemas.microsoft.com/office/drawing/2014/main" id="{3ACF0A35-4551-3650-FBC7-50AAC8E04933}"/>
                </a:ext>
              </a:extLst>
            </p:cNvPr>
            <p:cNvPicPr>
              <a:picLocks noChangeAspect="1"/>
            </p:cNvPicPr>
            <p:nvPr/>
          </p:nvPicPr>
          <p:blipFill>
            <a:blip r:embed="rId5"/>
            <a:srcRect l="2745" r="1272"/>
            <a:stretch>
              <a:fillRect/>
            </a:stretch>
          </p:blipFill>
          <p:spPr>
            <a:xfrm>
              <a:off x="3916571" y="901231"/>
              <a:ext cx="5110198" cy="3469307"/>
            </a:xfrm>
            <a:prstGeom prst="rect">
              <a:avLst/>
            </a:prstGeom>
          </p:spPr>
        </p:pic>
        <p:sp>
          <p:nvSpPr>
            <p:cNvPr id="46" name="TextBox 45">
              <a:extLst>
                <a:ext uri="{FF2B5EF4-FFF2-40B4-BE49-F238E27FC236}">
                  <a16:creationId xmlns:a16="http://schemas.microsoft.com/office/drawing/2014/main" id="{D58F04A3-C733-66BE-71D2-5895BD8663BC}"/>
                </a:ext>
              </a:extLst>
            </p:cNvPr>
            <p:cNvSpPr txBox="1"/>
            <p:nvPr/>
          </p:nvSpPr>
          <p:spPr>
            <a:xfrm>
              <a:off x="4316589" y="4226808"/>
              <a:ext cx="4579814" cy="169277"/>
            </a:xfrm>
            <a:prstGeom prst="rect">
              <a:avLst/>
            </a:prstGeom>
            <a:noFill/>
          </p:spPr>
          <p:txBody>
            <a:bodyPr wrap="square">
              <a:spAutoFit/>
            </a:bodyPr>
            <a:lstStyle/>
            <a:p>
              <a:r>
                <a:rPr lang="en-US" sz="500" dirty="0"/>
                <a:t>Reference: </a:t>
              </a:r>
              <a:r>
                <a:rPr lang="en-US" sz="500" dirty="0">
                  <a:hlinkClick r:id="rId6"/>
                </a:rPr>
                <a:t>https://www.researchgate.net/figure/Four-main-types-of-spatial-transcriptomic-methods-Sequencing-based-methods-method-A_fig1_373086296</a:t>
              </a:r>
              <a:r>
                <a:rPr lang="en-US" sz="500" dirty="0"/>
                <a:t>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10x GENOMICS VISIUM — HOW IT WORKS</a:t>
            </a:r>
            <a:endParaRPr lang="en-US" sz="1700" dirty="0"/>
          </a:p>
        </p:txBody>
      </p:sp>
      <p:grpSp>
        <p:nvGrpSpPr>
          <p:cNvPr id="51" name="Group 50">
            <a:extLst>
              <a:ext uri="{FF2B5EF4-FFF2-40B4-BE49-F238E27FC236}">
                <a16:creationId xmlns:a16="http://schemas.microsoft.com/office/drawing/2014/main" id="{E6C12FA6-32B5-CB27-3639-357CFB8E4F28}"/>
              </a:ext>
            </a:extLst>
          </p:cNvPr>
          <p:cNvGrpSpPr/>
          <p:nvPr/>
        </p:nvGrpSpPr>
        <p:grpSpPr>
          <a:xfrm>
            <a:off x="274320" y="1243584"/>
            <a:ext cx="8522208" cy="2505456"/>
            <a:chOff x="274320" y="749808"/>
            <a:chExt cx="8522208" cy="2505456"/>
          </a:xfrm>
        </p:grpSpPr>
        <p:sp>
          <p:nvSpPr>
            <p:cNvPr id="4" name="Shape 2"/>
            <p:cNvSpPr/>
            <p:nvPr/>
          </p:nvSpPr>
          <p:spPr>
            <a:xfrm>
              <a:off x="274320" y="749808"/>
              <a:ext cx="1572768" cy="1737360"/>
            </a:xfrm>
            <a:prstGeom prst="rect">
              <a:avLst/>
            </a:prstGeom>
            <a:solidFill>
              <a:srgbClr val="FFFFFF"/>
            </a:solidFill>
            <a:ln w="2286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5" name="Shape 3"/>
            <p:cNvSpPr/>
            <p:nvPr/>
          </p:nvSpPr>
          <p:spPr>
            <a:xfrm>
              <a:off x="274320" y="749808"/>
              <a:ext cx="1572768" cy="420624"/>
            </a:xfrm>
            <a:prstGeom prst="rect">
              <a:avLst/>
            </a:prstGeom>
            <a:solidFill>
              <a:srgbClr val="1A2B45"/>
            </a:solidFill>
            <a:ln w="12700">
              <a:solidFill>
                <a:srgbClr val="1A2B45"/>
              </a:solidFill>
              <a:prstDash val="solid"/>
            </a:ln>
          </p:spPr>
          <p:txBody>
            <a:bodyPr/>
            <a:lstStyle/>
            <a:p>
              <a:endParaRPr lang="en-US"/>
            </a:p>
          </p:txBody>
        </p:sp>
        <p:sp>
          <p:nvSpPr>
            <p:cNvPr id="6" name="Text 4"/>
            <p:cNvSpPr/>
            <p:nvPr/>
          </p:nvSpPr>
          <p:spPr>
            <a:xfrm>
              <a:off x="274320" y="768096"/>
              <a:ext cx="457200" cy="384048"/>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731520" y="822960"/>
              <a:ext cx="1042416" cy="292608"/>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Tissue Section</a:t>
              </a:r>
              <a:endParaRPr lang="en-US" sz="950" dirty="0"/>
            </a:p>
          </p:txBody>
        </p:sp>
        <p:sp>
          <p:nvSpPr>
            <p:cNvPr id="8" name="Text 6"/>
            <p:cNvSpPr/>
            <p:nvPr/>
          </p:nvSpPr>
          <p:spPr>
            <a:xfrm>
              <a:off x="347472" y="1243584"/>
              <a:ext cx="1444752" cy="1188720"/>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Fresh-frozen breast cancer tissue cryosectioned at 10 μm. Placed on Visium capture slide.</a:t>
              </a:r>
              <a:endParaRPr lang="en-US" sz="900" dirty="0"/>
            </a:p>
          </p:txBody>
        </p:sp>
        <p:sp>
          <p:nvSpPr>
            <p:cNvPr id="9" name="Shape 7"/>
            <p:cNvSpPr/>
            <p:nvPr/>
          </p:nvSpPr>
          <p:spPr>
            <a:xfrm>
              <a:off x="1865376" y="1490472"/>
              <a:ext cx="201168" cy="128016"/>
            </a:xfrm>
            <a:prstGeom prst="rect">
              <a:avLst/>
            </a:prstGeom>
            <a:solidFill>
              <a:srgbClr val="0F9080"/>
            </a:solidFill>
            <a:ln w="12700">
              <a:solidFill>
                <a:srgbClr val="0F9080"/>
              </a:solidFill>
              <a:prstDash val="solid"/>
            </a:ln>
          </p:spPr>
          <p:txBody>
            <a:bodyPr/>
            <a:lstStyle/>
            <a:p>
              <a:endParaRPr lang="en-US"/>
            </a:p>
          </p:txBody>
        </p:sp>
        <p:sp>
          <p:nvSpPr>
            <p:cNvPr id="10" name="Shape 8"/>
            <p:cNvSpPr/>
            <p:nvPr/>
          </p:nvSpPr>
          <p:spPr>
            <a:xfrm>
              <a:off x="2011680" y="749808"/>
              <a:ext cx="1572768" cy="1737360"/>
            </a:xfrm>
            <a:prstGeom prst="rect">
              <a:avLst/>
            </a:prstGeom>
            <a:solidFill>
              <a:srgbClr val="FFFFFF"/>
            </a:solidFill>
            <a:ln w="2286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11" name="Shape 9"/>
            <p:cNvSpPr/>
            <p:nvPr/>
          </p:nvSpPr>
          <p:spPr>
            <a:xfrm>
              <a:off x="2011680" y="749808"/>
              <a:ext cx="1572768" cy="420624"/>
            </a:xfrm>
            <a:prstGeom prst="rect">
              <a:avLst/>
            </a:prstGeom>
            <a:solidFill>
              <a:srgbClr val="0B6E63"/>
            </a:solidFill>
            <a:ln w="12700">
              <a:solidFill>
                <a:srgbClr val="0B6E63"/>
              </a:solidFill>
              <a:prstDash val="solid"/>
            </a:ln>
          </p:spPr>
          <p:txBody>
            <a:bodyPr/>
            <a:lstStyle/>
            <a:p>
              <a:endParaRPr lang="en-US"/>
            </a:p>
          </p:txBody>
        </p:sp>
        <p:sp>
          <p:nvSpPr>
            <p:cNvPr id="12" name="Text 10"/>
            <p:cNvSpPr/>
            <p:nvPr/>
          </p:nvSpPr>
          <p:spPr>
            <a:xfrm>
              <a:off x="2011680" y="768096"/>
              <a:ext cx="457200" cy="384048"/>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2468880" y="822960"/>
              <a:ext cx="1042416" cy="292608"/>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Spot Array</a:t>
              </a:r>
              <a:endParaRPr lang="en-US" sz="950" dirty="0"/>
            </a:p>
          </p:txBody>
        </p:sp>
        <p:sp>
          <p:nvSpPr>
            <p:cNvPr id="14" name="Text 12"/>
            <p:cNvSpPr/>
            <p:nvPr/>
          </p:nvSpPr>
          <p:spPr>
            <a:xfrm>
              <a:off x="2084832" y="1243584"/>
              <a:ext cx="1444752" cy="1188720"/>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6,500 barcoded spots on slide. Each spot 55 μm diameter. H&amp;E image captured first.</a:t>
              </a:r>
              <a:endParaRPr lang="en-US" sz="900" dirty="0"/>
            </a:p>
          </p:txBody>
        </p:sp>
        <p:sp>
          <p:nvSpPr>
            <p:cNvPr id="15" name="Shape 13"/>
            <p:cNvSpPr/>
            <p:nvPr/>
          </p:nvSpPr>
          <p:spPr>
            <a:xfrm>
              <a:off x="3602736" y="1490472"/>
              <a:ext cx="201168" cy="128016"/>
            </a:xfrm>
            <a:prstGeom prst="rect">
              <a:avLst/>
            </a:prstGeom>
            <a:solidFill>
              <a:srgbClr val="0F9080"/>
            </a:solidFill>
            <a:ln w="12700">
              <a:solidFill>
                <a:srgbClr val="0F9080"/>
              </a:solidFill>
              <a:prstDash val="solid"/>
            </a:ln>
          </p:spPr>
          <p:txBody>
            <a:bodyPr/>
            <a:lstStyle/>
            <a:p>
              <a:endParaRPr lang="en-US"/>
            </a:p>
          </p:txBody>
        </p:sp>
        <p:sp>
          <p:nvSpPr>
            <p:cNvPr id="16" name="Shape 14"/>
            <p:cNvSpPr/>
            <p:nvPr/>
          </p:nvSpPr>
          <p:spPr>
            <a:xfrm>
              <a:off x="3749040" y="749808"/>
              <a:ext cx="1572768" cy="1737360"/>
            </a:xfrm>
            <a:prstGeom prst="rect">
              <a:avLst/>
            </a:prstGeom>
            <a:solidFill>
              <a:srgbClr val="FFFFFF"/>
            </a:solidFill>
            <a:ln w="2286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17" name="Shape 15"/>
            <p:cNvSpPr/>
            <p:nvPr/>
          </p:nvSpPr>
          <p:spPr>
            <a:xfrm>
              <a:off x="3749040" y="749808"/>
              <a:ext cx="1572768" cy="420624"/>
            </a:xfrm>
            <a:prstGeom prst="rect">
              <a:avLst/>
            </a:prstGeom>
            <a:solidFill>
              <a:srgbClr val="0B6E63"/>
            </a:solidFill>
            <a:ln w="12700">
              <a:solidFill>
                <a:srgbClr val="0B6E63"/>
              </a:solidFill>
              <a:prstDash val="solid"/>
            </a:ln>
          </p:spPr>
          <p:txBody>
            <a:bodyPr/>
            <a:lstStyle/>
            <a:p>
              <a:endParaRPr lang="en-US"/>
            </a:p>
          </p:txBody>
        </p:sp>
        <p:sp>
          <p:nvSpPr>
            <p:cNvPr id="18" name="Text 16"/>
            <p:cNvSpPr/>
            <p:nvPr/>
          </p:nvSpPr>
          <p:spPr>
            <a:xfrm>
              <a:off x="3749040" y="768096"/>
              <a:ext cx="457200" cy="384048"/>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4206240" y="822960"/>
              <a:ext cx="1042416" cy="292608"/>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mRNA Capture</a:t>
              </a:r>
              <a:endParaRPr lang="en-US" sz="950" dirty="0"/>
            </a:p>
          </p:txBody>
        </p:sp>
        <p:sp>
          <p:nvSpPr>
            <p:cNvPr id="20" name="Text 18"/>
            <p:cNvSpPr/>
            <p:nvPr/>
          </p:nvSpPr>
          <p:spPr>
            <a:xfrm>
              <a:off x="3822192" y="1243584"/>
              <a:ext cx="1444752" cy="1188720"/>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mRNA diffuses from tissue into spots. Each spot captures RNA from ~8 overlying cells.</a:t>
              </a:r>
              <a:endParaRPr lang="en-US" sz="900" dirty="0"/>
            </a:p>
          </p:txBody>
        </p:sp>
        <p:sp>
          <p:nvSpPr>
            <p:cNvPr id="21" name="Shape 19"/>
            <p:cNvSpPr/>
            <p:nvPr/>
          </p:nvSpPr>
          <p:spPr>
            <a:xfrm>
              <a:off x="5340096" y="1490472"/>
              <a:ext cx="201168" cy="128016"/>
            </a:xfrm>
            <a:prstGeom prst="rect">
              <a:avLst/>
            </a:prstGeom>
            <a:solidFill>
              <a:srgbClr val="0F9080"/>
            </a:solidFill>
            <a:ln w="12700">
              <a:solidFill>
                <a:srgbClr val="0F9080"/>
              </a:solidFill>
              <a:prstDash val="solid"/>
            </a:ln>
          </p:spPr>
          <p:txBody>
            <a:bodyPr/>
            <a:lstStyle/>
            <a:p>
              <a:endParaRPr lang="en-US"/>
            </a:p>
          </p:txBody>
        </p:sp>
        <p:sp>
          <p:nvSpPr>
            <p:cNvPr id="22" name="Shape 20"/>
            <p:cNvSpPr/>
            <p:nvPr/>
          </p:nvSpPr>
          <p:spPr>
            <a:xfrm>
              <a:off x="5486400" y="749808"/>
              <a:ext cx="1572768" cy="1737360"/>
            </a:xfrm>
            <a:prstGeom prst="rect">
              <a:avLst/>
            </a:prstGeom>
            <a:solidFill>
              <a:srgbClr val="FFFFFF"/>
            </a:solidFill>
            <a:ln w="2286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23" name="Shape 21"/>
            <p:cNvSpPr/>
            <p:nvPr/>
          </p:nvSpPr>
          <p:spPr>
            <a:xfrm>
              <a:off x="5486400" y="749808"/>
              <a:ext cx="1572768" cy="420624"/>
            </a:xfrm>
            <a:prstGeom prst="rect">
              <a:avLst/>
            </a:prstGeom>
            <a:solidFill>
              <a:srgbClr val="1A2B45"/>
            </a:solidFill>
            <a:ln w="12700">
              <a:solidFill>
                <a:srgbClr val="1A2B45"/>
              </a:solidFill>
              <a:prstDash val="solid"/>
            </a:ln>
          </p:spPr>
          <p:txBody>
            <a:bodyPr/>
            <a:lstStyle/>
            <a:p>
              <a:endParaRPr lang="en-US"/>
            </a:p>
          </p:txBody>
        </p:sp>
        <p:sp>
          <p:nvSpPr>
            <p:cNvPr id="24" name="Text 22"/>
            <p:cNvSpPr/>
            <p:nvPr/>
          </p:nvSpPr>
          <p:spPr>
            <a:xfrm>
              <a:off x="5486400" y="768096"/>
              <a:ext cx="457200" cy="384048"/>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Text 23"/>
            <p:cNvSpPr/>
            <p:nvPr/>
          </p:nvSpPr>
          <p:spPr>
            <a:xfrm>
              <a:off x="5943600" y="822960"/>
              <a:ext cx="1042416" cy="292608"/>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Sequencing</a:t>
              </a:r>
              <a:endParaRPr lang="en-US" sz="950" dirty="0"/>
            </a:p>
          </p:txBody>
        </p:sp>
        <p:sp>
          <p:nvSpPr>
            <p:cNvPr id="26" name="Text 24"/>
            <p:cNvSpPr/>
            <p:nvPr/>
          </p:nvSpPr>
          <p:spPr>
            <a:xfrm>
              <a:off x="5559552" y="1243584"/>
              <a:ext cx="1444752" cy="1188720"/>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Spot barcodes + UMIs uniquely identify each molecule. Sequenced by Illumina.</a:t>
              </a:r>
              <a:endParaRPr lang="en-US" sz="900" dirty="0"/>
            </a:p>
          </p:txBody>
        </p:sp>
        <p:sp>
          <p:nvSpPr>
            <p:cNvPr id="27" name="Shape 25"/>
            <p:cNvSpPr/>
            <p:nvPr/>
          </p:nvSpPr>
          <p:spPr>
            <a:xfrm>
              <a:off x="7077456" y="1490472"/>
              <a:ext cx="201168" cy="128016"/>
            </a:xfrm>
            <a:prstGeom prst="rect">
              <a:avLst/>
            </a:prstGeom>
            <a:solidFill>
              <a:srgbClr val="0F9080"/>
            </a:solidFill>
            <a:ln w="12700">
              <a:solidFill>
                <a:srgbClr val="0F9080"/>
              </a:solidFill>
              <a:prstDash val="solid"/>
            </a:ln>
          </p:spPr>
          <p:txBody>
            <a:bodyPr/>
            <a:lstStyle/>
            <a:p>
              <a:endParaRPr lang="en-US"/>
            </a:p>
          </p:txBody>
        </p:sp>
        <p:sp>
          <p:nvSpPr>
            <p:cNvPr id="28" name="Shape 26"/>
            <p:cNvSpPr/>
            <p:nvPr/>
          </p:nvSpPr>
          <p:spPr>
            <a:xfrm>
              <a:off x="7223760" y="749808"/>
              <a:ext cx="1572768" cy="1737360"/>
            </a:xfrm>
            <a:prstGeom prst="rect">
              <a:avLst/>
            </a:prstGeom>
            <a:solidFill>
              <a:srgbClr val="FFFFFF"/>
            </a:solidFill>
            <a:ln w="22860">
              <a:solidFill>
                <a:srgbClr val="2D3F55"/>
              </a:solidFill>
              <a:prstDash val="solid"/>
            </a:ln>
            <a:effectLst>
              <a:outerShdw blurRad="76200" dist="38100" dir="8100000" algn="bl" rotWithShape="0">
                <a:srgbClr val="000000">
                  <a:alpha val="10000"/>
                </a:srgbClr>
              </a:outerShdw>
            </a:effectLst>
          </p:spPr>
          <p:txBody>
            <a:bodyPr/>
            <a:lstStyle/>
            <a:p>
              <a:endParaRPr lang="en-US"/>
            </a:p>
          </p:txBody>
        </p:sp>
        <p:sp>
          <p:nvSpPr>
            <p:cNvPr id="29" name="Shape 27"/>
            <p:cNvSpPr/>
            <p:nvPr/>
          </p:nvSpPr>
          <p:spPr>
            <a:xfrm>
              <a:off x="7223760" y="749808"/>
              <a:ext cx="1572768" cy="420624"/>
            </a:xfrm>
            <a:prstGeom prst="rect">
              <a:avLst/>
            </a:prstGeom>
            <a:solidFill>
              <a:srgbClr val="2D3F55"/>
            </a:solidFill>
            <a:ln w="12700">
              <a:solidFill>
                <a:srgbClr val="2D3F55"/>
              </a:solidFill>
              <a:prstDash val="solid"/>
            </a:ln>
          </p:spPr>
          <p:txBody>
            <a:bodyPr/>
            <a:lstStyle/>
            <a:p>
              <a:endParaRPr lang="en-US"/>
            </a:p>
          </p:txBody>
        </p:sp>
        <p:sp>
          <p:nvSpPr>
            <p:cNvPr id="30" name="Text 28"/>
            <p:cNvSpPr/>
            <p:nvPr/>
          </p:nvSpPr>
          <p:spPr>
            <a:xfrm>
              <a:off x="7223760" y="768096"/>
              <a:ext cx="457200" cy="384048"/>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1" name="Text 29"/>
            <p:cNvSpPr/>
            <p:nvPr/>
          </p:nvSpPr>
          <p:spPr>
            <a:xfrm>
              <a:off x="7680960" y="822960"/>
              <a:ext cx="1042416" cy="292608"/>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Data Matrix</a:t>
              </a:r>
              <a:endParaRPr lang="en-US" sz="950" dirty="0"/>
            </a:p>
          </p:txBody>
        </p:sp>
        <p:sp>
          <p:nvSpPr>
            <p:cNvPr id="32" name="Text 30"/>
            <p:cNvSpPr/>
            <p:nvPr/>
          </p:nvSpPr>
          <p:spPr>
            <a:xfrm>
              <a:off x="7296912" y="1243584"/>
              <a:ext cx="1444752" cy="1188720"/>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Spots × genes count matrix. Each spot has XY coordinates matching H&amp;E image.</a:t>
              </a:r>
              <a:endParaRPr lang="en-US" sz="900" dirty="0"/>
            </a:p>
          </p:txBody>
        </p:sp>
        <p:sp>
          <p:nvSpPr>
            <p:cNvPr id="33" name="Shape 31"/>
            <p:cNvSpPr/>
            <p:nvPr/>
          </p:nvSpPr>
          <p:spPr>
            <a:xfrm>
              <a:off x="274320" y="2633472"/>
              <a:ext cx="1572768" cy="621792"/>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34" name="Text 32"/>
            <p:cNvSpPr/>
            <p:nvPr/>
          </p:nvSpPr>
          <p:spPr>
            <a:xfrm>
              <a:off x="274320" y="2660904"/>
              <a:ext cx="1572768" cy="329184"/>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6,500</a:t>
              </a:r>
              <a:endParaRPr lang="en-US" sz="2000" dirty="0"/>
            </a:p>
          </p:txBody>
        </p:sp>
        <p:sp>
          <p:nvSpPr>
            <p:cNvPr id="35" name="Text 33"/>
            <p:cNvSpPr/>
            <p:nvPr/>
          </p:nvSpPr>
          <p:spPr>
            <a:xfrm>
              <a:off x="274320" y="2971800"/>
              <a:ext cx="1572768" cy="237744"/>
            </a:xfrm>
            <a:prstGeom prst="rect">
              <a:avLst/>
            </a:prstGeom>
            <a:noFill/>
            <a:ln/>
          </p:spPr>
          <p:txBody>
            <a:bodyPr wrap="square" rtlCol="0" anchor="ctr"/>
            <a:lstStyle/>
            <a:p>
              <a:pPr marL="0" indent="0" algn="ctr">
                <a:buNone/>
              </a:pPr>
              <a:r>
                <a:rPr lang="en-US" sz="850" dirty="0">
                  <a:solidFill>
                    <a:srgbClr val="8A9CB0"/>
                  </a:solidFill>
                  <a:latin typeface="Calibri" pitchFamily="34" charset="0"/>
                  <a:ea typeface="Calibri" pitchFamily="34" charset="-122"/>
                  <a:cs typeface="Calibri" pitchFamily="34" charset="-120"/>
                </a:rPr>
                <a:t>spots on slide</a:t>
              </a:r>
              <a:endParaRPr lang="en-US" sz="850" dirty="0"/>
            </a:p>
          </p:txBody>
        </p:sp>
        <p:sp>
          <p:nvSpPr>
            <p:cNvPr id="36" name="Shape 34"/>
            <p:cNvSpPr/>
            <p:nvPr/>
          </p:nvSpPr>
          <p:spPr>
            <a:xfrm>
              <a:off x="2011680" y="2633472"/>
              <a:ext cx="1572768" cy="621792"/>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37" name="Text 35"/>
            <p:cNvSpPr/>
            <p:nvPr/>
          </p:nvSpPr>
          <p:spPr>
            <a:xfrm>
              <a:off x="2011680" y="2660904"/>
              <a:ext cx="1572768" cy="329184"/>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55 μm</a:t>
              </a:r>
              <a:endParaRPr lang="en-US" sz="2000" dirty="0"/>
            </a:p>
          </p:txBody>
        </p:sp>
        <p:sp>
          <p:nvSpPr>
            <p:cNvPr id="38" name="Text 36"/>
            <p:cNvSpPr/>
            <p:nvPr/>
          </p:nvSpPr>
          <p:spPr>
            <a:xfrm>
              <a:off x="2011680" y="2971800"/>
              <a:ext cx="1572768" cy="237744"/>
            </a:xfrm>
            <a:prstGeom prst="rect">
              <a:avLst/>
            </a:prstGeom>
            <a:noFill/>
            <a:ln/>
          </p:spPr>
          <p:txBody>
            <a:bodyPr wrap="square" rtlCol="0" anchor="ctr"/>
            <a:lstStyle/>
            <a:p>
              <a:pPr marL="0" indent="0" algn="ctr">
                <a:buNone/>
              </a:pPr>
              <a:r>
                <a:rPr lang="en-US" sz="850" dirty="0">
                  <a:solidFill>
                    <a:srgbClr val="8A9CB0"/>
                  </a:solidFill>
                  <a:latin typeface="Calibri" pitchFamily="34" charset="0"/>
                  <a:ea typeface="Calibri" pitchFamily="34" charset="-122"/>
                  <a:cs typeface="Calibri" pitchFamily="34" charset="-120"/>
                </a:rPr>
                <a:t>spot diameter</a:t>
              </a:r>
              <a:endParaRPr lang="en-US" sz="850" dirty="0"/>
            </a:p>
          </p:txBody>
        </p:sp>
        <p:sp>
          <p:nvSpPr>
            <p:cNvPr id="39" name="Shape 37"/>
            <p:cNvSpPr/>
            <p:nvPr/>
          </p:nvSpPr>
          <p:spPr>
            <a:xfrm>
              <a:off x="3749040" y="2633472"/>
              <a:ext cx="1572768" cy="621792"/>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40" name="Text 38"/>
            <p:cNvSpPr/>
            <p:nvPr/>
          </p:nvSpPr>
          <p:spPr>
            <a:xfrm>
              <a:off x="3749040" y="2660904"/>
              <a:ext cx="1572768" cy="329184"/>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~8 cells</a:t>
              </a:r>
              <a:endParaRPr lang="en-US" sz="2000" dirty="0"/>
            </a:p>
          </p:txBody>
        </p:sp>
        <p:sp>
          <p:nvSpPr>
            <p:cNvPr id="41" name="Text 39"/>
            <p:cNvSpPr/>
            <p:nvPr/>
          </p:nvSpPr>
          <p:spPr>
            <a:xfrm>
              <a:off x="3749040" y="2971800"/>
              <a:ext cx="1572768" cy="237744"/>
            </a:xfrm>
            <a:prstGeom prst="rect">
              <a:avLst/>
            </a:prstGeom>
            <a:noFill/>
            <a:ln/>
          </p:spPr>
          <p:txBody>
            <a:bodyPr wrap="square" rtlCol="0" anchor="ctr"/>
            <a:lstStyle/>
            <a:p>
              <a:pPr marL="0" indent="0" algn="ctr">
                <a:buNone/>
              </a:pPr>
              <a:r>
                <a:rPr lang="en-US" sz="850" dirty="0">
                  <a:solidFill>
                    <a:srgbClr val="8A9CB0"/>
                  </a:solidFill>
                  <a:latin typeface="Calibri" pitchFamily="34" charset="0"/>
                  <a:ea typeface="Calibri" pitchFamily="34" charset="-122"/>
                  <a:cs typeface="Calibri" pitchFamily="34" charset="-120"/>
                </a:rPr>
                <a:t>captured per spot</a:t>
              </a:r>
              <a:endParaRPr lang="en-US" sz="850" dirty="0"/>
            </a:p>
          </p:txBody>
        </p:sp>
        <p:sp>
          <p:nvSpPr>
            <p:cNvPr id="42" name="Shape 40"/>
            <p:cNvSpPr/>
            <p:nvPr/>
          </p:nvSpPr>
          <p:spPr>
            <a:xfrm>
              <a:off x="5486400" y="2633472"/>
              <a:ext cx="1572768" cy="621792"/>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43" name="Text 41"/>
            <p:cNvSpPr/>
            <p:nvPr/>
          </p:nvSpPr>
          <p:spPr>
            <a:xfrm>
              <a:off x="5486400" y="2660904"/>
              <a:ext cx="1572768" cy="329184"/>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50M+</a:t>
              </a:r>
              <a:endParaRPr lang="en-US" sz="2000" dirty="0"/>
            </a:p>
          </p:txBody>
        </p:sp>
        <p:sp>
          <p:nvSpPr>
            <p:cNvPr id="44" name="Text 42"/>
            <p:cNvSpPr/>
            <p:nvPr/>
          </p:nvSpPr>
          <p:spPr>
            <a:xfrm>
              <a:off x="5486400" y="2971800"/>
              <a:ext cx="1572768" cy="237744"/>
            </a:xfrm>
            <a:prstGeom prst="rect">
              <a:avLst/>
            </a:prstGeom>
            <a:noFill/>
            <a:ln/>
          </p:spPr>
          <p:txBody>
            <a:bodyPr wrap="square" rtlCol="0" anchor="ctr"/>
            <a:lstStyle/>
            <a:p>
              <a:pPr marL="0" indent="0" algn="ctr">
                <a:buNone/>
              </a:pPr>
              <a:r>
                <a:rPr lang="en-US" sz="850" dirty="0">
                  <a:solidFill>
                    <a:srgbClr val="8A9CB0"/>
                  </a:solidFill>
                  <a:latin typeface="Calibri" pitchFamily="34" charset="0"/>
                  <a:ea typeface="Calibri" pitchFamily="34" charset="-122"/>
                  <a:cs typeface="Calibri" pitchFamily="34" charset="-120"/>
                </a:rPr>
                <a:t>total UMI (this study)</a:t>
              </a:r>
              <a:endParaRPr lang="en-US" sz="850" dirty="0"/>
            </a:p>
          </p:txBody>
        </p:sp>
        <p:sp>
          <p:nvSpPr>
            <p:cNvPr id="45" name="Shape 43"/>
            <p:cNvSpPr/>
            <p:nvPr/>
          </p:nvSpPr>
          <p:spPr>
            <a:xfrm>
              <a:off x="7223760" y="2633472"/>
              <a:ext cx="1572768" cy="621792"/>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46" name="Text 44"/>
            <p:cNvSpPr/>
            <p:nvPr/>
          </p:nvSpPr>
          <p:spPr>
            <a:xfrm>
              <a:off x="7223760" y="2660904"/>
              <a:ext cx="1572768" cy="329184"/>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36,601</a:t>
              </a:r>
              <a:endParaRPr lang="en-US" sz="2000" dirty="0"/>
            </a:p>
          </p:txBody>
        </p:sp>
        <p:sp>
          <p:nvSpPr>
            <p:cNvPr id="47" name="Text 45"/>
            <p:cNvSpPr/>
            <p:nvPr/>
          </p:nvSpPr>
          <p:spPr>
            <a:xfrm>
              <a:off x="7223760" y="2971800"/>
              <a:ext cx="1572768" cy="237744"/>
            </a:xfrm>
            <a:prstGeom prst="rect">
              <a:avLst/>
            </a:prstGeom>
            <a:noFill/>
            <a:ln/>
          </p:spPr>
          <p:txBody>
            <a:bodyPr wrap="square" rtlCol="0" anchor="ctr"/>
            <a:lstStyle/>
            <a:p>
              <a:pPr marL="0" indent="0" algn="ctr">
                <a:buNone/>
              </a:pPr>
              <a:r>
                <a:rPr lang="en-US" sz="850" dirty="0">
                  <a:solidFill>
                    <a:srgbClr val="8A9CB0"/>
                  </a:solidFill>
                  <a:latin typeface="Calibri" pitchFamily="34" charset="0"/>
                  <a:ea typeface="Calibri" pitchFamily="34" charset="-122"/>
                  <a:cs typeface="Calibri" pitchFamily="34" charset="-120"/>
                </a:rPr>
                <a:t>genes detected</a:t>
              </a:r>
              <a:endParaRPr lang="en-US" sz="85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RESEARCH QUESTION &amp; OBJECTIVES</a:t>
            </a:r>
            <a:endParaRPr lang="en-US" sz="1700" dirty="0"/>
          </a:p>
        </p:txBody>
      </p:sp>
      <p:sp>
        <p:nvSpPr>
          <p:cNvPr id="4" name="Shape 2"/>
          <p:cNvSpPr/>
          <p:nvPr/>
        </p:nvSpPr>
        <p:spPr>
          <a:xfrm>
            <a:off x="274320" y="731520"/>
            <a:ext cx="8595360" cy="859536"/>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5" name="Text 3"/>
          <p:cNvSpPr/>
          <p:nvPr/>
        </p:nvSpPr>
        <p:spPr>
          <a:xfrm>
            <a:off x="457200" y="786384"/>
            <a:ext cx="8229600" cy="237744"/>
          </a:xfrm>
          <a:prstGeom prst="rect">
            <a:avLst/>
          </a:prstGeom>
          <a:noFill/>
          <a:ln/>
        </p:spPr>
        <p:txBody>
          <a:bodyPr wrap="square" rtlCol="0" anchor="ctr"/>
          <a:lstStyle/>
          <a:p>
            <a:pPr marL="0" indent="0">
              <a:buNone/>
            </a:pPr>
            <a:r>
              <a:rPr lang="en-US" sz="950" b="1" kern="0" spc="200" dirty="0">
                <a:solidFill>
                  <a:srgbClr val="0F9080"/>
                </a:solidFill>
                <a:latin typeface="Calibri" pitchFamily="34" charset="0"/>
                <a:ea typeface="Calibri" pitchFamily="34" charset="-122"/>
                <a:cs typeface="Calibri" pitchFamily="34" charset="-120"/>
              </a:rPr>
              <a:t>CENTRAL QUESTION</a:t>
            </a:r>
            <a:endParaRPr lang="en-US" sz="950" dirty="0"/>
          </a:p>
        </p:txBody>
      </p:sp>
      <p:sp>
        <p:nvSpPr>
          <p:cNvPr id="6" name="Text 4"/>
          <p:cNvSpPr/>
          <p:nvPr/>
        </p:nvSpPr>
        <p:spPr>
          <a:xfrm>
            <a:off x="457200" y="1024128"/>
            <a:ext cx="8229600" cy="493776"/>
          </a:xfrm>
          <a:prstGeom prst="rect">
            <a:avLst/>
          </a:prstGeom>
          <a:noFill/>
          <a:ln/>
        </p:spPr>
        <p:txBody>
          <a:bodyPr wrap="square"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Why do immune cells fail to penetrate ER+ breast cancer tumour nests — and can we spatially map the molecular barrier?</a:t>
            </a:r>
            <a:endParaRPr lang="en-US" sz="1400" dirty="0"/>
          </a:p>
        </p:txBody>
      </p:sp>
      <p:sp>
        <p:nvSpPr>
          <p:cNvPr id="7" name="Shape 5"/>
          <p:cNvSpPr/>
          <p:nvPr/>
        </p:nvSpPr>
        <p:spPr>
          <a:xfrm>
            <a:off x="274320" y="1737360"/>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8" name="Shape 6"/>
          <p:cNvSpPr/>
          <p:nvPr/>
        </p:nvSpPr>
        <p:spPr>
          <a:xfrm>
            <a:off x="274320" y="1737360"/>
            <a:ext cx="54864" cy="987552"/>
          </a:xfrm>
          <a:prstGeom prst="rect">
            <a:avLst/>
          </a:prstGeom>
          <a:solidFill>
            <a:srgbClr val="0B6E63"/>
          </a:solidFill>
          <a:ln w="12700">
            <a:solidFill>
              <a:srgbClr val="0B6E63"/>
            </a:solidFill>
            <a:prstDash val="solid"/>
          </a:ln>
        </p:spPr>
        <p:txBody>
          <a:bodyPr/>
          <a:lstStyle/>
          <a:p>
            <a:endParaRPr lang="en-US"/>
          </a:p>
        </p:txBody>
      </p:sp>
      <p:sp>
        <p:nvSpPr>
          <p:cNvPr id="9" name="Shape 7"/>
          <p:cNvSpPr/>
          <p:nvPr/>
        </p:nvSpPr>
        <p:spPr>
          <a:xfrm>
            <a:off x="365760" y="1828800"/>
            <a:ext cx="329184" cy="329184"/>
          </a:xfrm>
          <a:prstGeom prst="ellipse">
            <a:avLst/>
          </a:prstGeom>
          <a:solidFill>
            <a:srgbClr val="0B6E63"/>
          </a:solidFill>
          <a:ln w="12700">
            <a:solidFill>
              <a:srgbClr val="0B6E63"/>
            </a:solidFill>
            <a:prstDash val="solid"/>
          </a:ln>
        </p:spPr>
        <p:txBody>
          <a:bodyPr/>
          <a:lstStyle/>
          <a:p>
            <a:endParaRPr lang="en-US"/>
          </a:p>
        </p:txBody>
      </p:sp>
      <p:sp>
        <p:nvSpPr>
          <p:cNvPr id="10" name="Text 8"/>
          <p:cNvSpPr/>
          <p:nvPr/>
        </p:nvSpPr>
        <p:spPr>
          <a:xfrm>
            <a:off x="365760" y="1847088"/>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O1</a:t>
            </a:r>
            <a:endParaRPr lang="en-US" sz="850" dirty="0"/>
          </a:p>
        </p:txBody>
      </p:sp>
      <p:sp>
        <p:nvSpPr>
          <p:cNvPr id="11" name="Text 9"/>
          <p:cNvSpPr/>
          <p:nvPr/>
        </p:nvSpPr>
        <p:spPr>
          <a:xfrm>
            <a:off x="768096" y="1828800"/>
            <a:ext cx="3657600" cy="274320"/>
          </a:xfrm>
          <a:prstGeom prst="rect">
            <a:avLst/>
          </a:prstGeom>
          <a:noFill/>
          <a:ln/>
        </p:spPr>
        <p:txBody>
          <a:bodyPr wrap="square" rtlCol="0" anchor="ctr"/>
          <a:lstStyle/>
          <a:p>
            <a:pPr marL="0" indent="0">
              <a:buNone/>
            </a:pPr>
            <a:r>
              <a:rPr lang="en-US" sz="1050" b="1" dirty="0">
                <a:solidFill>
                  <a:srgbClr val="0B6E63"/>
                </a:solidFill>
                <a:latin typeface="Calibri" pitchFamily="34" charset="0"/>
                <a:ea typeface="Calibri" pitchFamily="34" charset="-122"/>
                <a:cs typeface="Calibri" pitchFamily="34" charset="-120"/>
              </a:rPr>
              <a:t>Identify TME domains</a:t>
            </a:r>
            <a:endParaRPr lang="en-US" sz="1050" dirty="0"/>
          </a:p>
        </p:txBody>
      </p:sp>
      <p:sp>
        <p:nvSpPr>
          <p:cNvPr id="12" name="Text 10"/>
          <p:cNvSpPr/>
          <p:nvPr/>
        </p:nvSpPr>
        <p:spPr>
          <a:xfrm>
            <a:off x="768096" y="2139696"/>
            <a:ext cx="3657600" cy="512064"/>
          </a:xfrm>
          <a:prstGeom prst="rect">
            <a:avLst/>
          </a:prstGeom>
          <a:noFill/>
          <a:ln/>
        </p:spPr>
        <p:txBody>
          <a:bodyPr wrap="square" rtlCol="0" anchor="ctr"/>
          <a:lstStyle/>
          <a:p>
            <a:r>
              <a:rPr lang="en-US" sz="1000" dirty="0"/>
              <a:t>Use Leiden clustering to define spatially distinct tissue compartments</a:t>
            </a:r>
            <a:endParaRPr lang="en-US" sz="950" dirty="0"/>
          </a:p>
        </p:txBody>
      </p:sp>
      <p:sp>
        <p:nvSpPr>
          <p:cNvPr id="13" name="Shape 11"/>
          <p:cNvSpPr/>
          <p:nvPr/>
        </p:nvSpPr>
        <p:spPr>
          <a:xfrm>
            <a:off x="4709160" y="1737360"/>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14" name="Shape 12"/>
          <p:cNvSpPr/>
          <p:nvPr/>
        </p:nvSpPr>
        <p:spPr>
          <a:xfrm>
            <a:off x="4709160" y="1737360"/>
            <a:ext cx="54864" cy="987552"/>
          </a:xfrm>
          <a:prstGeom prst="rect">
            <a:avLst/>
          </a:prstGeom>
          <a:solidFill>
            <a:srgbClr val="1A2B45"/>
          </a:solidFill>
          <a:ln w="12700">
            <a:solidFill>
              <a:srgbClr val="1A2B45"/>
            </a:solidFill>
            <a:prstDash val="solid"/>
          </a:ln>
        </p:spPr>
        <p:txBody>
          <a:bodyPr/>
          <a:lstStyle/>
          <a:p>
            <a:endParaRPr lang="en-US"/>
          </a:p>
        </p:txBody>
      </p:sp>
      <p:sp>
        <p:nvSpPr>
          <p:cNvPr id="15" name="Shape 13"/>
          <p:cNvSpPr/>
          <p:nvPr/>
        </p:nvSpPr>
        <p:spPr>
          <a:xfrm>
            <a:off x="4800600" y="1828800"/>
            <a:ext cx="329184" cy="329184"/>
          </a:xfrm>
          <a:prstGeom prst="ellipse">
            <a:avLst/>
          </a:prstGeom>
          <a:solidFill>
            <a:srgbClr val="1A2B45"/>
          </a:solidFill>
          <a:ln w="12700">
            <a:solidFill>
              <a:srgbClr val="1A2B45"/>
            </a:solidFill>
            <a:prstDash val="solid"/>
          </a:ln>
        </p:spPr>
        <p:txBody>
          <a:bodyPr/>
          <a:lstStyle/>
          <a:p>
            <a:endParaRPr lang="en-US"/>
          </a:p>
        </p:txBody>
      </p:sp>
      <p:sp>
        <p:nvSpPr>
          <p:cNvPr id="16" name="Text 14"/>
          <p:cNvSpPr/>
          <p:nvPr/>
        </p:nvSpPr>
        <p:spPr>
          <a:xfrm>
            <a:off x="4800600" y="1847088"/>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O2</a:t>
            </a:r>
            <a:endParaRPr lang="en-US" sz="850" dirty="0"/>
          </a:p>
        </p:txBody>
      </p:sp>
      <p:sp>
        <p:nvSpPr>
          <p:cNvPr id="17" name="Text 15"/>
          <p:cNvSpPr/>
          <p:nvPr/>
        </p:nvSpPr>
        <p:spPr>
          <a:xfrm>
            <a:off x="5202936" y="1828800"/>
            <a:ext cx="3657600" cy="274320"/>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Map spatially variable genes</a:t>
            </a:r>
            <a:endParaRPr lang="en-US" sz="1050" dirty="0"/>
          </a:p>
        </p:txBody>
      </p:sp>
      <p:sp>
        <p:nvSpPr>
          <p:cNvPr id="18" name="Text 16"/>
          <p:cNvSpPr/>
          <p:nvPr/>
        </p:nvSpPr>
        <p:spPr>
          <a:xfrm>
            <a:off x="5202936" y="2139696"/>
            <a:ext cx="3657600" cy="512064"/>
          </a:xfrm>
          <a:prstGeom prst="rect">
            <a:avLst/>
          </a:prstGeom>
          <a:noFill/>
          <a:ln/>
        </p:spPr>
        <p:txBody>
          <a:bodyPr wrap="square" rtlCol="0" anchor="ctr"/>
          <a:lstStyle/>
          <a:p>
            <a:r>
              <a:rPr lang="en-US" sz="1000" dirty="0"/>
              <a:t>Apply Moran’s I on highly variable genes to detect spatial gene expression patterns</a:t>
            </a:r>
            <a:endParaRPr lang="en-US" sz="950" dirty="0"/>
          </a:p>
        </p:txBody>
      </p:sp>
      <p:sp>
        <p:nvSpPr>
          <p:cNvPr id="19" name="Shape 17"/>
          <p:cNvSpPr/>
          <p:nvPr/>
        </p:nvSpPr>
        <p:spPr>
          <a:xfrm>
            <a:off x="274320" y="2798064"/>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20" name="Shape 18"/>
          <p:cNvSpPr/>
          <p:nvPr/>
        </p:nvSpPr>
        <p:spPr>
          <a:xfrm>
            <a:off x="274320" y="2798064"/>
            <a:ext cx="54864" cy="987552"/>
          </a:xfrm>
          <a:prstGeom prst="rect">
            <a:avLst/>
          </a:prstGeom>
          <a:solidFill>
            <a:srgbClr val="0B6E63"/>
          </a:solidFill>
          <a:ln w="12700">
            <a:solidFill>
              <a:srgbClr val="0B6E63"/>
            </a:solidFill>
            <a:prstDash val="solid"/>
          </a:ln>
        </p:spPr>
        <p:txBody>
          <a:bodyPr/>
          <a:lstStyle/>
          <a:p>
            <a:endParaRPr lang="en-US"/>
          </a:p>
        </p:txBody>
      </p:sp>
      <p:sp>
        <p:nvSpPr>
          <p:cNvPr id="21" name="Shape 19"/>
          <p:cNvSpPr/>
          <p:nvPr/>
        </p:nvSpPr>
        <p:spPr>
          <a:xfrm>
            <a:off x="365760" y="2889504"/>
            <a:ext cx="329184" cy="329184"/>
          </a:xfrm>
          <a:prstGeom prst="ellipse">
            <a:avLst/>
          </a:prstGeom>
          <a:solidFill>
            <a:srgbClr val="0B6E63"/>
          </a:solidFill>
          <a:ln w="12700">
            <a:solidFill>
              <a:srgbClr val="0B6E63"/>
            </a:solidFill>
            <a:prstDash val="solid"/>
          </a:ln>
        </p:spPr>
        <p:txBody>
          <a:bodyPr/>
          <a:lstStyle/>
          <a:p>
            <a:endParaRPr lang="en-US"/>
          </a:p>
        </p:txBody>
      </p:sp>
      <p:sp>
        <p:nvSpPr>
          <p:cNvPr id="22" name="Text 20"/>
          <p:cNvSpPr/>
          <p:nvPr/>
        </p:nvSpPr>
        <p:spPr>
          <a:xfrm>
            <a:off x="365760" y="2907792"/>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O3</a:t>
            </a:r>
            <a:endParaRPr lang="en-US" sz="850" dirty="0"/>
          </a:p>
        </p:txBody>
      </p:sp>
      <p:sp>
        <p:nvSpPr>
          <p:cNvPr id="23" name="Text 21"/>
          <p:cNvSpPr/>
          <p:nvPr/>
        </p:nvSpPr>
        <p:spPr>
          <a:xfrm>
            <a:off x="768096" y="2889504"/>
            <a:ext cx="3657600" cy="274320"/>
          </a:xfrm>
          <a:prstGeom prst="rect">
            <a:avLst/>
          </a:prstGeom>
          <a:noFill/>
          <a:ln/>
        </p:spPr>
        <p:txBody>
          <a:bodyPr wrap="square" rtlCol="0" anchor="ctr"/>
          <a:lstStyle/>
          <a:p>
            <a:pPr marL="0" indent="0">
              <a:buNone/>
            </a:pPr>
            <a:r>
              <a:rPr lang="en-US" sz="1050" b="1" dirty="0">
                <a:solidFill>
                  <a:srgbClr val="0B6E63"/>
                </a:solidFill>
                <a:latin typeface="Calibri" pitchFamily="34" charset="0"/>
                <a:ea typeface="Calibri" pitchFamily="34" charset="-122"/>
                <a:cs typeface="Calibri" pitchFamily="34" charset="-120"/>
              </a:rPr>
              <a:t>Score Cell Type Signatures</a:t>
            </a:r>
            <a:endParaRPr lang="en-US" sz="1050" dirty="0"/>
          </a:p>
        </p:txBody>
      </p:sp>
      <p:sp>
        <p:nvSpPr>
          <p:cNvPr id="24" name="Text 22"/>
          <p:cNvSpPr/>
          <p:nvPr/>
        </p:nvSpPr>
        <p:spPr>
          <a:xfrm>
            <a:off x="768096" y="3200400"/>
            <a:ext cx="3657600" cy="512064"/>
          </a:xfrm>
          <a:prstGeom prst="rect">
            <a:avLst/>
          </a:prstGeom>
          <a:noFill/>
          <a:ln/>
        </p:spPr>
        <p:txBody>
          <a:bodyPr wrap="square" rtlCol="0" anchor="ctr"/>
          <a:lstStyle/>
          <a:p>
            <a:r>
              <a:rPr lang="en-US" sz="1000" dirty="0"/>
              <a:t>Estimate enrichment of 24 cell types across spatial spots</a:t>
            </a:r>
            <a:endParaRPr lang="en-US" sz="950" dirty="0"/>
          </a:p>
        </p:txBody>
      </p:sp>
      <p:sp>
        <p:nvSpPr>
          <p:cNvPr id="25" name="Shape 23"/>
          <p:cNvSpPr/>
          <p:nvPr/>
        </p:nvSpPr>
        <p:spPr>
          <a:xfrm>
            <a:off x="4709160" y="2798064"/>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26" name="Shape 24"/>
          <p:cNvSpPr/>
          <p:nvPr/>
        </p:nvSpPr>
        <p:spPr>
          <a:xfrm>
            <a:off x="4709160" y="2798064"/>
            <a:ext cx="54864" cy="987552"/>
          </a:xfrm>
          <a:prstGeom prst="rect">
            <a:avLst/>
          </a:prstGeom>
          <a:solidFill>
            <a:srgbClr val="B8860B"/>
          </a:solidFill>
          <a:ln w="12700">
            <a:solidFill>
              <a:srgbClr val="B8860B"/>
            </a:solidFill>
            <a:prstDash val="solid"/>
          </a:ln>
        </p:spPr>
        <p:txBody>
          <a:bodyPr/>
          <a:lstStyle/>
          <a:p>
            <a:endParaRPr lang="en-US"/>
          </a:p>
        </p:txBody>
      </p:sp>
      <p:sp>
        <p:nvSpPr>
          <p:cNvPr id="27" name="Shape 25"/>
          <p:cNvSpPr/>
          <p:nvPr/>
        </p:nvSpPr>
        <p:spPr>
          <a:xfrm>
            <a:off x="4800600" y="2889504"/>
            <a:ext cx="329184" cy="329184"/>
          </a:xfrm>
          <a:prstGeom prst="ellipse">
            <a:avLst/>
          </a:prstGeom>
          <a:solidFill>
            <a:srgbClr val="B8860B"/>
          </a:solidFill>
          <a:ln w="12700">
            <a:solidFill>
              <a:srgbClr val="B8860B"/>
            </a:solidFill>
            <a:prstDash val="solid"/>
          </a:ln>
        </p:spPr>
        <p:txBody>
          <a:bodyPr/>
          <a:lstStyle/>
          <a:p>
            <a:endParaRPr lang="en-US"/>
          </a:p>
        </p:txBody>
      </p:sp>
      <p:sp>
        <p:nvSpPr>
          <p:cNvPr id="28" name="Text 26"/>
          <p:cNvSpPr/>
          <p:nvPr/>
        </p:nvSpPr>
        <p:spPr>
          <a:xfrm>
            <a:off x="4800600" y="2907792"/>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O4</a:t>
            </a:r>
            <a:endParaRPr lang="en-US" sz="850" dirty="0"/>
          </a:p>
        </p:txBody>
      </p:sp>
      <p:sp>
        <p:nvSpPr>
          <p:cNvPr id="29" name="Text 27"/>
          <p:cNvSpPr/>
          <p:nvPr/>
        </p:nvSpPr>
        <p:spPr>
          <a:xfrm>
            <a:off x="5202936" y="2889504"/>
            <a:ext cx="3657600" cy="274320"/>
          </a:xfrm>
          <a:prstGeom prst="rect">
            <a:avLst/>
          </a:prstGeom>
          <a:noFill/>
          <a:ln/>
        </p:spPr>
        <p:txBody>
          <a:bodyPr wrap="square" rtlCol="0" anchor="ctr"/>
          <a:lstStyle/>
          <a:p>
            <a:pPr marL="0" indent="0">
              <a:buNone/>
            </a:pPr>
            <a:r>
              <a:rPr lang="en-US" sz="1050" b="1" dirty="0">
                <a:solidFill>
                  <a:srgbClr val="B8860B"/>
                </a:solidFill>
                <a:latin typeface="Calibri" pitchFamily="34" charset="0"/>
                <a:ea typeface="Calibri" pitchFamily="34" charset="-122"/>
                <a:cs typeface="Calibri" pitchFamily="34" charset="-120"/>
              </a:rPr>
              <a:t>Detect Tertiary Lymphoid Structure (TLS)</a:t>
            </a:r>
            <a:endParaRPr lang="en-US" sz="1050" dirty="0"/>
          </a:p>
        </p:txBody>
      </p:sp>
      <p:sp>
        <p:nvSpPr>
          <p:cNvPr id="30" name="Text 28"/>
          <p:cNvSpPr/>
          <p:nvPr/>
        </p:nvSpPr>
        <p:spPr>
          <a:xfrm>
            <a:off x="5202936" y="3200400"/>
            <a:ext cx="3657600" cy="512064"/>
          </a:xfrm>
          <a:prstGeom prst="rect">
            <a:avLst/>
          </a:prstGeom>
          <a:noFill/>
          <a:ln/>
        </p:spPr>
        <p:txBody>
          <a:bodyPr wrap="square" rtlCol="0" anchor="ctr"/>
          <a:lstStyle/>
          <a:p>
            <a:r>
              <a:rPr lang="en-US" sz="1000" dirty="0"/>
              <a:t>Use three independent methods to identify consistent TLS signals</a:t>
            </a:r>
            <a:endParaRPr lang="en-US" sz="950" dirty="0"/>
          </a:p>
        </p:txBody>
      </p:sp>
      <p:sp>
        <p:nvSpPr>
          <p:cNvPr id="31" name="Shape 29"/>
          <p:cNvSpPr/>
          <p:nvPr/>
        </p:nvSpPr>
        <p:spPr>
          <a:xfrm>
            <a:off x="274320" y="3858768"/>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32" name="Shape 30"/>
          <p:cNvSpPr/>
          <p:nvPr/>
        </p:nvSpPr>
        <p:spPr>
          <a:xfrm>
            <a:off x="274320" y="3858768"/>
            <a:ext cx="54864" cy="987552"/>
          </a:xfrm>
          <a:prstGeom prst="rect">
            <a:avLst/>
          </a:prstGeom>
          <a:solidFill>
            <a:srgbClr val="A63010"/>
          </a:solidFill>
          <a:ln w="12700">
            <a:solidFill>
              <a:srgbClr val="A63010"/>
            </a:solidFill>
            <a:prstDash val="solid"/>
          </a:ln>
        </p:spPr>
        <p:txBody>
          <a:bodyPr/>
          <a:lstStyle/>
          <a:p>
            <a:endParaRPr lang="en-US"/>
          </a:p>
        </p:txBody>
      </p:sp>
      <p:sp>
        <p:nvSpPr>
          <p:cNvPr id="33" name="Shape 31"/>
          <p:cNvSpPr/>
          <p:nvPr/>
        </p:nvSpPr>
        <p:spPr>
          <a:xfrm>
            <a:off x="365760" y="3950208"/>
            <a:ext cx="329184" cy="329184"/>
          </a:xfrm>
          <a:prstGeom prst="ellipse">
            <a:avLst/>
          </a:prstGeom>
          <a:solidFill>
            <a:srgbClr val="A63010"/>
          </a:solidFill>
          <a:ln w="12700">
            <a:solidFill>
              <a:srgbClr val="A63010"/>
            </a:solidFill>
            <a:prstDash val="solid"/>
          </a:ln>
        </p:spPr>
        <p:txBody>
          <a:bodyPr/>
          <a:lstStyle/>
          <a:p>
            <a:endParaRPr lang="en-US"/>
          </a:p>
        </p:txBody>
      </p:sp>
      <p:sp>
        <p:nvSpPr>
          <p:cNvPr id="34" name="Text 32"/>
          <p:cNvSpPr/>
          <p:nvPr/>
        </p:nvSpPr>
        <p:spPr>
          <a:xfrm>
            <a:off x="365760" y="3968496"/>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O5</a:t>
            </a:r>
            <a:endParaRPr lang="en-US" sz="850" dirty="0"/>
          </a:p>
        </p:txBody>
      </p:sp>
      <p:sp>
        <p:nvSpPr>
          <p:cNvPr id="35" name="Text 33"/>
          <p:cNvSpPr/>
          <p:nvPr/>
        </p:nvSpPr>
        <p:spPr>
          <a:xfrm>
            <a:off x="768096" y="3950208"/>
            <a:ext cx="3657600" cy="274320"/>
          </a:xfrm>
          <a:prstGeom prst="rect">
            <a:avLst/>
          </a:prstGeom>
          <a:noFill/>
          <a:ln/>
        </p:spPr>
        <p:txBody>
          <a:bodyPr wrap="square" rtlCol="0" anchor="ctr"/>
          <a:lstStyle/>
          <a:p>
            <a:pPr marL="0" indent="0">
              <a:buNone/>
            </a:pPr>
            <a:r>
              <a:rPr lang="en-US" sz="1050" b="1" dirty="0">
                <a:solidFill>
                  <a:srgbClr val="A63010"/>
                </a:solidFill>
                <a:latin typeface="Calibri" pitchFamily="34" charset="0"/>
                <a:ea typeface="Calibri" pitchFamily="34" charset="-122"/>
                <a:cs typeface="Calibri" pitchFamily="34" charset="-120"/>
              </a:rPr>
              <a:t>Map the dual immunosuppressive barrier</a:t>
            </a:r>
            <a:endParaRPr lang="en-US" sz="1050" dirty="0"/>
          </a:p>
        </p:txBody>
      </p:sp>
      <p:sp>
        <p:nvSpPr>
          <p:cNvPr id="36" name="Text 34"/>
          <p:cNvSpPr/>
          <p:nvPr/>
        </p:nvSpPr>
        <p:spPr>
          <a:xfrm>
            <a:off x="768096" y="4261104"/>
            <a:ext cx="3657600" cy="512064"/>
          </a:xfrm>
          <a:prstGeom prst="rect">
            <a:avLst/>
          </a:prstGeom>
          <a:noFill/>
          <a:ln/>
        </p:spPr>
        <p:txBody>
          <a:bodyPr wrap="square" rtlCol="0" anchor="ctr"/>
          <a:lstStyle/>
          <a:p>
            <a:r>
              <a:rPr lang="en-US" sz="1000" dirty="0"/>
              <a:t>Characterize co-localization of PD-L1/PD-1 signaling and TGF-β-rich stroma</a:t>
            </a:r>
            <a:endParaRPr lang="en-US" sz="950" dirty="0"/>
          </a:p>
        </p:txBody>
      </p:sp>
      <p:sp>
        <p:nvSpPr>
          <p:cNvPr id="37" name="Shape 35"/>
          <p:cNvSpPr/>
          <p:nvPr/>
        </p:nvSpPr>
        <p:spPr>
          <a:xfrm>
            <a:off x="4709160" y="3858768"/>
            <a:ext cx="4251960" cy="987552"/>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38" name="Shape 36"/>
          <p:cNvSpPr/>
          <p:nvPr/>
        </p:nvSpPr>
        <p:spPr>
          <a:xfrm>
            <a:off x="4709160" y="3858768"/>
            <a:ext cx="54864" cy="987552"/>
          </a:xfrm>
          <a:prstGeom prst="rect">
            <a:avLst/>
          </a:prstGeom>
          <a:solidFill>
            <a:srgbClr val="1A2B45"/>
          </a:solidFill>
          <a:ln w="12700">
            <a:solidFill>
              <a:srgbClr val="1A2B45"/>
            </a:solidFill>
            <a:prstDash val="solid"/>
          </a:ln>
        </p:spPr>
        <p:txBody>
          <a:bodyPr/>
          <a:lstStyle/>
          <a:p>
            <a:endParaRPr lang="en-US"/>
          </a:p>
        </p:txBody>
      </p:sp>
      <p:sp>
        <p:nvSpPr>
          <p:cNvPr id="39" name="Shape 37"/>
          <p:cNvSpPr/>
          <p:nvPr/>
        </p:nvSpPr>
        <p:spPr>
          <a:xfrm>
            <a:off x="4800600" y="3950208"/>
            <a:ext cx="329184" cy="329184"/>
          </a:xfrm>
          <a:prstGeom prst="ellipse">
            <a:avLst/>
          </a:prstGeom>
          <a:solidFill>
            <a:srgbClr val="1A2B45"/>
          </a:solidFill>
          <a:ln w="12700">
            <a:solidFill>
              <a:srgbClr val="1A2B45"/>
            </a:solidFill>
            <a:prstDash val="solid"/>
          </a:ln>
        </p:spPr>
        <p:txBody>
          <a:bodyPr/>
          <a:lstStyle/>
          <a:p>
            <a:endParaRPr lang="en-US"/>
          </a:p>
        </p:txBody>
      </p:sp>
      <p:sp>
        <p:nvSpPr>
          <p:cNvPr id="40" name="Text 38"/>
          <p:cNvSpPr/>
          <p:nvPr/>
        </p:nvSpPr>
        <p:spPr>
          <a:xfrm>
            <a:off x="4800600" y="3968496"/>
            <a:ext cx="329184"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O6</a:t>
            </a:r>
            <a:endParaRPr lang="en-US" sz="850" dirty="0"/>
          </a:p>
        </p:txBody>
      </p:sp>
      <p:sp>
        <p:nvSpPr>
          <p:cNvPr id="41" name="Text 39"/>
          <p:cNvSpPr/>
          <p:nvPr/>
        </p:nvSpPr>
        <p:spPr>
          <a:xfrm>
            <a:off x="5202936" y="3950208"/>
            <a:ext cx="3657600" cy="274320"/>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Confirm ER+ Luminal A subtype</a:t>
            </a:r>
            <a:endParaRPr lang="en-US" sz="1050" dirty="0"/>
          </a:p>
        </p:txBody>
      </p:sp>
      <p:sp>
        <p:nvSpPr>
          <p:cNvPr id="42" name="Text 40"/>
          <p:cNvSpPr/>
          <p:nvPr/>
        </p:nvSpPr>
        <p:spPr>
          <a:xfrm>
            <a:off x="5202936" y="4261104"/>
            <a:ext cx="3657600" cy="512064"/>
          </a:xfrm>
          <a:prstGeom prst="rect">
            <a:avLst/>
          </a:prstGeom>
          <a:noFill/>
          <a:ln/>
        </p:spPr>
        <p:txBody>
          <a:bodyPr wrap="square" rtlCol="0" anchor="ctr"/>
          <a:lstStyle/>
          <a:p>
            <a:r>
              <a:rPr lang="en-US" sz="1000" dirty="0"/>
              <a:t>Validate subtype using PAM50 scoring and </a:t>
            </a:r>
            <a:r>
              <a:rPr lang="en-US" sz="1000" dirty="0" err="1"/>
              <a:t>PROGENy</a:t>
            </a:r>
            <a:r>
              <a:rPr lang="en-US" sz="1000" dirty="0"/>
              <a:t> pathway analysis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DATASET — 10x GENOMICS VISIUM HUMAN BREAST CANCER</a:t>
            </a:r>
            <a:endParaRPr lang="en-US" sz="1700" dirty="0"/>
          </a:p>
        </p:txBody>
      </p:sp>
      <p:sp>
        <p:nvSpPr>
          <p:cNvPr id="4" name="Shape 2"/>
          <p:cNvSpPr/>
          <p:nvPr/>
        </p:nvSpPr>
        <p:spPr>
          <a:xfrm>
            <a:off x="274320" y="749808"/>
            <a:ext cx="3154680" cy="4224528"/>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5" name="Text 3"/>
          <p:cNvSpPr/>
          <p:nvPr/>
        </p:nvSpPr>
        <p:spPr>
          <a:xfrm>
            <a:off x="384048" y="822960"/>
            <a:ext cx="2944368" cy="256032"/>
          </a:xfrm>
          <a:prstGeom prst="rect">
            <a:avLst/>
          </a:prstGeom>
          <a:noFill/>
          <a:ln/>
        </p:spPr>
        <p:txBody>
          <a:bodyPr wrap="square" rtlCol="0" anchor="ctr"/>
          <a:lstStyle/>
          <a:p>
            <a:pPr marL="0" indent="0">
              <a:buNone/>
            </a:pPr>
            <a:r>
              <a:rPr lang="en-US" sz="1100" b="1" dirty="0">
                <a:solidFill>
                  <a:srgbClr val="1A2B45"/>
                </a:solidFill>
                <a:latin typeface="Calibri" pitchFamily="34" charset="0"/>
                <a:ea typeface="Calibri" pitchFamily="34" charset="-122"/>
                <a:cs typeface="Calibri" pitchFamily="34" charset="-120"/>
              </a:rPr>
              <a:t>DATASET METRICS</a:t>
            </a:r>
            <a:endParaRPr lang="en-US" sz="1100" dirty="0"/>
          </a:p>
        </p:txBody>
      </p:sp>
      <p:sp>
        <p:nvSpPr>
          <p:cNvPr id="6" name="Shape 4"/>
          <p:cNvSpPr/>
          <p:nvPr/>
        </p:nvSpPr>
        <p:spPr>
          <a:xfrm>
            <a:off x="329184" y="1152144"/>
            <a:ext cx="3044952" cy="292608"/>
          </a:xfrm>
          <a:prstGeom prst="rect">
            <a:avLst/>
          </a:prstGeom>
          <a:solidFill>
            <a:srgbClr val="F7F9FC"/>
          </a:solidFill>
          <a:ln w="3810">
            <a:solidFill>
              <a:srgbClr val="E2E8EF"/>
            </a:solidFill>
            <a:prstDash val="solid"/>
          </a:ln>
        </p:spPr>
        <p:txBody>
          <a:bodyPr/>
          <a:lstStyle/>
          <a:p>
            <a:endParaRPr lang="en-US"/>
          </a:p>
        </p:txBody>
      </p:sp>
      <p:sp>
        <p:nvSpPr>
          <p:cNvPr id="7" name="Text 5"/>
          <p:cNvSpPr/>
          <p:nvPr/>
        </p:nvSpPr>
        <p:spPr>
          <a:xfrm>
            <a:off x="402336" y="1179576"/>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Source</a:t>
            </a:r>
            <a:endParaRPr lang="en-US" sz="950" dirty="0"/>
          </a:p>
        </p:txBody>
      </p:sp>
      <p:sp>
        <p:nvSpPr>
          <p:cNvPr id="8" name="Text 6"/>
          <p:cNvSpPr/>
          <p:nvPr/>
        </p:nvSpPr>
        <p:spPr>
          <a:xfrm>
            <a:off x="1901952" y="1179576"/>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10x Genomics (public)</a:t>
            </a:r>
            <a:endParaRPr lang="en-US" sz="950" dirty="0"/>
          </a:p>
        </p:txBody>
      </p:sp>
      <p:sp>
        <p:nvSpPr>
          <p:cNvPr id="9" name="Shape 7"/>
          <p:cNvSpPr/>
          <p:nvPr/>
        </p:nvSpPr>
        <p:spPr>
          <a:xfrm>
            <a:off x="329184" y="1463040"/>
            <a:ext cx="3044952" cy="292608"/>
          </a:xfrm>
          <a:prstGeom prst="rect">
            <a:avLst/>
          </a:prstGeom>
          <a:solidFill>
            <a:srgbClr val="FFFFFF"/>
          </a:solidFill>
          <a:ln w="3810">
            <a:solidFill>
              <a:srgbClr val="E2E8EF"/>
            </a:solidFill>
            <a:prstDash val="solid"/>
          </a:ln>
        </p:spPr>
        <p:txBody>
          <a:bodyPr/>
          <a:lstStyle/>
          <a:p>
            <a:endParaRPr lang="en-US"/>
          </a:p>
        </p:txBody>
      </p:sp>
      <p:sp>
        <p:nvSpPr>
          <p:cNvPr id="10" name="Text 8"/>
          <p:cNvSpPr/>
          <p:nvPr/>
        </p:nvSpPr>
        <p:spPr>
          <a:xfrm>
            <a:off x="402336" y="1490472"/>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Platform</a:t>
            </a:r>
            <a:endParaRPr lang="en-US" sz="950" dirty="0"/>
          </a:p>
        </p:txBody>
      </p:sp>
      <p:sp>
        <p:nvSpPr>
          <p:cNvPr id="11" name="Text 9"/>
          <p:cNvSpPr/>
          <p:nvPr/>
        </p:nvSpPr>
        <p:spPr>
          <a:xfrm>
            <a:off x="1901952" y="1490472"/>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Visium v1.3.0</a:t>
            </a:r>
            <a:endParaRPr lang="en-US" sz="950" dirty="0"/>
          </a:p>
        </p:txBody>
      </p:sp>
      <p:sp>
        <p:nvSpPr>
          <p:cNvPr id="12" name="Shape 10"/>
          <p:cNvSpPr/>
          <p:nvPr/>
        </p:nvSpPr>
        <p:spPr>
          <a:xfrm>
            <a:off x="329184" y="1773936"/>
            <a:ext cx="3044952" cy="292608"/>
          </a:xfrm>
          <a:prstGeom prst="rect">
            <a:avLst/>
          </a:prstGeom>
          <a:solidFill>
            <a:srgbClr val="F7F9FC"/>
          </a:solidFill>
          <a:ln w="3810">
            <a:solidFill>
              <a:srgbClr val="E2E8EF"/>
            </a:solidFill>
            <a:prstDash val="solid"/>
          </a:ln>
        </p:spPr>
        <p:txBody>
          <a:bodyPr/>
          <a:lstStyle/>
          <a:p>
            <a:endParaRPr lang="en-US"/>
          </a:p>
        </p:txBody>
      </p:sp>
      <p:sp>
        <p:nvSpPr>
          <p:cNvPr id="13" name="Text 11"/>
          <p:cNvSpPr/>
          <p:nvPr/>
        </p:nvSpPr>
        <p:spPr>
          <a:xfrm>
            <a:off x="402336" y="1801368"/>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Tissue</a:t>
            </a:r>
            <a:endParaRPr lang="en-US" sz="950" dirty="0"/>
          </a:p>
        </p:txBody>
      </p:sp>
      <p:sp>
        <p:nvSpPr>
          <p:cNvPr id="14" name="Text 12"/>
          <p:cNvSpPr/>
          <p:nvPr/>
        </p:nvSpPr>
        <p:spPr>
          <a:xfrm>
            <a:off x="1901952" y="1807855"/>
            <a:ext cx="1552995"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Human Breast Cancer Invasive Ductal Carcinoma</a:t>
            </a:r>
            <a:endParaRPr lang="en-US" sz="950" dirty="0"/>
          </a:p>
        </p:txBody>
      </p:sp>
      <p:sp>
        <p:nvSpPr>
          <p:cNvPr id="15" name="Shape 13"/>
          <p:cNvSpPr/>
          <p:nvPr/>
        </p:nvSpPr>
        <p:spPr>
          <a:xfrm>
            <a:off x="329184" y="2084832"/>
            <a:ext cx="3044952" cy="292608"/>
          </a:xfrm>
          <a:prstGeom prst="rect">
            <a:avLst/>
          </a:prstGeom>
          <a:solidFill>
            <a:srgbClr val="FFFFFF"/>
          </a:solidFill>
          <a:ln w="3810">
            <a:solidFill>
              <a:srgbClr val="E2E8EF"/>
            </a:solidFill>
            <a:prstDash val="solid"/>
          </a:ln>
        </p:spPr>
        <p:txBody>
          <a:bodyPr/>
          <a:lstStyle/>
          <a:p>
            <a:endParaRPr lang="en-US"/>
          </a:p>
        </p:txBody>
      </p:sp>
      <p:sp>
        <p:nvSpPr>
          <p:cNvPr id="16" name="Text 14"/>
          <p:cNvSpPr/>
          <p:nvPr/>
        </p:nvSpPr>
        <p:spPr>
          <a:xfrm>
            <a:off x="402336" y="2112264"/>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Preparation</a:t>
            </a:r>
            <a:endParaRPr lang="en-US" sz="950" dirty="0"/>
          </a:p>
        </p:txBody>
      </p:sp>
      <p:sp>
        <p:nvSpPr>
          <p:cNvPr id="17" name="Text 15"/>
          <p:cNvSpPr/>
          <p:nvPr/>
        </p:nvSpPr>
        <p:spPr>
          <a:xfrm>
            <a:off x="1901952" y="2112264"/>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Fresh-frozen (FF)</a:t>
            </a:r>
            <a:endParaRPr lang="en-US" sz="950" dirty="0"/>
          </a:p>
        </p:txBody>
      </p:sp>
      <p:sp>
        <p:nvSpPr>
          <p:cNvPr id="18" name="Shape 16"/>
          <p:cNvSpPr/>
          <p:nvPr/>
        </p:nvSpPr>
        <p:spPr>
          <a:xfrm>
            <a:off x="329184" y="2395728"/>
            <a:ext cx="3044952" cy="292608"/>
          </a:xfrm>
          <a:prstGeom prst="rect">
            <a:avLst/>
          </a:prstGeom>
          <a:solidFill>
            <a:srgbClr val="F7F9FC"/>
          </a:solidFill>
          <a:ln w="3810">
            <a:solidFill>
              <a:srgbClr val="E2E8EF"/>
            </a:solidFill>
            <a:prstDash val="solid"/>
          </a:ln>
        </p:spPr>
        <p:txBody>
          <a:bodyPr/>
          <a:lstStyle/>
          <a:p>
            <a:endParaRPr lang="en-US"/>
          </a:p>
        </p:txBody>
      </p:sp>
      <p:sp>
        <p:nvSpPr>
          <p:cNvPr id="19" name="Text 17"/>
          <p:cNvSpPr/>
          <p:nvPr/>
        </p:nvSpPr>
        <p:spPr>
          <a:xfrm>
            <a:off x="402336" y="2423160"/>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Spots (raw)</a:t>
            </a:r>
            <a:endParaRPr lang="en-US" sz="950" dirty="0"/>
          </a:p>
        </p:txBody>
      </p:sp>
      <p:sp>
        <p:nvSpPr>
          <p:cNvPr id="20" name="Text 18"/>
          <p:cNvSpPr/>
          <p:nvPr/>
        </p:nvSpPr>
        <p:spPr>
          <a:xfrm>
            <a:off x="1901952" y="2423160"/>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4,898</a:t>
            </a:r>
            <a:endParaRPr lang="en-US" sz="950" dirty="0"/>
          </a:p>
        </p:txBody>
      </p:sp>
      <p:sp>
        <p:nvSpPr>
          <p:cNvPr id="21" name="Shape 19"/>
          <p:cNvSpPr/>
          <p:nvPr/>
        </p:nvSpPr>
        <p:spPr>
          <a:xfrm>
            <a:off x="329184" y="2706624"/>
            <a:ext cx="3044952" cy="292608"/>
          </a:xfrm>
          <a:prstGeom prst="rect">
            <a:avLst/>
          </a:prstGeom>
          <a:solidFill>
            <a:srgbClr val="FFFFFF"/>
          </a:solidFill>
          <a:ln w="3810">
            <a:solidFill>
              <a:srgbClr val="E2E8EF"/>
            </a:solidFill>
            <a:prstDash val="solid"/>
          </a:ln>
        </p:spPr>
        <p:txBody>
          <a:bodyPr/>
          <a:lstStyle/>
          <a:p>
            <a:endParaRPr lang="en-US"/>
          </a:p>
        </p:txBody>
      </p:sp>
      <p:sp>
        <p:nvSpPr>
          <p:cNvPr id="22" name="Text 20"/>
          <p:cNvSpPr/>
          <p:nvPr/>
        </p:nvSpPr>
        <p:spPr>
          <a:xfrm>
            <a:off x="402336" y="2734056"/>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Genes (raw)</a:t>
            </a:r>
            <a:endParaRPr lang="en-US" sz="950" dirty="0"/>
          </a:p>
        </p:txBody>
      </p:sp>
      <p:sp>
        <p:nvSpPr>
          <p:cNvPr id="23" name="Text 21"/>
          <p:cNvSpPr/>
          <p:nvPr/>
        </p:nvSpPr>
        <p:spPr>
          <a:xfrm>
            <a:off x="1901952" y="2734056"/>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36,601</a:t>
            </a:r>
            <a:endParaRPr lang="en-US" sz="950" dirty="0"/>
          </a:p>
        </p:txBody>
      </p:sp>
      <p:sp>
        <p:nvSpPr>
          <p:cNvPr id="24" name="Shape 22"/>
          <p:cNvSpPr/>
          <p:nvPr/>
        </p:nvSpPr>
        <p:spPr>
          <a:xfrm>
            <a:off x="329184" y="3017520"/>
            <a:ext cx="3044952" cy="292608"/>
          </a:xfrm>
          <a:prstGeom prst="rect">
            <a:avLst/>
          </a:prstGeom>
          <a:solidFill>
            <a:srgbClr val="F7F9FC"/>
          </a:solidFill>
          <a:ln w="3810">
            <a:solidFill>
              <a:srgbClr val="E2E8EF"/>
            </a:solidFill>
            <a:prstDash val="solid"/>
          </a:ln>
        </p:spPr>
        <p:txBody>
          <a:bodyPr/>
          <a:lstStyle/>
          <a:p>
            <a:endParaRPr lang="en-US"/>
          </a:p>
        </p:txBody>
      </p:sp>
      <p:sp>
        <p:nvSpPr>
          <p:cNvPr id="25" name="Text 23"/>
          <p:cNvSpPr/>
          <p:nvPr/>
        </p:nvSpPr>
        <p:spPr>
          <a:xfrm>
            <a:off x="402336" y="3044952"/>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Median UMI/spot</a:t>
            </a:r>
            <a:endParaRPr lang="en-US" sz="950" dirty="0"/>
          </a:p>
        </p:txBody>
      </p:sp>
      <p:sp>
        <p:nvSpPr>
          <p:cNvPr id="26" name="Text 24"/>
          <p:cNvSpPr/>
          <p:nvPr/>
        </p:nvSpPr>
        <p:spPr>
          <a:xfrm>
            <a:off x="1901952" y="3044952"/>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9,720</a:t>
            </a:r>
            <a:endParaRPr lang="en-US" sz="950" dirty="0"/>
          </a:p>
        </p:txBody>
      </p:sp>
      <p:sp>
        <p:nvSpPr>
          <p:cNvPr id="27" name="Shape 25"/>
          <p:cNvSpPr/>
          <p:nvPr/>
        </p:nvSpPr>
        <p:spPr>
          <a:xfrm>
            <a:off x="329184" y="3328416"/>
            <a:ext cx="3044952" cy="292608"/>
          </a:xfrm>
          <a:prstGeom prst="rect">
            <a:avLst/>
          </a:prstGeom>
          <a:solidFill>
            <a:srgbClr val="FFFFFF"/>
          </a:solidFill>
          <a:ln w="3810">
            <a:solidFill>
              <a:srgbClr val="E2E8EF"/>
            </a:solidFill>
            <a:prstDash val="solid"/>
          </a:ln>
        </p:spPr>
        <p:txBody>
          <a:bodyPr/>
          <a:lstStyle/>
          <a:p>
            <a:endParaRPr lang="en-US"/>
          </a:p>
        </p:txBody>
      </p:sp>
      <p:sp>
        <p:nvSpPr>
          <p:cNvPr id="28" name="Text 26"/>
          <p:cNvSpPr/>
          <p:nvPr/>
        </p:nvSpPr>
        <p:spPr>
          <a:xfrm>
            <a:off x="402336" y="3355848"/>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Median genes/spot</a:t>
            </a:r>
            <a:endParaRPr lang="en-US" sz="950" dirty="0"/>
          </a:p>
        </p:txBody>
      </p:sp>
      <p:sp>
        <p:nvSpPr>
          <p:cNvPr id="29" name="Text 27"/>
          <p:cNvSpPr/>
          <p:nvPr/>
        </p:nvSpPr>
        <p:spPr>
          <a:xfrm>
            <a:off x="1901952" y="3355848"/>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3,654</a:t>
            </a:r>
            <a:endParaRPr lang="en-US" sz="950" dirty="0"/>
          </a:p>
        </p:txBody>
      </p:sp>
      <p:sp>
        <p:nvSpPr>
          <p:cNvPr id="30" name="Shape 28"/>
          <p:cNvSpPr/>
          <p:nvPr/>
        </p:nvSpPr>
        <p:spPr>
          <a:xfrm>
            <a:off x="329184" y="3639312"/>
            <a:ext cx="3044952" cy="292608"/>
          </a:xfrm>
          <a:prstGeom prst="rect">
            <a:avLst/>
          </a:prstGeom>
          <a:solidFill>
            <a:srgbClr val="F7F9FC"/>
          </a:solidFill>
          <a:ln w="3810">
            <a:solidFill>
              <a:srgbClr val="E2E8EF"/>
            </a:solidFill>
            <a:prstDash val="solid"/>
          </a:ln>
        </p:spPr>
        <p:txBody>
          <a:bodyPr/>
          <a:lstStyle/>
          <a:p>
            <a:endParaRPr lang="en-US"/>
          </a:p>
        </p:txBody>
      </p:sp>
      <p:sp>
        <p:nvSpPr>
          <p:cNvPr id="31" name="Text 29"/>
          <p:cNvSpPr/>
          <p:nvPr/>
        </p:nvSpPr>
        <p:spPr>
          <a:xfrm>
            <a:off x="402336" y="3666744"/>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Total UMI</a:t>
            </a:r>
            <a:endParaRPr lang="en-US" sz="950" dirty="0"/>
          </a:p>
        </p:txBody>
      </p:sp>
      <p:sp>
        <p:nvSpPr>
          <p:cNvPr id="32" name="Text 30"/>
          <p:cNvSpPr/>
          <p:nvPr/>
        </p:nvSpPr>
        <p:spPr>
          <a:xfrm>
            <a:off x="1901952" y="3666744"/>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50,107,992</a:t>
            </a:r>
            <a:endParaRPr lang="en-US" sz="950" dirty="0"/>
          </a:p>
        </p:txBody>
      </p:sp>
      <p:sp>
        <p:nvSpPr>
          <p:cNvPr id="33" name="Shape 31"/>
          <p:cNvSpPr/>
          <p:nvPr/>
        </p:nvSpPr>
        <p:spPr>
          <a:xfrm>
            <a:off x="329184" y="3950208"/>
            <a:ext cx="3044952" cy="292608"/>
          </a:xfrm>
          <a:prstGeom prst="rect">
            <a:avLst/>
          </a:prstGeom>
          <a:solidFill>
            <a:srgbClr val="FFFFFF"/>
          </a:solidFill>
          <a:ln w="3810">
            <a:solidFill>
              <a:srgbClr val="E2E8EF"/>
            </a:solidFill>
            <a:prstDash val="solid"/>
          </a:ln>
        </p:spPr>
        <p:txBody>
          <a:bodyPr/>
          <a:lstStyle/>
          <a:p>
            <a:endParaRPr lang="en-US"/>
          </a:p>
        </p:txBody>
      </p:sp>
      <p:sp>
        <p:nvSpPr>
          <p:cNvPr id="34" name="Text 32"/>
          <p:cNvSpPr/>
          <p:nvPr/>
        </p:nvSpPr>
        <p:spPr>
          <a:xfrm>
            <a:off x="402336" y="3977640"/>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MT% mean</a:t>
            </a:r>
            <a:endParaRPr lang="en-US" sz="950" dirty="0"/>
          </a:p>
        </p:txBody>
      </p:sp>
      <p:sp>
        <p:nvSpPr>
          <p:cNvPr id="35" name="Text 33"/>
          <p:cNvSpPr/>
          <p:nvPr/>
        </p:nvSpPr>
        <p:spPr>
          <a:xfrm>
            <a:off x="1901952" y="3977640"/>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3.71%</a:t>
            </a:r>
            <a:endParaRPr lang="en-US" sz="950" dirty="0"/>
          </a:p>
        </p:txBody>
      </p:sp>
      <p:sp>
        <p:nvSpPr>
          <p:cNvPr id="36" name="Shape 34"/>
          <p:cNvSpPr/>
          <p:nvPr/>
        </p:nvSpPr>
        <p:spPr>
          <a:xfrm>
            <a:off x="329184" y="4261104"/>
            <a:ext cx="3044952" cy="292608"/>
          </a:xfrm>
          <a:prstGeom prst="rect">
            <a:avLst/>
          </a:prstGeom>
          <a:solidFill>
            <a:srgbClr val="F7F9FC"/>
          </a:solidFill>
          <a:ln w="3810">
            <a:solidFill>
              <a:srgbClr val="E2E8EF"/>
            </a:solidFill>
            <a:prstDash val="solid"/>
          </a:ln>
        </p:spPr>
        <p:txBody>
          <a:bodyPr/>
          <a:lstStyle/>
          <a:p>
            <a:endParaRPr lang="en-US"/>
          </a:p>
        </p:txBody>
      </p:sp>
      <p:sp>
        <p:nvSpPr>
          <p:cNvPr id="37" name="Text 35"/>
          <p:cNvSpPr/>
          <p:nvPr/>
        </p:nvSpPr>
        <p:spPr>
          <a:xfrm>
            <a:off x="402336" y="4288536"/>
            <a:ext cx="1463040" cy="237744"/>
          </a:xfrm>
          <a:prstGeom prst="rect">
            <a:avLst/>
          </a:prstGeom>
          <a:noFill/>
          <a:ln/>
        </p:spPr>
        <p:txBody>
          <a:bodyPr wrap="square" rtlCol="0" anchor="ctr"/>
          <a:lstStyle/>
          <a:p>
            <a:pPr marL="0" indent="0">
              <a:buNone/>
            </a:pPr>
            <a:r>
              <a:rPr lang="en-US" sz="950" b="1" dirty="0">
                <a:solidFill>
                  <a:srgbClr val="8A9CB0"/>
                </a:solidFill>
                <a:latin typeface="Calibri" pitchFamily="34" charset="0"/>
                <a:ea typeface="Calibri" pitchFamily="34" charset="-122"/>
                <a:cs typeface="Calibri" pitchFamily="34" charset="-120"/>
              </a:rPr>
              <a:t>HB% mean</a:t>
            </a:r>
            <a:endParaRPr lang="en-US" sz="950" dirty="0"/>
          </a:p>
        </p:txBody>
      </p:sp>
      <p:sp>
        <p:nvSpPr>
          <p:cNvPr id="38" name="Text 36"/>
          <p:cNvSpPr/>
          <p:nvPr/>
        </p:nvSpPr>
        <p:spPr>
          <a:xfrm>
            <a:off x="1901952" y="4288536"/>
            <a:ext cx="1417320" cy="237744"/>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0.01%</a:t>
            </a:r>
            <a:endParaRPr lang="en-US" sz="950" dirty="0"/>
          </a:p>
        </p:txBody>
      </p:sp>
      <p:sp>
        <p:nvSpPr>
          <p:cNvPr id="40" name="Text 38"/>
          <p:cNvSpPr/>
          <p:nvPr/>
        </p:nvSpPr>
        <p:spPr>
          <a:xfrm>
            <a:off x="3611880" y="1783080"/>
            <a:ext cx="5257800"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H&amp;E tissue image with Visium spot overlay</a:t>
            </a:r>
            <a:endParaRPr lang="en-US" sz="950" dirty="0"/>
          </a:p>
        </p:txBody>
      </p:sp>
      <p:sp>
        <p:nvSpPr>
          <p:cNvPr id="41" name="Text 39"/>
          <p:cNvSpPr/>
          <p:nvPr/>
        </p:nvSpPr>
        <p:spPr>
          <a:xfrm>
            <a:off x="3611880" y="2057400"/>
            <a:ext cx="5257800"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figures/spatial/ · Shows 4,869 georeferenced spots on tissue section</a:t>
            </a:r>
            <a:endParaRPr lang="en-US" sz="800" dirty="0"/>
          </a:p>
        </p:txBody>
      </p:sp>
      <p:sp>
        <p:nvSpPr>
          <p:cNvPr id="42" name="Shape 40"/>
          <p:cNvSpPr/>
          <p:nvPr/>
        </p:nvSpPr>
        <p:spPr>
          <a:xfrm>
            <a:off x="3611880" y="3456432"/>
            <a:ext cx="5257800" cy="1517904"/>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43" name="Text 41"/>
          <p:cNvSpPr/>
          <p:nvPr/>
        </p:nvSpPr>
        <p:spPr>
          <a:xfrm>
            <a:off x="3749040" y="3529584"/>
            <a:ext cx="4983480" cy="256032"/>
          </a:xfrm>
          <a:prstGeom prst="rect">
            <a:avLst/>
          </a:prstGeom>
          <a:noFill/>
          <a:ln/>
        </p:spPr>
        <p:txBody>
          <a:bodyPr wrap="square" rtlCol="0" anchor="ctr"/>
          <a:lstStyle/>
          <a:p>
            <a:pPr marL="0" indent="0">
              <a:buNone/>
            </a:pPr>
            <a:r>
              <a:rPr lang="en-US" sz="1100" b="1" dirty="0">
                <a:solidFill>
                  <a:srgbClr val="0F9080"/>
                </a:solidFill>
                <a:latin typeface="Calibri" pitchFamily="34" charset="0"/>
                <a:ea typeface="Calibri" pitchFamily="34" charset="-122"/>
                <a:cs typeface="Calibri" pitchFamily="34" charset="-120"/>
              </a:rPr>
              <a:t>AFTER QC — FINAL DATASET</a:t>
            </a:r>
            <a:endParaRPr lang="en-US" sz="1100" dirty="0"/>
          </a:p>
        </p:txBody>
      </p:sp>
      <p:sp>
        <p:nvSpPr>
          <p:cNvPr id="44" name="Text 42"/>
          <p:cNvSpPr/>
          <p:nvPr/>
        </p:nvSpPr>
        <p:spPr>
          <a:xfrm>
            <a:off x="3749040" y="3858768"/>
            <a:ext cx="2286000" cy="219456"/>
          </a:xfrm>
          <a:prstGeom prst="rect">
            <a:avLst/>
          </a:prstGeom>
          <a:noFill/>
          <a:ln/>
        </p:spPr>
        <p:txBody>
          <a:bodyPr wrap="square" rtlCol="0" anchor="ctr"/>
          <a:lstStyle/>
          <a:p>
            <a:pPr marL="0" indent="0">
              <a:buNone/>
            </a:pPr>
            <a:r>
              <a:rPr lang="en-US" sz="950" dirty="0">
                <a:solidFill>
                  <a:srgbClr val="8A9CB0"/>
                </a:solidFill>
                <a:latin typeface="Calibri" pitchFamily="34" charset="0"/>
                <a:ea typeface="Calibri" pitchFamily="34" charset="-122"/>
                <a:cs typeface="Calibri" pitchFamily="34" charset="-120"/>
              </a:rPr>
              <a:t>Spots retained</a:t>
            </a:r>
            <a:endParaRPr lang="en-US" sz="950" dirty="0"/>
          </a:p>
        </p:txBody>
      </p:sp>
      <p:sp>
        <p:nvSpPr>
          <p:cNvPr id="45" name="Text 43"/>
          <p:cNvSpPr/>
          <p:nvPr/>
        </p:nvSpPr>
        <p:spPr>
          <a:xfrm>
            <a:off x="6080760" y="3858768"/>
            <a:ext cx="256032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4,869 (99.4%)</a:t>
            </a:r>
            <a:endParaRPr lang="en-US" sz="950" dirty="0"/>
          </a:p>
        </p:txBody>
      </p:sp>
      <p:sp>
        <p:nvSpPr>
          <p:cNvPr id="46" name="Text 44"/>
          <p:cNvSpPr/>
          <p:nvPr/>
        </p:nvSpPr>
        <p:spPr>
          <a:xfrm>
            <a:off x="3749040" y="4114800"/>
            <a:ext cx="2286000" cy="219456"/>
          </a:xfrm>
          <a:prstGeom prst="rect">
            <a:avLst/>
          </a:prstGeom>
          <a:noFill/>
          <a:ln/>
        </p:spPr>
        <p:txBody>
          <a:bodyPr wrap="square" rtlCol="0" anchor="ctr"/>
          <a:lstStyle/>
          <a:p>
            <a:pPr marL="0" indent="0">
              <a:buNone/>
            </a:pPr>
            <a:r>
              <a:rPr lang="en-US" sz="950" dirty="0">
                <a:solidFill>
                  <a:srgbClr val="8A9CB0"/>
                </a:solidFill>
                <a:latin typeface="Calibri" pitchFamily="34" charset="0"/>
                <a:ea typeface="Calibri" pitchFamily="34" charset="-122"/>
                <a:cs typeface="Calibri" pitchFamily="34" charset="-120"/>
              </a:rPr>
              <a:t>Genes retained</a:t>
            </a:r>
            <a:endParaRPr lang="en-US" sz="950" dirty="0"/>
          </a:p>
        </p:txBody>
      </p:sp>
      <p:sp>
        <p:nvSpPr>
          <p:cNvPr id="47" name="Text 45"/>
          <p:cNvSpPr/>
          <p:nvPr/>
        </p:nvSpPr>
        <p:spPr>
          <a:xfrm>
            <a:off x="6080760" y="4114800"/>
            <a:ext cx="256032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21,349 / 36,601</a:t>
            </a:r>
            <a:endParaRPr lang="en-US" sz="950" dirty="0"/>
          </a:p>
        </p:txBody>
      </p:sp>
      <p:sp>
        <p:nvSpPr>
          <p:cNvPr id="48" name="Text 46"/>
          <p:cNvSpPr/>
          <p:nvPr/>
        </p:nvSpPr>
        <p:spPr>
          <a:xfrm>
            <a:off x="3749040" y="4370832"/>
            <a:ext cx="2286000" cy="219456"/>
          </a:xfrm>
          <a:prstGeom prst="rect">
            <a:avLst/>
          </a:prstGeom>
          <a:noFill/>
          <a:ln/>
        </p:spPr>
        <p:txBody>
          <a:bodyPr wrap="square" rtlCol="0" anchor="ctr"/>
          <a:lstStyle/>
          <a:p>
            <a:pPr marL="0" indent="0">
              <a:buNone/>
            </a:pPr>
            <a:r>
              <a:rPr lang="en-US" sz="950" dirty="0">
                <a:solidFill>
                  <a:srgbClr val="8A9CB0"/>
                </a:solidFill>
                <a:latin typeface="Calibri" pitchFamily="34" charset="0"/>
                <a:ea typeface="Calibri" pitchFamily="34" charset="-122"/>
                <a:cs typeface="Calibri" pitchFamily="34" charset="-120"/>
              </a:rPr>
              <a:t>HVGs selected</a:t>
            </a:r>
            <a:endParaRPr lang="en-US" sz="950" dirty="0"/>
          </a:p>
        </p:txBody>
      </p:sp>
      <p:sp>
        <p:nvSpPr>
          <p:cNvPr id="49" name="Text 47"/>
          <p:cNvSpPr/>
          <p:nvPr/>
        </p:nvSpPr>
        <p:spPr>
          <a:xfrm>
            <a:off x="6080760" y="4370832"/>
            <a:ext cx="256032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3,000 (Seurat v3)</a:t>
            </a:r>
            <a:endParaRPr lang="en-US" sz="950" dirty="0"/>
          </a:p>
        </p:txBody>
      </p:sp>
      <p:sp>
        <p:nvSpPr>
          <p:cNvPr id="50" name="Text 48"/>
          <p:cNvSpPr/>
          <p:nvPr/>
        </p:nvSpPr>
        <p:spPr>
          <a:xfrm>
            <a:off x="3749040" y="4626864"/>
            <a:ext cx="2286000" cy="219456"/>
          </a:xfrm>
          <a:prstGeom prst="rect">
            <a:avLst/>
          </a:prstGeom>
          <a:noFill/>
          <a:ln/>
        </p:spPr>
        <p:txBody>
          <a:bodyPr wrap="square" rtlCol="0" anchor="ctr"/>
          <a:lstStyle/>
          <a:p>
            <a:pPr marL="0" indent="0">
              <a:buNone/>
            </a:pPr>
            <a:r>
              <a:rPr lang="en-US" sz="950" dirty="0">
                <a:solidFill>
                  <a:srgbClr val="8A9CB0"/>
                </a:solidFill>
                <a:latin typeface="Calibri" pitchFamily="34" charset="0"/>
                <a:ea typeface="Calibri" pitchFamily="34" charset="-122"/>
                <a:cs typeface="Calibri" pitchFamily="34" charset="-120"/>
              </a:rPr>
              <a:t>Spots removed</a:t>
            </a:r>
            <a:endParaRPr lang="en-US" sz="950" dirty="0"/>
          </a:p>
        </p:txBody>
      </p:sp>
      <p:sp>
        <p:nvSpPr>
          <p:cNvPr id="51" name="Text 49"/>
          <p:cNvSpPr/>
          <p:nvPr/>
        </p:nvSpPr>
        <p:spPr>
          <a:xfrm>
            <a:off x="6080760" y="4626864"/>
            <a:ext cx="2560320" cy="219456"/>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29 — dead / low quality</a:t>
            </a:r>
            <a:endParaRPr lang="en-US" sz="950" dirty="0"/>
          </a:p>
        </p:txBody>
      </p:sp>
      <p:grpSp>
        <p:nvGrpSpPr>
          <p:cNvPr id="56" name="Group 55">
            <a:extLst>
              <a:ext uri="{FF2B5EF4-FFF2-40B4-BE49-F238E27FC236}">
                <a16:creationId xmlns:a16="http://schemas.microsoft.com/office/drawing/2014/main" id="{597F62DE-1FE6-16BC-9846-2594A5F1CD13}"/>
              </a:ext>
            </a:extLst>
          </p:cNvPr>
          <p:cNvGrpSpPr/>
          <p:nvPr/>
        </p:nvGrpSpPr>
        <p:grpSpPr>
          <a:xfrm>
            <a:off x="4626709" y="749808"/>
            <a:ext cx="3751384" cy="2578608"/>
            <a:chOff x="4626709" y="749808"/>
            <a:chExt cx="3751384" cy="2578608"/>
          </a:xfrm>
        </p:grpSpPr>
        <p:sp>
          <p:nvSpPr>
            <p:cNvPr id="39" name="Shape 37"/>
            <p:cNvSpPr/>
            <p:nvPr/>
          </p:nvSpPr>
          <p:spPr>
            <a:xfrm>
              <a:off x="4626709" y="749808"/>
              <a:ext cx="3751384" cy="2578608"/>
            </a:xfrm>
            <a:prstGeom prst="rect">
              <a:avLst/>
            </a:prstGeom>
            <a:solidFill>
              <a:srgbClr val="E2E8EF"/>
            </a:solidFill>
            <a:ln w="15240">
              <a:solidFill>
                <a:srgbClr val="8A9CB0"/>
              </a:solidFill>
              <a:prstDash val="dash"/>
            </a:ln>
          </p:spPr>
          <p:txBody>
            <a:bodyPr/>
            <a:lstStyle/>
            <a:p>
              <a:endParaRPr lang="en-US"/>
            </a:p>
          </p:txBody>
        </p:sp>
        <p:pic>
          <p:nvPicPr>
            <p:cNvPr id="55" name="Picture 54">
              <a:extLst>
                <a:ext uri="{FF2B5EF4-FFF2-40B4-BE49-F238E27FC236}">
                  <a16:creationId xmlns:a16="http://schemas.microsoft.com/office/drawing/2014/main" id="{7A4AA6FA-3FF9-468A-5606-B468B400128F}"/>
                </a:ext>
              </a:extLst>
            </p:cNvPr>
            <p:cNvPicPr>
              <a:picLocks noChangeAspect="1"/>
            </p:cNvPicPr>
            <p:nvPr/>
          </p:nvPicPr>
          <p:blipFill>
            <a:blip r:embed="rId3"/>
            <a:stretch>
              <a:fillRect/>
            </a:stretch>
          </p:blipFill>
          <p:spPr>
            <a:xfrm>
              <a:off x="4697047" y="809244"/>
              <a:ext cx="3610708" cy="2473452"/>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ANALYSIS WORKFLOW — 7-NOTEBOOK PYTHON PIPELINE</a:t>
            </a:r>
            <a:endParaRPr lang="en-US" sz="1700" dirty="0"/>
          </a:p>
        </p:txBody>
      </p:sp>
      <p:sp>
        <p:nvSpPr>
          <p:cNvPr id="4" name="Shape 2"/>
          <p:cNvSpPr/>
          <p:nvPr/>
        </p:nvSpPr>
        <p:spPr>
          <a:xfrm>
            <a:off x="228600" y="749808"/>
            <a:ext cx="1133856" cy="1444752"/>
          </a:xfrm>
          <a:prstGeom prst="rect">
            <a:avLst/>
          </a:prstGeom>
          <a:solidFill>
            <a:srgbClr val="FFFFFF"/>
          </a:solidFill>
          <a:ln w="25400">
            <a:solidFill>
              <a:srgbClr val="8A9CB0"/>
            </a:solidFill>
            <a:prstDash val="solid"/>
          </a:ln>
          <a:effectLst>
            <a:outerShdw blurRad="76200" dist="38100" dir="8100000" algn="bl" rotWithShape="0">
              <a:srgbClr val="000000">
                <a:alpha val="10000"/>
              </a:srgbClr>
            </a:outerShdw>
          </a:effectLst>
        </p:spPr>
        <p:txBody>
          <a:bodyPr/>
          <a:lstStyle/>
          <a:p>
            <a:endParaRPr lang="en-US"/>
          </a:p>
        </p:txBody>
      </p:sp>
      <p:sp>
        <p:nvSpPr>
          <p:cNvPr id="5" name="Shape 3"/>
          <p:cNvSpPr/>
          <p:nvPr/>
        </p:nvSpPr>
        <p:spPr>
          <a:xfrm>
            <a:off x="228600" y="749808"/>
            <a:ext cx="1133856" cy="402336"/>
          </a:xfrm>
          <a:prstGeom prst="rect">
            <a:avLst/>
          </a:prstGeom>
          <a:solidFill>
            <a:srgbClr val="8A9CB0"/>
          </a:solidFill>
          <a:ln w="12700">
            <a:solidFill>
              <a:srgbClr val="8A9CB0"/>
            </a:solidFill>
            <a:prstDash val="solid"/>
          </a:ln>
        </p:spPr>
        <p:txBody>
          <a:bodyPr/>
          <a:lstStyle/>
          <a:p>
            <a:endParaRPr lang="en-US"/>
          </a:p>
        </p:txBody>
      </p:sp>
      <p:sp>
        <p:nvSpPr>
          <p:cNvPr id="6" name="Text 4"/>
          <p:cNvSpPr/>
          <p:nvPr/>
        </p:nvSpPr>
        <p:spPr>
          <a:xfrm>
            <a:off x="228600"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283464" y="1207008"/>
            <a:ext cx="1024128" cy="292608"/>
          </a:xfrm>
          <a:prstGeom prst="rect">
            <a:avLst/>
          </a:prstGeom>
          <a:noFill/>
          <a:ln/>
        </p:spPr>
        <p:txBody>
          <a:bodyPr wrap="square" rtlCol="0" anchor="ctr"/>
          <a:lstStyle/>
          <a:p>
            <a:pPr marL="0" indent="0" algn="ctr">
              <a:buNone/>
            </a:pPr>
            <a:r>
              <a:rPr lang="en-US" sz="900" b="1" dirty="0">
                <a:solidFill>
                  <a:srgbClr val="8A9CB0"/>
                </a:solidFill>
                <a:latin typeface="Calibri" pitchFamily="34" charset="0"/>
                <a:ea typeface="Calibri" pitchFamily="34" charset="-122"/>
                <a:cs typeface="Calibri" pitchFamily="34" charset="-120"/>
              </a:rPr>
              <a:t>Data Setup</a:t>
            </a:r>
            <a:endParaRPr lang="en-US" sz="900" dirty="0"/>
          </a:p>
        </p:txBody>
      </p:sp>
      <p:sp>
        <p:nvSpPr>
          <p:cNvPr id="8" name="Text 6"/>
          <p:cNvSpPr/>
          <p:nvPr/>
        </p:nvSpPr>
        <p:spPr>
          <a:xfrm>
            <a:off x="265176"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Download · Load · Verify</a:t>
            </a:r>
            <a:endParaRPr lang="en-US" sz="750" dirty="0"/>
          </a:p>
        </p:txBody>
      </p:sp>
      <p:sp>
        <p:nvSpPr>
          <p:cNvPr id="9" name="Shape 7"/>
          <p:cNvSpPr/>
          <p:nvPr/>
        </p:nvSpPr>
        <p:spPr>
          <a:xfrm>
            <a:off x="1380744"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10" name="Shape 8"/>
          <p:cNvSpPr/>
          <p:nvPr/>
        </p:nvSpPr>
        <p:spPr>
          <a:xfrm>
            <a:off x="1472184" y="749808"/>
            <a:ext cx="1133856" cy="1444752"/>
          </a:xfrm>
          <a:prstGeom prst="rect">
            <a:avLst/>
          </a:prstGeom>
          <a:solidFill>
            <a:srgbClr val="FFFFFF"/>
          </a:solidFill>
          <a:ln w="2540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11" name="Shape 9"/>
          <p:cNvSpPr/>
          <p:nvPr/>
        </p:nvSpPr>
        <p:spPr>
          <a:xfrm>
            <a:off x="1472184" y="749808"/>
            <a:ext cx="1133856" cy="402336"/>
          </a:xfrm>
          <a:prstGeom prst="rect">
            <a:avLst/>
          </a:prstGeom>
          <a:solidFill>
            <a:srgbClr val="0B6E63"/>
          </a:solidFill>
          <a:ln w="12700">
            <a:solidFill>
              <a:srgbClr val="0B6E63"/>
            </a:solidFill>
            <a:prstDash val="solid"/>
          </a:ln>
        </p:spPr>
        <p:txBody>
          <a:bodyPr/>
          <a:lstStyle/>
          <a:p>
            <a:endParaRPr lang="en-US"/>
          </a:p>
        </p:txBody>
      </p:sp>
      <p:sp>
        <p:nvSpPr>
          <p:cNvPr id="12" name="Text 10"/>
          <p:cNvSpPr/>
          <p:nvPr/>
        </p:nvSpPr>
        <p:spPr>
          <a:xfrm>
            <a:off x="1472184"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3" name="Text 11"/>
          <p:cNvSpPr/>
          <p:nvPr/>
        </p:nvSpPr>
        <p:spPr>
          <a:xfrm>
            <a:off x="1527048" y="1207008"/>
            <a:ext cx="1024128" cy="292608"/>
          </a:xfrm>
          <a:prstGeom prst="rect">
            <a:avLst/>
          </a:prstGeom>
          <a:noFill/>
          <a:ln/>
        </p:spPr>
        <p:txBody>
          <a:bodyPr wrap="square" rtlCol="0" anchor="ctr"/>
          <a:lstStyle/>
          <a:p>
            <a:pPr marL="0" indent="0" algn="ctr">
              <a:buNone/>
            </a:pPr>
            <a:r>
              <a:rPr lang="en-US" sz="900" b="1" dirty="0">
                <a:solidFill>
                  <a:srgbClr val="0B6E63"/>
                </a:solidFill>
                <a:latin typeface="Calibri" pitchFamily="34" charset="0"/>
                <a:ea typeface="Calibri" pitchFamily="34" charset="-122"/>
                <a:cs typeface="Calibri" pitchFamily="34" charset="-120"/>
              </a:rPr>
              <a:t>QC &amp; Preprocess</a:t>
            </a:r>
            <a:endParaRPr lang="en-US" sz="900" dirty="0"/>
          </a:p>
        </p:txBody>
      </p:sp>
      <p:sp>
        <p:nvSpPr>
          <p:cNvPr id="14" name="Text 12"/>
          <p:cNvSpPr/>
          <p:nvPr/>
        </p:nvSpPr>
        <p:spPr>
          <a:xfrm>
            <a:off x="1508760"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Filter · Norm · HVG · PCA</a:t>
            </a:r>
            <a:endParaRPr lang="en-US" sz="750" dirty="0"/>
          </a:p>
        </p:txBody>
      </p:sp>
      <p:sp>
        <p:nvSpPr>
          <p:cNvPr id="15" name="Shape 13"/>
          <p:cNvSpPr/>
          <p:nvPr/>
        </p:nvSpPr>
        <p:spPr>
          <a:xfrm>
            <a:off x="2624328"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16" name="Shape 14"/>
          <p:cNvSpPr/>
          <p:nvPr/>
        </p:nvSpPr>
        <p:spPr>
          <a:xfrm>
            <a:off x="2715768" y="749808"/>
            <a:ext cx="1133856" cy="1444752"/>
          </a:xfrm>
          <a:prstGeom prst="rect">
            <a:avLst/>
          </a:prstGeom>
          <a:solidFill>
            <a:srgbClr val="FFFFFF"/>
          </a:solidFill>
          <a:ln w="254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17" name="Shape 15"/>
          <p:cNvSpPr/>
          <p:nvPr/>
        </p:nvSpPr>
        <p:spPr>
          <a:xfrm>
            <a:off x="2715768" y="749808"/>
            <a:ext cx="1133856" cy="402336"/>
          </a:xfrm>
          <a:prstGeom prst="rect">
            <a:avLst/>
          </a:prstGeom>
          <a:solidFill>
            <a:srgbClr val="1A2B45"/>
          </a:solidFill>
          <a:ln w="12700">
            <a:solidFill>
              <a:srgbClr val="1A2B45"/>
            </a:solidFill>
            <a:prstDash val="solid"/>
          </a:ln>
        </p:spPr>
        <p:txBody>
          <a:bodyPr/>
          <a:lstStyle/>
          <a:p>
            <a:endParaRPr lang="en-US"/>
          </a:p>
        </p:txBody>
      </p:sp>
      <p:sp>
        <p:nvSpPr>
          <p:cNvPr id="18" name="Text 16"/>
          <p:cNvSpPr/>
          <p:nvPr/>
        </p:nvSpPr>
        <p:spPr>
          <a:xfrm>
            <a:off x="2715768"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9" name="Text 17"/>
          <p:cNvSpPr/>
          <p:nvPr/>
        </p:nvSpPr>
        <p:spPr>
          <a:xfrm>
            <a:off x="2770632" y="1207008"/>
            <a:ext cx="1024128" cy="292608"/>
          </a:xfrm>
          <a:prstGeom prst="rect">
            <a:avLst/>
          </a:prstGeom>
          <a:noFill/>
          <a:ln/>
        </p:spPr>
        <p:txBody>
          <a:bodyPr wrap="square" rtlCol="0" anchor="ctr"/>
          <a:lstStyle/>
          <a:p>
            <a:pPr marL="0" indent="0" algn="ctr">
              <a:buNone/>
            </a:pPr>
            <a:r>
              <a:rPr lang="en-US" sz="900" b="1" dirty="0">
                <a:solidFill>
                  <a:srgbClr val="1A2B45"/>
                </a:solidFill>
                <a:latin typeface="Calibri" pitchFamily="34" charset="0"/>
                <a:ea typeface="Calibri" pitchFamily="34" charset="-122"/>
                <a:cs typeface="Calibri" pitchFamily="34" charset="-120"/>
              </a:rPr>
              <a:t>Clustering</a:t>
            </a:r>
            <a:endParaRPr lang="en-US" sz="900" dirty="0"/>
          </a:p>
        </p:txBody>
      </p:sp>
      <p:sp>
        <p:nvSpPr>
          <p:cNvPr id="20" name="Text 18"/>
          <p:cNvSpPr/>
          <p:nvPr/>
        </p:nvSpPr>
        <p:spPr>
          <a:xfrm>
            <a:off x="2752344"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Leiden · Annotation</a:t>
            </a:r>
            <a:endParaRPr lang="en-US" sz="750" dirty="0"/>
          </a:p>
        </p:txBody>
      </p:sp>
      <p:sp>
        <p:nvSpPr>
          <p:cNvPr id="21" name="Shape 19"/>
          <p:cNvSpPr/>
          <p:nvPr/>
        </p:nvSpPr>
        <p:spPr>
          <a:xfrm>
            <a:off x="3867912"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22" name="Shape 20"/>
          <p:cNvSpPr/>
          <p:nvPr/>
        </p:nvSpPr>
        <p:spPr>
          <a:xfrm>
            <a:off x="3959352" y="749808"/>
            <a:ext cx="1133856" cy="1444752"/>
          </a:xfrm>
          <a:prstGeom prst="rect">
            <a:avLst/>
          </a:prstGeom>
          <a:solidFill>
            <a:srgbClr val="FFFFFF"/>
          </a:solidFill>
          <a:ln w="2540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23" name="Shape 21"/>
          <p:cNvSpPr/>
          <p:nvPr/>
        </p:nvSpPr>
        <p:spPr>
          <a:xfrm>
            <a:off x="3959352" y="749808"/>
            <a:ext cx="1133856" cy="402336"/>
          </a:xfrm>
          <a:prstGeom prst="rect">
            <a:avLst/>
          </a:prstGeom>
          <a:solidFill>
            <a:srgbClr val="0B6E63"/>
          </a:solidFill>
          <a:ln w="12700">
            <a:solidFill>
              <a:srgbClr val="0B6E63"/>
            </a:solidFill>
            <a:prstDash val="solid"/>
          </a:ln>
        </p:spPr>
        <p:txBody>
          <a:bodyPr/>
          <a:lstStyle/>
          <a:p>
            <a:endParaRPr lang="en-US"/>
          </a:p>
        </p:txBody>
      </p:sp>
      <p:sp>
        <p:nvSpPr>
          <p:cNvPr id="24" name="Text 22"/>
          <p:cNvSpPr/>
          <p:nvPr/>
        </p:nvSpPr>
        <p:spPr>
          <a:xfrm>
            <a:off x="3959352"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04</a:t>
            </a:r>
            <a:endParaRPr lang="en-US" sz="1200" dirty="0"/>
          </a:p>
        </p:txBody>
      </p:sp>
      <p:sp>
        <p:nvSpPr>
          <p:cNvPr id="25" name="Text 23"/>
          <p:cNvSpPr/>
          <p:nvPr/>
        </p:nvSpPr>
        <p:spPr>
          <a:xfrm>
            <a:off x="4014216" y="1207008"/>
            <a:ext cx="1024128" cy="292608"/>
          </a:xfrm>
          <a:prstGeom prst="rect">
            <a:avLst/>
          </a:prstGeom>
          <a:noFill/>
          <a:ln/>
        </p:spPr>
        <p:txBody>
          <a:bodyPr wrap="square" rtlCol="0" anchor="ctr"/>
          <a:lstStyle/>
          <a:p>
            <a:pPr marL="0" indent="0" algn="ctr">
              <a:buNone/>
            </a:pPr>
            <a:r>
              <a:rPr lang="en-US" sz="900" b="1" dirty="0">
                <a:solidFill>
                  <a:srgbClr val="0B6E63"/>
                </a:solidFill>
                <a:latin typeface="Calibri" pitchFamily="34" charset="0"/>
                <a:ea typeface="Calibri" pitchFamily="34" charset="-122"/>
                <a:cs typeface="Calibri" pitchFamily="34" charset="-120"/>
              </a:rPr>
              <a:t>Spatial Analysis</a:t>
            </a:r>
            <a:endParaRPr lang="en-US" sz="900" dirty="0"/>
          </a:p>
        </p:txBody>
      </p:sp>
      <p:sp>
        <p:nvSpPr>
          <p:cNvPr id="26" name="Text 24"/>
          <p:cNvSpPr/>
          <p:nvPr/>
        </p:nvSpPr>
        <p:spPr>
          <a:xfrm>
            <a:off x="3995928"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Moran's I · Nhood · Ripley</a:t>
            </a:r>
            <a:endParaRPr lang="en-US" sz="750" dirty="0"/>
          </a:p>
        </p:txBody>
      </p:sp>
      <p:sp>
        <p:nvSpPr>
          <p:cNvPr id="27" name="Shape 25"/>
          <p:cNvSpPr/>
          <p:nvPr/>
        </p:nvSpPr>
        <p:spPr>
          <a:xfrm>
            <a:off x="5111496"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28" name="Shape 26"/>
          <p:cNvSpPr/>
          <p:nvPr/>
        </p:nvSpPr>
        <p:spPr>
          <a:xfrm>
            <a:off x="5202936" y="749808"/>
            <a:ext cx="1133856" cy="1444752"/>
          </a:xfrm>
          <a:prstGeom prst="rect">
            <a:avLst/>
          </a:prstGeom>
          <a:solidFill>
            <a:srgbClr val="FFFFFF"/>
          </a:solidFill>
          <a:ln w="254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29" name="Shape 27"/>
          <p:cNvSpPr/>
          <p:nvPr/>
        </p:nvSpPr>
        <p:spPr>
          <a:xfrm>
            <a:off x="5202936" y="749808"/>
            <a:ext cx="1133856" cy="402336"/>
          </a:xfrm>
          <a:prstGeom prst="rect">
            <a:avLst/>
          </a:prstGeom>
          <a:solidFill>
            <a:srgbClr val="1A2B45"/>
          </a:solidFill>
          <a:ln w="12700">
            <a:solidFill>
              <a:srgbClr val="1A2B45"/>
            </a:solidFill>
            <a:prstDash val="solid"/>
          </a:ln>
        </p:spPr>
        <p:txBody>
          <a:bodyPr/>
          <a:lstStyle/>
          <a:p>
            <a:endParaRPr lang="en-US"/>
          </a:p>
        </p:txBody>
      </p:sp>
      <p:sp>
        <p:nvSpPr>
          <p:cNvPr id="30" name="Text 28"/>
          <p:cNvSpPr/>
          <p:nvPr/>
        </p:nvSpPr>
        <p:spPr>
          <a:xfrm>
            <a:off x="5202936"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05</a:t>
            </a:r>
            <a:endParaRPr lang="en-US" sz="1200" dirty="0"/>
          </a:p>
        </p:txBody>
      </p:sp>
      <p:sp>
        <p:nvSpPr>
          <p:cNvPr id="31" name="Text 29"/>
          <p:cNvSpPr/>
          <p:nvPr/>
        </p:nvSpPr>
        <p:spPr>
          <a:xfrm>
            <a:off x="5257800" y="1207008"/>
            <a:ext cx="1024128" cy="292608"/>
          </a:xfrm>
          <a:prstGeom prst="rect">
            <a:avLst/>
          </a:prstGeom>
          <a:noFill/>
          <a:ln/>
        </p:spPr>
        <p:txBody>
          <a:bodyPr wrap="square" rtlCol="0" anchor="ctr"/>
          <a:lstStyle/>
          <a:p>
            <a:pPr marL="0" indent="0" algn="ctr">
              <a:buNone/>
            </a:pPr>
            <a:r>
              <a:rPr lang="en-US" sz="900" b="1" dirty="0">
                <a:solidFill>
                  <a:srgbClr val="1A2B45"/>
                </a:solidFill>
                <a:latin typeface="Calibri" pitchFamily="34" charset="0"/>
                <a:ea typeface="Calibri" pitchFamily="34" charset="-122"/>
                <a:cs typeface="Calibri" pitchFamily="34" charset="-120"/>
              </a:rPr>
              <a:t>Signature Scoring</a:t>
            </a:r>
            <a:endParaRPr lang="en-US" sz="900" dirty="0"/>
          </a:p>
        </p:txBody>
      </p:sp>
      <p:sp>
        <p:nvSpPr>
          <p:cNvPr id="32" name="Text 30"/>
          <p:cNvSpPr/>
          <p:nvPr/>
        </p:nvSpPr>
        <p:spPr>
          <a:xfrm>
            <a:off x="5239512"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24 signatures · Heatmap</a:t>
            </a:r>
            <a:endParaRPr lang="en-US" sz="750" dirty="0"/>
          </a:p>
        </p:txBody>
      </p:sp>
      <p:sp>
        <p:nvSpPr>
          <p:cNvPr id="33" name="Shape 31"/>
          <p:cNvSpPr/>
          <p:nvPr/>
        </p:nvSpPr>
        <p:spPr>
          <a:xfrm>
            <a:off x="6355080"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34" name="Shape 32"/>
          <p:cNvSpPr/>
          <p:nvPr/>
        </p:nvSpPr>
        <p:spPr>
          <a:xfrm>
            <a:off x="6446520" y="749808"/>
            <a:ext cx="1133856" cy="1444752"/>
          </a:xfrm>
          <a:prstGeom prst="rect">
            <a:avLst/>
          </a:prstGeom>
          <a:solidFill>
            <a:srgbClr val="FFFFFF"/>
          </a:solidFill>
          <a:ln w="2540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35" name="Shape 33"/>
          <p:cNvSpPr/>
          <p:nvPr/>
        </p:nvSpPr>
        <p:spPr>
          <a:xfrm>
            <a:off x="6446520" y="749808"/>
            <a:ext cx="1133856" cy="402336"/>
          </a:xfrm>
          <a:prstGeom prst="rect">
            <a:avLst/>
          </a:prstGeom>
          <a:solidFill>
            <a:srgbClr val="A63010"/>
          </a:solidFill>
          <a:ln w="12700">
            <a:solidFill>
              <a:srgbClr val="A63010"/>
            </a:solidFill>
            <a:prstDash val="solid"/>
          </a:ln>
        </p:spPr>
        <p:txBody>
          <a:bodyPr/>
          <a:lstStyle/>
          <a:p>
            <a:endParaRPr lang="en-US"/>
          </a:p>
        </p:txBody>
      </p:sp>
      <p:sp>
        <p:nvSpPr>
          <p:cNvPr id="36" name="Text 34"/>
          <p:cNvSpPr/>
          <p:nvPr/>
        </p:nvSpPr>
        <p:spPr>
          <a:xfrm>
            <a:off x="6446520"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06</a:t>
            </a:r>
            <a:endParaRPr lang="en-US" sz="1200" dirty="0"/>
          </a:p>
        </p:txBody>
      </p:sp>
      <p:sp>
        <p:nvSpPr>
          <p:cNvPr id="37" name="Text 35"/>
          <p:cNvSpPr/>
          <p:nvPr/>
        </p:nvSpPr>
        <p:spPr>
          <a:xfrm>
            <a:off x="6501384" y="1207008"/>
            <a:ext cx="1024128" cy="292608"/>
          </a:xfrm>
          <a:prstGeom prst="rect">
            <a:avLst/>
          </a:prstGeom>
          <a:noFill/>
          <a:ln/>
        </p:spPr>
        <p:txBody>
          <a:bodyPr wrap="square" rtlCol="0" anchor="ctr"/>
          <a:lstStyle/>
          <a:p>
            <a:pPr marL="0" indent="0" algn="ctr">
              <a:buNone/>
            </a:pPr>
            <a:r>
              <a:rPr lang="en-US" sz="900" b="1" dirty="0">
                <a:solidFill>
                  <a:srgbClr val="A63010"/>
                </a:solidFill>
                <a:latin typeface="Calibri" pitchFamily="34" charset="0"/>
                <a:ea typeface="Calibri" pitchFamily="34" charset="-122"/>
                <a:cs typeface="Calibri" pitchFamily="34" charset="-120"/>
              </a:rPr>
              <a:t>Cell Comm.</a:t>
            </a:r>
            <a:endParaRPr lang="en-US" sz="900" dirty="0"/>
          </a:p>
        </p:txBody>
      </p:sp>
      <p:sp>
        <p:nvSpPr>
          <p:cNvPr id="38" name="Text 36"/>
          <p:cNvSpPr/>
          <p:nvPr/>
        </p:nvSpPr>
        <p:spPr>
          <a:xfrm>
            <a:off x="6483096"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39 LR pairs · Pathways</a:t>
            </a:r>
            <a:endParaRPr lang="en-US" sz="750" dirty="0"/>
          </a:p>
        </p:txBody>
      </p:sp>
      <p:sp>
        <p:nvSpPr>
          <p:cNvPr id="39" name="Shape 37"/>
          <p:cNvSpPr/>
          <p:nvPr/>
        </p:nvSpPr>
        <p:spPr>
          <a:xfrm>
            <a:off x="7598664" y="1399032"/>
            <a:ext cx="201168" cy="128016"/>
          </a:xfrm>
          <a:prstGeom prst="rect">
            <a:avLst/>
          </a:prstGeom>
          <a:solidFill>
            <a:srgbClr val="0F9080"/>
          </a:solidFill>
          <a:ln w="12700">
            <a:solidFill>
              <a:srgbClr val="0F9080"/>
            </a:solidFill>
            <a:prstDash val="solid"/>
          </a:ln>
        </p:spPr>
        <p:txBody>
          <a:bodyPr/>
          <a:lstStyle/>
          <a:p>
            <a:endParaRPr lang="en-US"/>
          </a:p>
        </p:txBody>
      </p:sp>
      <p:sp>
        <p:nvSpPr>
          <p:cNvPr id="40" name="Shape 38"/>
          <p:cNvSpPr/>
          <p:nvPr/>
        </p:nvSpPr>
        <p:spPr>
          <a:xfrm>
            <a:off x="7690104" y="749808"/>
            <a:ext cx="1133856" cy="1444752"/>
          </a:xfrm>
          <a:prstGeom prst="rect">
            <a:avLst/>
          </a:prstGeom>
          <a:solidFill>
            <a:srgbClr val="FFFFFF"/>
          </a:solidFill>
          <a:ln w="25400">
            <a:solidFill>
              <a:srgbClr val="B8860B"/>
            </a:solidFill>
            <a:prstDash val="solid"/>
          </a:ln>
          <a:effectLst>
            <a:outerShdw blurRad="76200" dist="38100" dir="8100000" algn="bl" rotWithShape="0">
              <a:srgbClr val="000000">
                <a:alpha val="10000"/>
              </a:srgbClr>
            </a:outerShdw>
          </a:effectLst>
        </p:spPr>
        <p:txBody>
          <a:bodyPr/>
          <a:lstStyle/>
          <a:p>
            <a:endParaRPr lang="en-US"/>
          </a:p>
        </p:txBody>
      </p:sp>
      <p:sp>
        <p:nvSpPr>
          <p:cNvPr id="41" name="Shape 39"/>
          <p:cNvSpPr/>
          <p:nvPr/>
        </p:nvSpPr>
        <p:spPr>
          <a:xfrm>
            <a:off x="7690104" y="749808"/>
            <a:ext cx="1133856" cy="402336"/>
          </a:xfrm>
          <a:prstGeom prst="rect">
            <a:avLst/>
          </a:prstGeom>
          <a:solidFill>
            <a:srgbClr val="B8860B"/>
          </a:solidFill>
          <a:ln w="12700">
            <a:solidFill>
              <a:srgbClr val="B8860B"/>
            </a:solidFill>
            <a:prstDash val="solid"/>
          </a:ln>
        </p:spPr>
        <p:txBody>
          <a:bodyPr/>
          <a:lstStyle/>
          <a:p>
            <a:endParaRPr lang="en-US"/>
          </a:p>
        </p:txBody>
      </p:sp>
      <p:sp>
        <p:nvSpPr>
          <p:cNvPr id="42" name="Text 40"/>
          <p:cNvSpPr/>
          <p:nvPr/>
        </p:nvSpPr>
        <p:spPr>
          <a:xfrm>
            <a:off x="7690104" y="768096"/>
            <a:ext cx="1133856" cy="36576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07</a:t>
            </a:r>
            <a:endParaRPr lang="en-US" sz="1200" dirty="0"/>
          </a:p>
        </p:txBody>
      </p:sp>
      <p:sp>
        <p:nvSpPr>
          <p:cNvPr id="43" name="Text 41"/>
          <p:cNvSpPr/>
          <p:nvPr/>
        </p:nvSpPr>
        <p:spPr>
          <a:xfrm>
            <a:off x="7744968" y="1207008"/>
            <a:ext cx="1024128" cy="292608"/>
          </a:xfrm>
          <a:prstGeom prst="rect">
            <a:avLst/>
          </a:prstGeom>
          <a:noFill/>
          <a:ln/>
        </p:spPr>
        <p:txBody>
          <a:bodyPr wrap="square" rtlCol="0" anchor="ctr"/>
          <a:lstStyle/>
          <a:p>
            <a:pPr marL="0" indent="0" algn="ctr">
              <a:buNone/>
            </a:pPr>
            <a:r>
              <a:rPr lang="en-US" sz="900" b="1" dirty="0">
                <a:solidFill>
                  <a:srgbClr val="B8860B"/>
                </a:solidFill>
                <a:latin typeface="Calibri" pitchFamily="34" charset="0"/>
                <a:ea typeface="Calibri" pitchFamily="34" charset="-122"/>
                <a:cs typeface="Calibri" pitchFamily="34" charset="-120"/>
              </a:rPr>
              <a:t>Advanced</a:t>
            </a:r>
            <a:endParaRPr lang="en-US" sz="900" dirty="0"/>
          </a:p>
        </p:txBody>
      </p:sp>
      <p:sp>
        <p:nvSpPr>
          <p:cNvPr id="44" name="Text 42"/>
          <p:cNvSpPr/>
          <p:nvPr/>
        </p:nvSpPr>
        <p:spPr>
          <a:xfrm>
            <a:off x="7726680" y="1517904"/>
            <a:ext cx="1060704" cy="621792"/>
          </a:xfrm>
          <a:prstGeom prst="rect">
            <a:avLst/>
          </a:prstGeom>
          <a:noFill/>
          <a:ln/>
        </p:spPr>
        <p:txBody>
          <a:bodyPr wrap="square" rtlCol="0" anchor="ctr"/>
          <a:lstStyle/>
          <a:p>
            <a:pPr marL="0" indent="0" algn="ctr">
              <a:buNone/>
            </a:pPr>
            <a:r>
              <a:rPr lang="en-US" sz="750" dirty="0">
                <a:solidFill>
                  <a:srgbClr val="3A4F65"/>
                </a:solidFill>
                <a:latin typeface="Calibri" pitchFamily="34" charset="0"/>
                <a:ea typeface="Calibri" pitchFamily="34" charset="-122"/>
                <a:cs typeface="Calibri" pitchFamily="34" charset="-120"/>
              </a:rPr>
              <a:t>PAM50 · PROGENy · Report</a:t>
            </a:r>
            <a:endParaRPr lang="en-US" sz="750" dirty="0"/>
          </a:p>
        </p:txBody>
      </p:sp>
      <p:sp>
        <p:nvSpPr>
          <p:cNvPr id="45" name="Text 43"/>
          <p:cNvSpPr/>
          <p:nvPr/>
        </p:nvSpPr>
        <p:spPr>
          <a:xfrm>
            <a:off x="274320" y="2377440"/>
            <a:ext cx="8595360" cy="256032"/>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PREPROCESSING STEPS </a:t>
            </a:r>
            <a:endParaRPr lang="en-US" sz="1050" dirty="0"/>
          </a:p>
        </p:txBody>
      </p:sp>
      <p:sp>
        <p:nvSpPr>
          <p:cNvPr id="46" name="Shape 44"/>
          <p:cNvSpPr/>
          <p:nvPr/>
        </p:nvSpPr>
        <p:spPr>
          <a:xfrm>
            <a:off x="274320" y="2706624"/>
            <a:ext cx="1133856" cy="877824"/>
          </a:xfrm>
          <a:prstGeom prst="rect">
            <a:avLst/>
          </a:prstGeom>
          <a:solidFill>
            <a:srgbClr val="E0F5F2"/>
          </a:solidFill>
          <a:ln w="12700">
            <a:solidFill>
              <a:srgbClr val="0B6E63"/>
            </a:solidFill>
            <a:prstDash val="solid"/>
          </a:ln>
        </p:spPr>
        <p:txBody>
          <a:bodyPr/>
          <a:lstStyle/>
          <a:p>
            <a:endParaRPr lang="en-US"/>
          </a:p>
        </p:txBody>
      </p:sp>
      <p:sp>
        <p:nvSpPr>
          <p:cNvPr id="47" name="Text 45"/>
          <p:cNvSpPr/>
          <p:nvPr/>
        </p:nvSpPr>
        <p:spPr>
          <a:xfrm>
            <a:off x="274320" y="2743200"/>
            <a:ext cx="292608" cy="804672"/>
          </a:xfrm>
          <a:prstGeom prst="rect">
            <a:avLst/>
          </a:prstGeom>
          <a:noFill/>
          <a:ln/>
        </p:spPr>
        <p:txBody>
          <a:bodyPr wrap="square" rtlCol="0" anchor="ctr"/>
          <a:lstStyle/>
          <a:p>
            <a:pPr marL="0" indent="0" algn="ctr">
              <a:buNone/>
            </a:pPr>
            <a:r>
              <a:rPr lang="en-US" sz="1200" b="1" dirty="0">
                <a:solidFill>
                  <a:srgbClr val="0B6E63"/>
                </a:solidFill>
                <a:latin typeface="Georgia" pitchFamily="34" charset="0"/>
                <a:ea typeface="Georgia" pitchFamily="34" charset="-122"/>
                <a:cs typeface="Georgia" pitchFamily="34" charset="-120"/>
              </a:rPr>
              <a:t>1</a:t>
            </a:r>
            <a:endParaRPr lang="en-US" sz="1200" dirty="0"/>
          </a:p>
        </p:txBody>
      </p:sp>
      <p:sp>
        <p:nvSpPr>
          <p:cNvPr id="48" name="Text 46"/>
          <p:cNvSpPr/>
          <p:nvPr/>
        </p:nvSpPr>
        <p:spPr>
          <a:xfrm>
            <a:off x="566928" y="2743200"/>
            <a:ext cx="804672" cy="329184"/>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Normalize</a:t>
            </a:r>
            <a:endParaRPr lang="en-US" sz="900" dirty="0"/>
          </a:p>
        </p:txBody>
      </p:sp>
      <p:sp>
        <p:nvSpPr>
          <p:cNvPr id="49" name="Text 47"/>
          <p:cNvSpPr/>
          <p:nvPr/>
        </p:nvSpPr>
        <p:spPr>
          <a:xfrm>
            <a:off x="566928"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CPM to 10k counts per spot</a:t>
            </a:r>
            <a:endParaRPr lang="en-US" sz="800" dirty="0"/>
          </a:p>
        </p:txBody>
      </p:sp>
      <p:sp>
        <p:nvSpPr>
          <p:cNvPr id="50" name="Shape 48"/>
          <p:cNvSpPr/>
          <p:nvPr/>
        </p:nvSpPr>
        <p:spPr>
          <a:xfrm>
            <a:off x="1426464"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51" name="Shape 49"/>
          <p:cNvSpPr/>
          <p:nvPr/>
        </p:nvSpPr>
        <p:spPr>
          <a:xfrm>
            <a:off x="1517904" y="2706624"/>
            <a:ext cx="1133856" cy="877824"/>
          </a:xfrm>
          <a:prstGeom prst="rect">
            <a:avLst/>
          </a:prstGeom>
          <a:solidFill>
            <a:srgbClr val="E0F5F2"/>
          </a:solidFill>
          <a:ln w="12700">
            <a:solidFill>
              <a:srgbClr val="0B6E63"/>
            </a:solidFill>
            <a:prstDash val="solid"/>
          </a:ln>
        </p:spPr>
        <p:txBody>
          <a:bodyPr/>
          <a:lstStyle/>
          <a:p>
            <a:endParaRPr lang="en-US"/>
          </a:p>
        </p:txBody>
      </p:sp>
      <p:sp>
        <p:nvSpPr>
          <p:cNvPr id="52" name="Text 50"/>
          <p:cNvSpPr/>
          <p:nvPr/>
        </p:nvSpPr>
        <p:spPr>
          <a:xfrm>
            <a:off x="1517904" y="2743200"/>
            <a:ext cx="292608" cy="804672"/>
          </a:xfrm>
          <a:prstGeom prst="rect">
            <a:avLst/>
          </a:prstGeom>
          <a:noFill/>
          <a:ln/>
        </p:spPr>
        <p:txBody>
          <a:bodyPr wrap="square" rtlCol="0" anchor="ctr"/>
          <a:lstStyle/>
          <a:p>
            <a:pPr marL="0" indent="0" algn="ctr">
              <a:buNone/>
            </a:pPr>
            <a:r>
              <a:rPr lang="en-US" sz="1200" b="1" dirty="0">
                <a:solidFill>
                  <a:srgbClr val="0B6E63"/>
                </a:solidFill>
                <a:latin typeface="Georgia" pitchFamily="34" charset="0"/>
                <a:ea typeface="Georgia" pitchFamily="34" charset="-122"/>
                <a:cs typeface="Georgia" pitchFamily="34" charset="-120"/>
              </a:rPr>
              <a:t>2</a:t>
            </a:r>
            <a:endParaRPr lang="en-US" sz="1200" dirty="0"/>
          </a:p>
        </p:txBody>
      </p:sp>
      <p:sp>
        <p:nvSpPr>
          <p:cNvPr id="53" name="Text 51"/>
          <p:cNvSpPr/>
          <p:nvPr/>
        </p:nvSpPr>
        <p:spPr>
          <a:xfrm>
            <a:off x="1810512" y="2743200"/>
            <a:ext cx="804672" cy="329184"/>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log1p</a:t>
            </a:r>
            <a:endParaRPr lang="en-US" sz="900" dirty="0"/>
          </a:p>
        </p:txBody>
      </p:sp>
      <p:sp>
        <p:nvSpPr>
          <p:cNvPr id="54" name="Text 52"/>
          <p:cNvSpPr/>
          <p:nvPr/>
        </p:nvSpPr>
        <p:spPr>
          <a:xfrm>
            <a:off x="1810512"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Natural log transform</a:t>
            </a:r>
            <a:endParaRPr lang="en-US" sz="800" dirty="0"/>
          </a:p>
        </p:txBody>
      </p:sp>
      <p:sp>
        <p:nvSpPr>
          <p:cNvPr id="55" name="Shape 53"/>
          <p:cNvSpPr/>
          <p:nvPr/>
        </p:nvSpPr>
        <p:spPr>
          <a:xfrm>
            <a:off x="2670048"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56" name="Shape 54"/>
          <p:cNvSpPr/>
          <p:nvPr/>
        </p:nvSpPr>
        <p:spPr>
          <a:xfrm>
            <a:off x="2761488" y="2706624"/>
            <a:ext cx="1133856" cy="877824"/>
          </a:xfrm>
          <a:prstGeom prst="rect">
            <a:avLst/>
          </a:prstGeom>
          <a:solidFill>
            <a:srgbClr val="E0F5F2"/>
          </a:solidFill>
          <a:ln w="12700">
            <a:solidFill>
              <a:srgbClr val="0B6E63"/>
            </a:solidFill>
            <a:prstDash val="solid"/>
          </a:ln>
        </p:spPr>
        <p:txBody>
          <a:bodyPr/>
          <a:lstStyle/>
          <a:p>
            <a:endParaRPr lang="en-US"/>
          </a:p>
        </p:txBody>
      </p:sp>
      <p:sp>
        <p:nvSpPr>
          <p:cNvPr id="57" name="Text 55"/>
          <p:cNvSpPr/>
          <p:nvPr/>
        </p:nvSpPr>
        <p:spPr>
          <a:xfrm>
            <a:off x="2761488" y="2743200"/>
            <a:ext cx="292608" cy="804672"/>
          </a:xfrm>
          <a:prstGeom prst="rect">
            <a:avLst/>
          </a:prstGeom>
          <a:noFill/>
          <a:ln/>
        </p:spPr>
        <p:txBody>
          <a:bodyPr wrap="square" rtlCol="0" anchor="ctr"/>
          <a:lstStyle/>
          <a:p>
            <a:pPr marL="0" indent="0" algn="ctr">
              <a:buNone/>
            </a:pPr>
            <a:r>
              <a:rPr lang="en-US" sz="1200" b="1" dirty="0">
                <a:solidFill>
                  <a:srgbClr val="0B6E63"/>
                </a:solidFill>
                <a:latin typeface="Georgia" pitchFamily="34" charset="0"/>
                <a:ea typeface="Georgia" pitchFamily="34" charset="-122"/>
                <a:cs typeface="Georgia" pitchFamily="34" charset="-120"/>
              </a:rPr>
              <a:t>3</a:t>
            </a:r>
            <a:endParaRPr lang="en-US" sz="1200" dirty="0"/>
          </a:p>
        </p:txBody>
      </p:sp>
      <p:sp>
        <p:nvSpPr>
          <p:cNvPr id="58" name="Text 56"/>
          <p:cNvSpPr/>
          <p:nvPr/>
        </p:nvSpPr>
        <p:spPr>
          <a:xfrm>
            <a:off x="3054096" y="2743200"/>
            <a:ext cx="804672" cy="329184"/>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HVG Select</a:t>
            </a:r>
            <a:endParaRPr lang="en-US" sz="900" dirty="0"/>
          </a:p>
        </p:txBody>
      </p:sp>
      <p:sp>
        <p:nvSpPr>
          <p:cNvPr id="59" name="Text 57"/>
          <p:cNvSpPr/>
          <p:nvPr/>
        </p:nvSpPr>
        <p:spPr>
          <a:xfrm>
            <a:off x="3054096"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3,000 genes (Seurat v3)</a:t>
            </a:r>
            <a:endParaRPr lang="en-US" sz="800" dirty="0"/>
          </a:p>
        </p:txBody>
      </p:sp>
      <p:sp>
        <p:nvSpPr>
          <p:cNvPr id="60" name="Shape 58"/>
          <p:cNvSpPr/>
          <p:nvPr/>
        </p:nvSpPr>
        <p:spPr>
          <a:xfrm>
            <a:off x="3913632"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61" name="Shape 59"/>
          <p:cNvSpPr/>
          <p:nvPr/>
        </p:nvSpPr>
        <p:spPr>
          <a:xfrm>
            <a:off x="4005072" y="2706624"/>
            <a:ext cx="1133856" cy="877824"/>
          </a:xfrm>
          <a:prstGeom prst="rect">
            <a:avLst/>
          </a:prstGeom>
          <a:solidFill>
            <a:srgbClr val="E0F5F2"/>
          </a:solidFill>
          <a:ln w="12700">
            <a:solidFill>
              <a:srgbClr val="0B6E63"/>
            </a:solidFill>
            <a:prstDash val="solid"/>
          </a:ln>
        </p:spPr>
        <p:txBody>
          <a:bodyPr/>
          <a:lstStyle/>
          <a:p>
            <a:endParaRPr lang="en-US"/>
          </a:p>
        </p:txBody>
      </p:sp>
      <p:sp>
        <p:nvSpPr>
          <p:cNvPr id="62" name="Text 60"/>
          <p:cNvSpPr/>
          <p:nvPr/>
        </p:nvSpPr>
        <p:spPr>
          <a:xfrm>
            <a:off x="4005072" y="2743200"/>
            <a:ext cx="292608" cy="804672"/>
          </a:xfrm>
          <a:prstGeom prst="rect">
            <a:avLst/>
          </a:prstGeom>
          <a:noFill/>
          <a:ln/>
        </p:spPr>
        <p:txBody>
          <a:bodyPr wrap="square" rtlCol="0" anchor="ctr"/>
          <a:lstStyle/>
          <a:p>
            <a:pPr marL="0" indent="0" algn="ctr">
              <a:buNone/>
            </a:pPr>
            <a:r>
              <a:rPr lang="en-US" sz="1200" b="1" dirty="0">
                <a:solidFill>
                  <a:srgbClr val="0B6E63"/>
                </a:solidFill>
                <a:latin typeface="Georgia" pitchFamily="34" charset="0"/>
                <a:ea typeface="Georgia" pitchFamily="34" charset="-122"/>
                <a:cs typeface="Georgia" pitchFamily="34" charset="-120"/>
              </a:rPr>
              <a:t>4</a:t>
            </a:r>
            <a:endParaRPr lang="en-US" sz="1200" dirty="0"/>
          </a:p>
        </p:txBody>
      </p:sp>
      <p:sp>
        <p:nvSpPr>
          <p:cNvPr id="63" name="Text 61"/>
          <p:cNvSpPr/>
          <p:nvPr/>
        </p:nvSpPr>
        <p:spPr>
          <a:xfrm>
            <a:off x="4297680" y="2743200"/>
            <a:ext cx="804672" cy="329184"/>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Scale</a:t>
            </a:r>
            <a:endParaRPr lang="en-US" sz="900" dirty="0"/>
          </a:p>
        </p:txBody>
      </p:sp>
      <p:sp>
        <p:nvSpPr>
          <p:cNvPr id="64" name="Text 62"/>
          <p:cNvSpPr/>
          <p:nvPr/>
        </p:nvSpPr>
        <p:spPr>
          <a:xfrm>
            <a:off x="4297680"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Zero-mean, unit variance</a:t>
            </a:r>
            <a:endParaRPr lang="en-US" sz="800" dirty="0"/>
          </a:p>
        </p:txBody>
      </p:sp>
      <p:sp>
        <p:nvSpPr>
          <p:cNvPr id="65" name="Shape 63"/>
          <p:cNvSpPr/>
          <p:nvPr/>
        </p:nvSpPr>
        <p:spPr>
          <a:xfrm>
            <a:off x="5157216"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66" name="Shape 64"/>
          <p:cNvSpPr/>
          <p:nvPr/>
        </p:nvSpPr>
        <p:spPr>
          <a:xfrm>
            <a:off x="5248656" y="2706624"/>
            <a:ext cx="1133856" cy="877824"/>
          </a:xfrm>
          <a:prstGeom prst="rect">
            <a:avLst/>
          </a:prstGeom>
          <a:solidFill>
            <a:srgbClr val="FDF3D0"/>
          </a:solidFill>
          <a:ln w="12700">
            <a:solidFill>
              <a:srgbClr val="B8860B"/>
            </a:solidFill>
            <a:prstDash val="solid"/>
          </a:ln>
        </p:spPr>
        <p:txBody>
          <a:bodyPr/>
          <a:lstStyle/>
          <a:p>
            <a:endParaRPr lang="en-US"/>
          </a:p>
        </p:txBody>
      </p:sp>
      <p:sp>
        <p:nvSpPr>
          <p:cNvPr id="67" name="Text 65"/>
          <p:cNvSpPr/>
          <p:nvPr/>
        </p:nvSpPr>
        <p:spPr>
          <a:xfrm>
            <a:off x="5248656" y="2743200"/>
            <a:ext cx="292608" cy="804672"/>
          </a:xfrm>
          <a:prstGeom prst="rect">
            <a:avLst/>
          </a:prstGeom>
          <a:noFill/>
          <a:ln/>
        </p:spPr>
        <p:txBody>
          <a:bodyPr wrap="square" rtlCol="0" anchor="ctr"/>
          <a:lstStyle/>
          <a:p>
            <a:pPr marL="0" indent="0" algn="ctr">
              <a:buNone/>
            </a:pPr>
            <a:r>
              <a:rPr lang="en-US" sz="1200" b="1" dirty="0">
                <a:solidFill>
                  <a:srgbClr val="B8860B"/>
                </a:solidFill>
                <a:latin typeface="Georgia" pitchFamily="34" charset="0"/>
                <a:ea typeface="Georgia" pitchFamily="34" charset="-122"/>
                <a:cs typeface="Georgia" pitchFamily="34" charset="-120"/>
              </a:rPr>
              <a:t>5</a:t>
            </a:r>
            <a:endParaRPr lang="en-US" sz="1200" dirty="0"/>
          </a:p>
        </p:txBody>
      </p:sp>
      <p:sp>
        <p:nvSpPr>
          <p:cNvPr id="68" name="Text 66"/>
          <p:cNvSpPr/>
          <p:nvPr/>
        </p:nvSpPr>
        <p:spPr>
          <a:xfrm>
            <a:off x="5541264" y="2743200"/>
            <a:ext cx="804672" cy="329184"/>
          </a:xfrm>
          <a:prstGeom prst="rect">
            <a:avLst/>
          </a:prstGeom>
          <a:noFill/>
          <a:ln/>
        </p:spPr>
        <p:txBody>
          <a:bodyPr wrap="square" rtlCol="0" anchor="ctr"/>
          <a:lstStyle/>
          <a:p>
            <a:pPr marL="0" indent="0">
              <a:buNone/>
            </a:pPr>
            <a:r>
              <a:rPr lang="en-US" sz="900" b="1" dirty="0">
                <a:solidFill>
                  <a:srgbClr val="B8860B"/>
                </a:solidFill>
                <a:latin typeface="Calibri" pitchFamily="34" charset="0"/>
                <a:ea typeface="Calibri" pitchFamily="34" charset="-122"/>
                <a:cs typeface="Calibri" pitchFamily="34" charset="-120"/>
              </a:rPr>
              <a:t>PCA</a:t>
            </a:r>
            <a:endParaRPr lang="en-US" sz="900" dirty="0"/>
          </a:p>
        </p:txBody>
      </p:sp>
      <p:sp>
        <p:nvSpPr>
          <p:cNvPr id="69" name="Text 67"/>
          <p:cNvSpPr/>
          <p:nvPr/>
        </p:nvSpPr>
        <p:spPr>
          <a:xfrm>
            <a:off x="5541264"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50 components computed</a:t>
            </a:r>
            <a:endParaRPr lang="en-US" sz="800" dirty="0"/>
          </a:p>
        </p:txBody>
      </p:sp>
      <p:sp>
        <p:nvSpPr>
          <p:cNvPr id="70" name="Shape 68"/>
          <p:cNvSpPr/>
          <p:nvPr/>
        </p:nvSpPr>
        <p:spPr>
          <a:xfrm>
            <a:off x="6400800"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71" name="Shape 69"/>
          <p:cNvSpPr/>
          <p:nvPr/>
        </p:nvSpPr>
        <p:spPr>
          <a:xfrm>
            <a:off x="6492240" y="2706624"/>
            <a:ext cx="1133856" cy="877824"/>
          </a:xfrm>
          <a:prstGeom prst="rect">
            <a:avLst/>
          </a:prstGeom>
          <a:solidFill>
            <a:srgbClr val="FDF3D0"/>
          </a:solidFill>
          <a:ln w="12700">
            <a:solidFill>
              <a:srgbClr val="B8860B"/>
            </a:solidFill>
            <a:prstDash val="solid"/>
          </a:ln>
        </p:spPr>
        <p:txBody>
          <a:bodyPr/>
          <a:lstStyle/>
          <a:p>
            <a:endParaRPr lang="en-US"/>
          </a:p>
        </p:txBody>
      </p:sp>
      <p:sp>
        <p:nvSpPr>
          <p:cNvPr id="72" name="Text 70"/>
          <p:cNvSpPr/>
          <p:nvPr/>
        </p:nvSpPr>
        <p:spPr>
          <a:xfrm>
            <a:off x="6492240" y="2743200"/>
            <a:ext cx="292608" cy="804672"/>
          </a:xfrm>
          <a:prstGeom prst="rect">
            <a:avLst/>
          </a:prstGeom>
          <a:noFill/>
          <a:ln/>
        </p:spPr>
        <p:txBody>
          <a:bodyPr wrap="square" rtlCol="0" anchor="ctr"/>
          <a:lstStyle/>
          <a:p>
            <a:pPr marL="0" indent="0" algn="ctr">
              <a:buNone/>
            </a:pPr>
            <a:r>
              <a:rPr lang="en-US" sz="1200" b="1" dirty="0">
                <a:solidFill>
                  <a:srgbClr val="B8860B"/>
                </a:solidFill>
                <a:latin typeface="Georgia" pitchFamily="34" charset="0"/>
                <a:ea typeface="Georgia" pitchFamily="34" charset="-122"/>
                <a:cs typeface="Georgia" pitchFamily="34" charset="-120"/>
              </a:rPr>
              <a:t>6</a:t>
            </a:r>
            <a:endParaRPr lang="en-US" sz="1200" dirty="0"/>
          </a:p>
        </p:txBody>
      </p:sp>
      <p:sp>
        <p:nvSpPr>
          <p:cNvPr id="73" name="Text 71"/>
          <p:cNvSpPr/>
          <p:nvPr/>
        </p:nvSpPr>
        <p:spPr>
          <a:xfrm>
            <a:off x="6784848" y="2743200"/>
            <a:ext cx="804672" cy="329184"/>
          </a:xfrm>
          <a:prstGeom prst="rect">
            <a:avLst/>
          </a:prstGeom>
          <a:noFill/>
          <a:ln/>
        </p:spPr>
        <p:txBody>
          <a:bodyPr wrap="square" rtlCol="0" anchor="ctr"/>
          <a:lstStyle/>
          <a:p>
            <a:pPr marL="0" indent="0">
              <a:buNone/>
            </a:pPr>
            <a:r>
              <a:rPr lang="en-US" sz="900" b="1" dirty="0">
                <a:solidFill>
                  <a:srgbClr val="B8860B"/>
                </a:solidFill>
                <a:latin typeface="Calibri" pitchFamily="34" charset="0"/>
                <a:ea typeface="Calibri" pitchFamily="34" charset="-122"/>
                <a:cs typeface="Calibri" pitchFamily="34" charset="-120"/>
              </a:rPr>
              <a:t>kNN + UMAP</a:t>
            </a:r>
            <a:endParaRPr lang="en-US" sz="900" dirty="0"/>
          </a:p>
        </p:txBody>
      </p:sp>
      <p:sp>
        <p:nvSpPr>
          <p:cNvPr id="74" name="Text 72"/>
          <p:cNvSpPr/>
          <p:nvPr/>
        </p:nvSpPr>
        <p:spPr>
          <a:xfrm>
            <a:off x="6784848"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k=15, 30 PCs used</a:t>
            </a:r>
            <a:endParaRPr lang="en-US" sz="800" dirty="0"/>
          </a:p>
        </p:txBody>
      </p:sp>
      <p:sp>
        <p:nvSpPr>
          <p:cNvPr id="75" name="Shape 73"/>
          <p:cNvSpPr/>
          <p:nvPr/>
        </p:nvSpPr>
        <p:spPr>
          <a:xfrm>
            <a:off x="7644384" y="3081528"/>
            <a:ext cx="201168" cy="128016"/>
          </a:xfrm>
          <a:prstGeom prst="rect">
            <a:avLst/>
          </a:prstGeom>
          <a:solidFill>
            <a:srgbClr val="0F9080"/>
          </a:solidFill>
          <a:ln w="12700">
            <a:solidFill>
              <a:srgbClr val="0F9080"/>
            </a:solidFill>
            <a:prstDash val="solid"/>
          </a:ln>
        </p:spPr>
        <p:txBody>
          <a:bodyPr/>
          <a:lstStyle/>
          <a:p>
            <a:endParaRPr lang="en-US"/>
          </a:p>
        </p:txBody>
      </p:sp>
      <p:sp>
        <p:nvSpPr>
          <p:cNvPr id="76" name="Shape 74"/>
          <p:cNvSpPr/>
          <p:nvPr/>
        </p:nvSpPr>
        <p:spPr>
          <a:xfrm>
            <a:off x="7735824" y="2706624"/>
            <a:ext cx="1133856" cy="877824"/>
          </a:xfrm>
          <a:prstGeom prst="rect">
            <a:avLst/>
          </a:prstGeom>
          <a:solidFill>
            <a:srgbClr val="E4F5EB"/>
          </a:solidFill>
          <a:ln w="12700">
            <a:solidFill>
              <a:srgbClr val="1A6B3A"/>
            </a:solidFill>
            <a:prstDash val="solid"/>
          </a:ln>
        </p:spPr>
        <p:txBody>
          <a:bodyPr/>
          <a:lstStyle/>
          <a:p>
            <a:endParaRPr lang="en-US"/>
          </a:p>
        </p:txBody>
      </p:sp>
      <p:sp>
        <p:nvSpPr>
          <p:cNvPr id="77" name="Text 75"/>
          <p:cNvSpPr/>
          <p:nvPr/>
        </p:nvSpPr>
        <p:spPr>
          <a:xfrm>
            <a:off x="7735824" y="2743200"/>
            <a:ext cx="292608" cy="804672"/>
          </a:xfrm>
          <a:prstGeom prst="rect">
            <a:avLst/>
          </a:prstGeom>
          <a:noFill/>
          <a:ln/>
        </p:spPr>
        <p:txBody>
          <a:bodyPr wrap="square" rtlCol="0" anchor="ctr"/>
          <a:lstStyle/>
          <a:p>
            <a:pPr marL="0" indent="0" algn="ctr">
              <a:buNone/>
            </a:pPr>
            <a:r>
              <a:rPr lang="en-US" sz="1200" b="1" dirty="0">
                <a:solidFill>
                  <a:srgbClr val="1A6B3A"/>
                </a:solidFill>
                <a:latin typeface="Georgia" pitchFamily="34" charset="0"/>
                <a:ea typeface="Georgia" pitchFamily="34" charset="-122"/>
                <a:cs typeface="Georgia" pitchFamily="34" charset="-120"/>
              </a:rPr>
              <a:t>7</a:t>
            </a:r>
            <a:endParaRPr lang="en-US" sz="1200" dirty="0"/>
          </a:p>
        </p:txBody>
      </p:sp>
      <p:sp>
        <p:nvSpPr>
          <p:cNvPr id="78" name="Text 76"/>
          <p:cNvSpPr/>
          <p:nvPr/>
        </p:nvSpPr>
        <p:spPr>
          <a:xfrm>
            <a:off x="8028432" y="2743200"/>
            <a:ext cx="804672" cy="329184"/>
          </a:xfrm>
          <a:prstGeom prst="rect">
            <a:avLst/>
          </a:prstGeom>
          <a:noFill/>
          <a:ln/>
        </p:spPr>
        <p:txBody>
          <a:bodyPr wrap="square" rtlCol="0" anchor="ctr"/>
          <a:lstStyle/>
          <a:p>
            <a:pPr marL="0" indent="0">
              <a:buNone/>
            </a:pPr>
            <a:r>
              <a:rPr lang="en-US" sz="900" b="1" dirty="0">
                <a:solidFill>
                  <a:srgbClr val="1A6B3A"/>
                </a:solidFill>
                <a:latin typeface="Calibri" pitchFamily="34" charset="0"/>
                <a:ea typeface="Calibri" pitchFamily="34" charset="-122"/>
                <a:cs typeface="Calibri" pitchFamily="34" charset="-120"/>
              </a:rPr>
              <a:t>Leiden</a:t>
            </a:r>
            <a:endParaRPr lang="en-US" sz="900" dirty="0"/>
          </a:p>
        </p:txBody>
      </p:sp>
      <p:sp>
        <p:nvSpPr>
          <p:cNvPr id="79" name="Text 77"/>
          <p:cNvSpPr/>
          <p:nvPr/>
        </p:nvSpPr>
        <p:spPr>
          <a:xfrm>
            <a:off x="8028432" y="3054096"/>
            <a:ext cx="804672" cy="475488"/>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Resolution 0.5 selected</a:t>
            </a:r>
            <a:endParaRPr lang="en-US" sz="800" dirty="0"/>
          </a:p>
        </p:txBody>
      </p:sp>
      <p:sp>
        <p:nvSpPr>
          <p:cNvPr id="80" name="Text 78"/>
          <p:cNvSpPr/>
          <p:nvPr/>
        </p:nvSpPr>
        <p:spPr>
          <a:xfrm>
            <a:off x="274320" y="3767328"/>
            <a:ext cx="8595360" cy="237744"/>
          </a:xfrm>
          <a:prstGeom prst="rect">
            <a:avLst/>
          </a:prstGeom>
          <a:noFill/>
          <a:ln/>
        </p:spPr>
        <p:txBody>
          <a:bodyPr wrap="square" rtlCol="0" anchor="ctr"/>
          <a:lstStyle/>
          <a:p>
            <a:pPr marL="0" indent="0">
              <a:buNone/>
            </a:pPr>
            <a:r>
              <a:rPr lang="en-US" sz="1000" b="1" dirty="0">
                <a:solidFill>
                  <a:srgbClr val="1A2B45"/>
                </a:solidFill>
                <a:latin typeface="Calibri" pitchFamily="34" charset="0"/>
                <a:ea typeface="Calibri" pitchFamily="34" charset="-122"/>
                <a:cs typeface="Calibri" pitchFamily="34" charset="-120"/>
              </a:rPr>
              <a:t>DATA FILES CHAIN</a:t>
            </a:r>
            <a:endParaRPr lang="en-US" sz="1000" dirty="0"/>
          </a:p>
        </p:txBody>
      </p:sp>
      <p:sp>
        <p:nvSpPr>
          <p:cNvPr id="81" name="Shape 79"/>
          <p:cNvSpPr/>
          <p:nvPr/>
        </p:nvSpPr>
        <p:spPr>
          <a:xfrm>
            <a:off x="274320" y="4059936"/>
            <a:ext cx="1572768" cy="438912"/>
          </a:xfrm>
          <a:prstGeom prst="rect">
            <a:avLst/>
          </a:prstGeom>
          <a:solidFill>
            <a:srgbClr val="0D1B2E"/>
          </a:solidFill>
          <a:ln w="12700">
            <a:solidFill>
              <a:srgbClr val="3D5068"/>
            </a:solidFill>
            <a:prstDash val="solid"/>
          </a:ln>
        </p:spPr>
        <p:txBody>
          <a:bodyPr/>
          <a:lstStyle/>
          <a:p>
            <a:endParaRPr lang="en-US"/>
          </a:p>
        </p:txBody>
      </p:sp>
      <p:sp>
        <p:nvSpPr>
          <p:cNvPr id="82" name="Text 80"/>
          <p:cNvSpPr/>
          <p:nvPr/>
        </p:nvSpPr>
        <p:spPr>
          <a:xfrm>
            <a:off x="274320" y="4059936"/>
            <a:ext cx="1572768" cy="438912"/>
          </a:xfrm>
          <a:prstGeom prst="rect">
            <a:avLst/>
          </a:prstGeom>
          <a:noFill/>
          <a:ln/>
        </p:spPr>
        <p:txBody>
          <a:bodyPr wrap="square" rtlCol="0" anchor="ctr"/>
          <a:lstStyle/>
          <a:p>
            <a:pPr marL="0" indent="0" algn="ctr">
              <a:buNone/>
            </a:pPr>
            <a:r>
              <a:rPr lang="en-US" sz="700" dirty="0">
                <a:solidFill>
                  <a:srgbClr val="0F9080"/>
                </a:solidFill>
                <a:latin typeface="Consolas" pitchFamily="34" charset="0"/>
                <a:ea typeface="Consolas" pitchFamily="34" charset="-122"/>
                <a:cs typeface="Consolas" pitchFamily="34" charset="-120"/>
              </a:rPr>
              <a:t>adata_preprocessed.h5ad</a:t>
            </a:r>
            <a:endParaRPr lang="en-US" sz="700" dirty="0"/>
          </a:p>
        </p:txBody>
      </p:sp>
      <p:sp>
        <p:nvSpPr>
          <p:cNvPr id="83" name="Shape 81"/>
          <p:cNvSpPr/>
          <p:nvPr/>
        </p:nvSpPr>
        <p:spPr>
          <a:xfrm>
            <a:off x="1865376" y="4215384"/>
            <a:ext cx="201168" cy="128016"/>
          </a:xfrm>
          <a:prstGeom prst="rect">
            <a:avLst/>
          </a:prstGeom>
          <a:solidFill>
            <a:srgbClr val="0F9080"/>
          </a:solidFill>
          <a:ln w="12700">
            <a:solidFill>
              <a:srgbClr val="0F9080"/>
            </a:solidFill>
            <a:prstDash val="solid"/>
          </a:ln>
        </p:spPr>
        <p:txBody>
          <a:bodyPr/>
          <a:lstStyle/>
          <a:p>
            <a:endParaRPr lang="en-US"/>
          </a:p>
        </p:txBody>
      </p:sp>
      <p:sp>
        <p:nvSpPr>
          <p:cNvPr id="84" name="Shape 82"/>
          <p:cNvSpPr/>
          <p:nvPr/>
        </p:nvSpPr>
        <p:spPr>
          <a:xfrm>
            <a:off x="2011680" y="4059936"/>
            <a:ext cx="1572768" cy="438912"/>
          </a:xfrm>
          <a:prstGeom prst="rect">
            <a:avLst/>
          </a:prstGeom>
          <a:solidFill>
            <a:srgbClr val="0D1B2E"/>
          </a:solidFill>
          <a:ln w="12700">
            <a:solidFill>
              <a:srgbClr val="3D5068"/>
            </a:solidFill>
            <a:prstDash val="solid"/>
          </a:ln>
        </p:spPr>
        <p:txBody>
          <a:bodyPr/>
          <a:lstStyle/>
          <a:p>
            <a:endParaRPr lang="en-US"/>
          </a:p>
        </p:txBody>
      </p:sp>
      <p:sp>
        <p:nvSpPr>
          <p:cNvPr id="85" name="Text 83"/>
          <p:cNvSpPr/>
          <p:nvPr/>
        </p:nvSpPr>
        <p:spPr>
          <a:xfrm>
            <a:off x="2011680" y="4059936"/>
            <a:ext cx="1572768" cy="438912"/>
          </a:xfrm>
          <a:prstGeom prst="rect">
            <a:avLst/>
          </a:prstGeom>
          <a:noFill/>
          <a:ln/>
        </p:spPr>
        <p:txBody>
          <a:bodyPr wrap="square" rtlCol="0" anchor="ctr"/>
          <a:lstStyle/>
          <a:p>
            <a:pPr marL="0" indent="0" algn="ctr">
              <a:buNone/>
            </a:pPr>
            <a:r>
              <a:rPr lang="en-US" sz="700" dirty="0">
                <a:solidFill>
                  <a:srgbClr val="0F9080"/>
                </a:solidFill>
                <a:latin typeface="Consolas" pitchFamily="34" charset="0"/>
                <a:ea typeface="Consolas" pitchFamily="34" charset="-122"/>
                <a:cs typeface="Consolas" pitchFamily="34" charset="-120"/>
              </a:rPr>
              <a:t>adata_annotated.h5ad</a:t>
            </a:r>
            <a:endParaRPr lang="en-US" sz="700" dirty="0"/>
          </a:p>
        </p:txBody>
      </p:sp>
      <p:sp>
        <p:nvSpPr>
          <p:cNvPr id="86" name="Shape 84"/>
          <p:cNvSpPr/>
          <p:nvPr/>
        </p:nvSpPr>
        <p:spPr>
          <a:xfrm>
            <a:off x="3602736" y="4215384"/>
            <a:ext cx="201168" cy="128016"/>
          </a:xfrm>
          <a:prstGeom prst="rect">
            <a:avLst/>
          </a:prstGeom>
          <a:solidFill>
            <a:srgbClr val="0F9080"/>
          </a:solidFill>
          <a:ln w="12700">
            <a:solidFill>
              <a:srgbClr val="0F9080"/>
            </a:solidFill>
            <a:prstDash val="solid"/>
          </a:ln>
        </p:spPr>
        <p:txBody>
          <a:bodyPr/>
          <a:lstStyle/>
          <a:p>
            <a:endParaRPr lang="en-US"/>
          </a:p>
        </p:txBody>
      </p:sp>
      <p:sp>
        <p:nvSpPr>
          <p:cNvPr id="87" name="Shape 85"/>
          <p:cNvSpPr/>
          <p:nvPr/>
        </p:nvSpPr>
        <p:spPr>
          <a:xfrm>
            <a:off x="3749040" y="4059936"/>
            <a:ext cx="1572768" cy="438912"/>
          </a:xfrm>
          <a:prstGeom prst="rect">
            <a:avLst/>
          </a:prstGeom>
          <a:solidFill>
            <a:srgbClr val="0D1B2E"/>
          </a:solidFill>
          <a:ln w="12700">
            <a:solidFill>
              <a:srgbClr val="3D5068"/>
            </a:solidFill>
            <a:prstDash val="solid"/>
          </a:ln>
        </p:spPr>
        <p:txBody>
          <a:bodyPr/>
          <a:lstStyle/>
          <a:p>
            <a:endParaRPr lang="en-US"/>
          </a:p>
        </p:txBody>
      </p:sp>
      <p:sp>
        <p:nvSpPr>
          <p:cNvPr id="88" name="Text 86"/>
          <p:cNvSpPr/>
          <p:nvPr/>
        </p:nvSpPr>
        <p:spPr>
          <a:xfrm>
            <a:off x="3749040" y="4059936"/>
            <a:ext cx="1572768" cy="438912"/>
          </a:xfrm>
          <a:prstGeom prst="rect">
            <a:avLst/>
          </a:prstGeom>
          <a:noFill/>
          <a:ln/>
        </p:spPr>
        <p:txBody>
          <a:bodyPr wrap="square" rtlCol="0" anchor="ctr"/>
          <a:lstStyle/>
          <a:p>
            <a:pPr marL="0" indent="0" algn="ctr">
              <a:buNone/>
            </a:pPr>
            <a:r>
              <a:rPr lang="en-US" sz="700" dirty="0">
                <a:solidFill>
                  <a:srgbClr val="0F9080"/>
                </a:solidFill>
                <a:latin typeface="Consolas" pitchFamily="34" charset="0"/>
                <a:ea typeface="Consolas" pitchFamily="34" charset="-122"/>
                <a:cs typeface="Consolas" pitchFamily="34" charset="-120"/>
              </a:rPr>
              <a:t>adata_spatial.h5ad</a:t>
            </a:r>
            <a:endParaRPr lang="en-US" sz="700" dirty="0"/>
          </a:p>
        </p:txBody>
      </p:sp>
      <p:sp>
        <p:nvSpPr>
          <p:cNvPr id="89" name="Shape 87"/>
          <p:cNvSpPr/>
          <p:nvPr/>
        </p:nvSpPr>
        <p:spPr>
          <a:xfrm>
            <a:off x="5340096" y="4215384"/>
            <a:ext cx="201168" cy="128016"/>
          </a:xfrm>
          <a:prstGeom prst="rect">
            <a:avLst/>
          </a:prstGeom>
          <a:solidFill>
            <a:srgbClr val="0F9080"/>
          </a:solidFill>
          <a:ln w="12700">
            <a:solidFill>
              <a:srgbClr val="0F9080"/>
            </a:solidFill>
            <a:prstDash val="solid"/>
          </a:ln>
        </p:spPr>
        <p:txBody>
          <a:bodyPr/>
          <a:lstStyle/>
          <a:p>
            <a:endParaRPr lang="en-US"/>
          </a:p>
        </p:txBody>
      </p:sp>
      <p:sp>
        <p:nvSpPr>
          <p:cNvPr id="90" name="Shape 88"/>
          <p:cNvSpPr/>
          <p:nvPr/>
        </p:nvSpPr>
        <p:spPr>
          <a:xfrm>
            <a:off x="5486400" y="4059936"/>
            <a:ext cx="1572768" cy="438912"/>
          </a:xfrm>
          <a:prstGeom prst="rect">
            <a:avLst/>
          </a:prstGeom>
          <a:solidFill>
            <a:srgbClr val="0D1B2E"/>
          </a:solidFill>
          <a:ln w="12700">
            <a:solidFill>
              <a:srgbClr val="3D5068"/>
            </a:solidFill>
            <a:prstDash val="solid"/>
          </a:ln>
        </p:spPr>
        <p:txBody>
          <a:bodyPr/>
          <a:lstStyle/>
          <a:p>
            <a:endParaRPr lang="en-US"/>
          </a:p>
        </p:txBody>
      </p:sp>
      <p:sp>
        <p:nvSpPr>
          <p:cNvPr id="91" name="Text 89"/>
          <p:cNvSpPr/>
          <p:nvPr/>
        </p:nvSpPr>
        <p:spPr>
          <a:xfrm>
            <a:off x="5486400" y="4059936"/>
            <a:ext cx="1572768" cy="438912"/>
          </a:xfrm>
          <a:prstGeom prst="rect">
            <a:avLst/>
          </a:prstGeom>
          <a:noFill/>
          <a:ln/>
        </p:spPr>
        <p:txBody>
          <a:bodyPr wrap="square" rtlCol="0" anchor="ctr"/>
          <a:lstStyle/>
          <a:p>
            <a:pPr marL="0" indent="0" algn="ctr">
              <a:buNone/>
            </a:pPr>
            <a:r>
              <a:rPr lang="en-US" sz="700" dirty="0">
                <a:solidFill>
                  <a:srgbClr val="0F9080"/>
                </a:solidFill>
                <a:latin typeface="Consolas" pitchFamily="34" charset="0"/>
                <a:ea typeface="Consolas" pitchFamily="34" charset="-122"/>
                <a:cs typeface="Consolas" pitchFamily="34" charset="-120"/>
              </a:rPr>
              <a:t>adata_scored.h5ad</a:t>
            </a:r>
            <a:endParaRPr lang="en-US" sz="700" dirty="0"/>
          </a:p>
        </p:txBody>
      </p:sp>
      <p:sp>
        <p:nvSpPr>
          <p:cNvPr id="92" name="Shape 90"/>
          <p:cNvSpPr/>
          <p:nvPr/>
        </p:nvSpPr>
        <p:spPr>
          <a:xfrm>
            <a:off x="7077456" y="4215384"/>
            <a:ext cx="201168" cy="128016"/>
          </a:xfrm>
          <a:prstGeom prst="rect">
            <a:avLst/>
          </a:prstGeom>
          <a:solidFill>
            <a:srgbClr val="0F9080"/>
          </a:solidFill>
          <a:ln w="12700">
            <a:solidFill>
              <a:srgbClr val="0F9080"/>
            </a:solidFill>
            <a:prstDash val="solid"/>
          </a:ln>
        </p:spPr>
        <p:txBody>
          <a:bodyPr/>
          <a:lstStyle/>
          <a:p>
            <a:endParaRPr lang="en-US"/>
          </a:p>
        </p:txBody>
      </p:sp>
      <p:sp>
        <p:nvSpPr>
          <p:cNvPr id="93" name="Shape 91"/>
          <p:cNvSpPr/>
          <p:nvPr/>
        </p:nvSpPr>
        <p:spPr>
          <a:xfrm>
            <a:off x="7223760" y="4059936"/>
            <a:ext cx="1572768" cy="438912"/>
          </a:xfrm>
          <a:prstGeom prst="rect">
            <a:avLst/>
          </a:prstGeom>
          <a:solidFill>
            <a:srgbClr val="0D1B2E"/>
          </a:solidFill>
          <a:ln w="12700">
            <a:solidFill>
              <a:srgbClr val="3D5068"/>
            </a:solidFill>
            <a:prstDash val="solid"/>
          </a:ln>
        </p:spPr>
        <p:txBody>
          <a:bodyPr/>
          <a:lstStyle/>
          <a:p>
            <a:endParaRPr lang="en-US"/>
          </a:p>
        </p:txBody>
      </p:sp>
      <p:sp>
        <p:nvSpPr>
          <p:cNvPr id="94" name="Text 92"/>
          <p:cNvSpPr/>
          <p:nvPr/>
        </p:nvSpPr>
        <p:spPr>
          <a:xfrm>
            <a:off x="7223760" y="4059936"/>
            <a:ext cx="1572768" cy="438912"/>
          </a:xfrm>
          <a:prstGeom prst="rect">
            <a:avLst/>
          </a:prstGeom>
          <a:noFill/>
          <a:ln/>
        </p:spPr>
        <p:txBody>
          <a:bodyPr wrap="square" rtlCol="0" anchor="ctr"/>
          <a:lstStyle/>
          <a:p>
            <a:pPr marL="0" indent="0" algn="ctr">
              <a:buNone/>
            </a:pPr>
            <a:r>
              <a:rPr lang="en-US" sz="700" dirty="0">
                <a:solidFill>
                  <a:srgbClr val="0F9080"/>
                </a:solidFill>
                <a:latin typeface="Consolas" pitchFamily="34" charset="0"/>
                <a:ea typeface="Consolas" pitchFamily="34" charset="-122"/>
                <a:cs typeface="Consolas" pitchFamily="34" charset="-120"/>
              </a:rPr>
              <a:t>adata_cellcomm.h5ad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QUALITY CONTROL RESULTS</a:t>
            </a:r>
            <a:endParaRPr lang="en-US" sz="1700" dirty="0"/>
          </a:p>
        </p:txBody>
      </p:sp>
      <p:sp>
        <p:nvSpPr>
          <p:cNvPr id="4" name="Shape 2"/>
          <p:cNvSpPr/>
          <p:nvPr/>
        </p:nvSpPr>
        <p:spPr>
          <a:xfrm>
            <a:off x="274320" y="749808"/>
            <a:ext cx="2697480" cy="4224528"/>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5" name="Text 3"/>
          <p:cNvSpPr/>
          <p:nvPr/>
        </p:nvSpPr>
        <p:spPr>
          <a:xfrm>
            <a:off x="384048" y="822960"/>
            <a:ext cx="2487168" cy="256032"/>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FILTERS APPLIED</a:t>
            </a:r>
            <a:endParaRPr lang="en-US" sz="1050" dirty="0"/>
          </a:p>
        </p:txBody>
      </p:sp>
      <p:sp>
        <p:nvSpPr>
          <p:cNvPr id="6" name="Shape 4"/>
          <p:cNvSpPr/>
          <p:nvPr/>
        </p:nvSpPr>
        <p:spPr>
          <a:xfrm>
            <a:off x="329184" y="1152144"/>
            <a:ext cx="2596896" cy="749808"/>
          </a:xfrm>
          <a:prstGeom prst="rect">
            <a:avLst/>
          </a:prstGeom>
          <a:solidFill>
            <a:srgbClr val="F7F9FC"/>
          </a:solidFill>
          <a:ln w="3810">
            <a:solidFill>
              <a:srgbClr val="E2E8EF"/>
            </a:solidFill>
            <a:prstDash val="solid"/>
          </a:ln>
        </p:spPr>
        <p:txBody>
          <a:bodyPr/>
          <a:lstStyle/>
          <a:p>
            <a:endParaRPr lang="en-US"/>
          </a:p>
        </p:txBody>
      </p:sp>
      <p:sp>
        <p:nvSpPr>
          <p:cNvPr id="7" name="Shape 5"/>
          <p:cNvSpPr/>
          <p:nvPr/>
        </p:nvSpPr>
        <p:spPr>
          <a:xfrm>
            <a:off x="329184" y="1152144"/>
            <a:ext cx="45720" cy="749808"/>
          </a:xfrm>
          <a:prstGeom prst="rect">
            <a:avLst/>
          </a:prstGeom>
          <a:solidFill>
            <a:srgbClr val="0B6E63"/>
          </a:solidFill>
          <a:ln w="12700">
            <a:solidFill>
              <a:srgbClr val="0B6E63"/>
            </a:solidFill>
            <a:prstDash val="solid"/>
          </a:ln>
        </p:spPr>
        <p:txBody>
          <a:bodyPr/>
          <a:lstStyle/>
          <a:p>
            <a:endParaRPr lang="en-US"/>
          </a:p>
        </p:txBody>
      </p:sp>
      <p:sp>
        <p:nvSpPr>
          <p:cNvPr id="8" name="Text 6"/>
          <p:cNvSpPr/>
          <p:nvPr/>
        </p:nvSpPr>
        <p:spPr>
          <a:xfrm>
            <a:off x="438912" y="1188720"/>
            <a:ext cx="2414016" cy="256032"/>
          </a:xfrm>
          <a:prstGeom prst="rect">
            <a:avLst/>
          </a:prstGeom>
          <a:noFill/>
          <a:ln/>
        </p:spPr>
        <p:txBody>
          <a:bodyPr wrap="square" rtlCol="0" anchor="ctr"/>
          <a:lstStyle/>
          <a:p>
            <a:pPr marL="0" indent="0">
              <a:buNone/>
            </a:pPr>
            <a:r>
              <a:rPr lang="en-US" sz="1000" b="1" dirty="0">
                <a:solidFill>
                  <a:srgbClr val="3A4F65"/>
                </a:solidFill>
                <a:latin typeface="Calibri" pitchFamily="34" charset="0"/>
                <a:ea typeface="Calibri" pitchFamily="34" charset="-122"/>
                <a:cs typeface="Calibri" pitchFamily="34" charset="-120"/>
              </a:rPr>
              <a:t>Min 200 genes/spot</a:t>
            </a:r>
            <a:endParaRPr lang="en-US" sz="1000" dirty="0"/>
          </a:p>
        </p:txBody>
      </p:sp>
      <p:sp>
        <p:nvSpPr>
          <p:cNvPr id="9" name="Text 7"/>
          <p:cNvSpPr/>
          <p:nvPr/>
        </p:nvSpPr>
        <p:spPr>
          <a:xfrm>
            <a:off x="438912" y="1444752"/>
            <a:ext cx="2414016" cy="384048"/>
          </a:xfrm>
          <a:prstGeom prst="rect">
            <a:avLst/>
          </a:prstGeom>
          <a:noFill/>
          <a:ln/>
        </p:spPr>
        <p:txBody>
          <a:bodyPr wrap="square" rtlCol="0" anchor="ctr"/>
          <a:lstStyle/>
          <a:p>
            <a:pPr marL="0" indent="0">
              <a:buNone/>
            </a:pPr>
            <a:r>
              <a:rPr lang="en-US" sz="900" i="1" dirty="0">
                <a:solidFill>
                  <a:srgbClr val="8A9CB0"/>
                </a:solidFill>
                <a:latin typeface="Calibri" pitchFamily="34" charset="0"/>
                <a:ea typeface="Calibri" pitchFamily="34" charset="-122"/>
                <a:cs typeface="Calibri" pitchFamily="34" charset="-120"/>
              </a:rPr>
              <a:t>Removes empty or dying spots</a:t>
            </a:r>
            <a:endParaRPr lang="en-US" sz="900" dirty="0"/>
          </a:p>
        </p:txBody>
      </p:sp>
      <p:sp>
        <p:nvSpPr>
          <p:cNvPr id="10" name="Shape 8"/>
          <p:cNvSpPr/>
          <p:nvPr/>
        </p:nvSpPr>
        <p:spPr>
          <a:xfrm>
            <a:off x="329184" y="1975104"/>
            <a:ext cx="2596896" cy="749808"/>
          </a:xfrm>
          <a:prstGeom prst="rect">
            <a:avLst/>
          </a:prstGeom>
          <a:solidFill>
            <a:srgbClr val="FFFFFF"/>
          </a:solidFill>
          <a:ln w="3810">
            <a:solidFill>
              <a:srgbClr val="E2E8EF"/>
            </a:solidFill>
            <a:prstDash val="solid"/>
          </a:ln>
        </p:spPr>
        <p:txBody>
          <a:bodyPr/>
          <a:lstStyle/>
          <a:p>
            <a:endParaRPr lang="en-US"/>
          </a:p>
        </p:txBody>
      </p:sp>
      <p:sp>
        <p:nvSpPr>
          <p:cNvPr id="11" name="Shape 9"/>
          <p:cNvSpPr/>
          <p:nvPr/>
        </p:nvSpPr>
        <p:spPr>
          <a:xfrm>
            <a:off x="329184" y="1975104"/>
            <a:ext cx="45720" cy="749808"/>
          </a:xfrm>
          <a:prstGeom prst="rect">
            <a:avLst/>
          </a:prstGeom>
          <a:solidFill>
            <a:srgbClr val="0B6E63"/>
          </a:solidFill>
          <a:ln w="12700">
            <a:solidFill>
              <a:srgbClr val="0B6E63"/>
            </a:solidFill>
            <a:prstDash val="solid"/>
          </a:ln>
        </p:spPr>
        <p:txBody>
          <a:bodyPr/>
          <a:lstStyle/>
          <a:p>
            <a:endParaRPr lang="en-US"/>
          </a:p>
        </p:txBody>
      </p:sp>
      <p:sp>
        <p:nvSpPr>
          <p:cNvPr id="12" name="Text 10"/>
          <p:cNvSpPr/>
          <p:nvPr/>
        </p:nvSpPr>
        <p:spPr>
          <a:xfrm>
            <a:off x="438912" y="2011680"/>
            <a:ext cx="2414016" cy="256032"/>
          </a:xfrm>
          <a:prstGeom prst="rect">
            <a:avLst/>
          </a:prstGeom>
          <a:noFill/>
          <a:ln/>
        </p:spPr>
        <p:txBody>
          <a:bodyPr wrap="square" rtlCol="0" anchor="ctr"/>
          <a:lstStyle/>
          <a:p>
            <a:pPr marL="0" indent="0">
              <a:buNone/>
            </a:pPr>
            <a:r>
              <a:rPr lang="en-US" sz="1000" b="1" dirty="0">
                <a:solidFill>
                  <a:srgbClr val="3A4F65"/>
                </a:solidFill>
                <a:latin typeface="Calibri" pitchFamily="34" charset="0"/>
                <a:ea typeface="Calibri" pitchFamily="34" charset="-122"/>
                <a:cs typeface="Calibri" pitchFamily="34" charset="-120"/>
              </a:rPr>
              <a:t>Min 500 UMI/spot</a:t>
            </a:r>
            <a:endParaRPr lang="en-US" sz="1000" dirty="0"/>
          </a:p>
        </p:txBody>
      </p:sp>
      <p:sp>
        <p:nvSpPr>
          <p:cNvPr id="13" name="Text 11"/>
          <p:cNvSpPr/>
          <p:nvPr/>
        </p:nvSpPr>
        <p:spPr>
          <a:xfrm>
            <a:off x="438912" y="2267712"/>
            <a:ext cx="2414016" cy="384048"/>
          </a:xfrm>
          <a:prstGeom prst="rect">
            <a:avLst/>
          </a:prstGeom>
          <a:noFill/>
          <a:ln/>
        </p:spPr>
        <p:txBody>
          <a:bodyPr wrap="square" rtlCol="0" anchor="ctr"/>
          <a:lstStyle/>
          <a:p>
            <a:pPr marL="0" indent="0">
              <a:buNone/>
            </a:pPr>
            <a:r>
              <a:rPr lang="en-US" sz="900" i="1" dirty="0">
                <a:solidFill>
                  <a:srgbClr val="8A9CB0"/>
                </a:solidFill>
                <a:latin typeface="Calibri" pitchFamily="34" charset="0"/>
                <a:ea typeface="Calibri" pitchFamily="34" charset="-122"/>
                <a:cs typeface="Calibri" pitchFamily="34" charset="-120"/>
              </a:rPr>
              <a:t>Ensures reliable quantification</a:t>
            </a:r>
            <a:endParaRPr lang="en-US" sz="900" dirty="0"/>
          </a:p>
        </p:txBody>
      </p:sp>
      <p:sp>
        <p:nvSpPr>
          <p:cNvPr id="14" name="Shape 12"/>
          <p:cNvSpPr/>
          <p:nvPr/>
        </p:nvSpPr>
        <p:spPr>
          <a:xfrm>
            <a:off x="329184" y="2798064"/>
            <a:ext cx="2596896" cy="749808"/>
          </a:xfrm>
          <a:prstGeom prst="rect">
            <a:avLst/>
          </a:prstGeom>
          <a:solidFill>
            <a:srgbClr val="F7F9FC"/>
          </a:solidFill>
          <a:ln w="3810">
            <a:solidFill>
              <a:srgbClr val="E2E8EF"/>
            </a:solidFill>
            <a:prstDash val="solid"/>
          </a:ln>
        </p:spPr>
        <p:txBody>
          <a:bodyPr/>
          <a:lstStyle/>
          <a:p>
            <a:endParaRPr lang="en-US"/>
          </a:p>
        </p:txBody>
      </p:sp>
      <p:sp>
        <p:nvSpPr>
          <p:cNvPr id="15" name="Shape 13"/>
          <p:cNvSpPr/>
          <p:nvPr/>
        </p:nvSpPr>
        <p:spPr>
          <a:xfrm>
            <a:off x="329184" y="2798064"/>
            <a:ext cx="45720" cy="749808"/>
          </a:xfrm>
          <a:prstGeom prst="rect">
            <a:avLst/>
          </a:prstGeom>
          <a:solidFill>
            <a:srgbClr val="A63010"/>
          </a:solidFill>
          <a:ln w="12700">
            <a:solidFill>
              <a:srgbClr val="A63010"/>
            </a:solidFill>
            <a:prstDash val="solid"/>
          </a:ln>
        </p:spPr>
        <p:txBody>
          <a:bodyPr/>
          <a:lstStyle/>
          <a:p>
            <a:endParaRPr lang="en-US"/>
          </a:p>
        </p:txBody>
      </p:sp>
      <p:sp>
        <p:nvSpPr>
          <p:cNvPr id="16" name="Text 14"/>
          <p:cNvSpPr/>
          <p:nvPr/>
        </p:nvSpPr>
        <p:spPr>
          <a:xfrm>
            <a:off x="438912" y="2834640"/>
            <a:ext cx="2414016" cy="256032"/>
          </a:xfrm>
          <a:prstGeom prst="rect">
            <a:avLst/>
          </a:prstGeom>
          <a:noFill/>
          <a:ln/>
        </p:spPr>
        <p:txBody>
          <a:bodyPr wrap="square" rtlCol="0" anchor="ctr"/>
          <a:lstStyle/>
          <a:p>
            <a:pPr marL="0" indent="0">
              <a:buNone/>
            </a:pPr>
            <a:r>
              <a:rPr lang="en-US" sz="1000" b="1" dirty="0">
                <a:solidFill>
                  <a:srgbClr val="3A4F65"/>
                </a:solidFill>
                <a:latin typeface="Calibri" pitchFamily="34" charset="0"/>
                <a:ea typeface="Calibri" pitchFamily="34" charset="-122"/>
                <a:cs typeface="Calibri" pitchFamily="34" charset="-120"/>
              </a:rPr>
              <a:t>MT% &lt; 15%</a:t>
            </a:r>
            <a:endParaRPr lang="en-US" sz="1000" dirty="0"/>
          </a:p>
        </p:txBody>
      </p:sp>
      <p:sp>
        <p:nvSpPr>
          <p:cNvPr id="17" name="Text 15"/>
          <p:cNvSpPr/>
          <p:nvPr/>
        </p:nvSpPr>
        <p:spPr>
          <a:xfrm>
            <a:off x="438912" y="3090672"/>
            <a:ext cx="2414016" cy="384048"/>
          </a:xfrm>
          <a:prstGeom prst="rect">
            <a:avLst/>
          </a:prstGeom>
          <a:noFill/>
          <a:ln/>
        </p:spPr>
        <p:txBody>
          <a:bodyPr wrap="square" rtlCol="0" anchor="ctr"/>
          <a:lstStyle/>
          <a:p>
            <a:pPr marL="0" indent="0">
              <a:buNone/>
            </a:pPr>
            <a:r>
              <a:rPr lang="en-US" sz="900" i="1" dirty="0">
                <a:solidFill>
                  <a:srgbClr val="8A9CB0"/>
                </a:solidFill>
                <a:latin typeface="Calibri" pitchFamily="34" charset="0"/>
                <a:ea typeface="Calibri" pitchFamily="34" charset="-122"/>
                <a:cs typeface="Calibri" pitchFamily="34" charset="-120"/>
              </a:rPr>
              <a:t>Excludes lysed/dead cells</a:t>
            </a:r>
            <a:endParaRPr lang="en-US" sz="900" dirty="0"/>
          </a:p>
        </p:txBody>
      </p:sp>
      <p:sp>
        <p:nvSpPr>
          <p:cNvPr id="18" name="Shape 16"/>
          <p:cNvSpPr/>
          <p:nvPr/>
        </p:nvSpPr>
        <p:spPr>
          <a:xfrm>
            <a:off x="329184" y="3621024"/>
            <a:ext cx="2596896" cy="749808"/>
          </a:xfrm>
          <a:prstGeom prst="rect">
            <a:avLst/>
          </a:prstGeom>
          <a:solidFill>
            <a:srgbClr val="FFFFFF"/>
          </a:solidFill>
          <a:ln w="3810">
            <a:solidFill>
              <a:srgbClr val="E2E8EF"/>
            </a:solidFill>
            <a:prstDash val="solid"/>
          </a:ln>
        </p:spPr>
        <p:txBody>
          <a:bodyPr/>
          <a:lstStyle/>
          <a:p>
            <a:endParaRPr lang="en-US"/>
          </a:p>
        </p:txBody>
      </p:sp>
      <p:sp>
        <p:nvSpPr>
          <p:cNvPr id="19" name="Shape 17"/>
          <p:cNvSpPr/>
          <p:nvPr/>
        </p:nvSpPr>
        <p:spPr>
          <a:xfrm>
            <a:off x="329184" y="3621024"/>
            <a:ext cx="45720" cy="749808"/>
          </a:xfrm>
          <a:prstGeom prst="rect">
            <a:avLst/>
          </a:prstGeom>
          <a:solidFill>
            <a:srgbClr val="1A2B45"/>
          </a:solidFill>
          <a:ln w="12700">
            <a:solidFill>
              <a:srgbClr val="1A2B45"/>
            </a:solidFill>
            <a:prstDash val="solid"/>
          </a:ln>
        </p:spPr>
        <p:txBody>
          <a:bodyPr/>
          <a:lstStyle/>
          <a:p>
            <a:endParaRPr lang="en-US"/>
          </a:p>
        </p:txBody>
      </p:sp>
      <p:sp>
        <p:nvSpPr>
          <p:cNvPr id="20" name="Text 18"/>
          <p:cNvSpPr/>
          <p:nvPr/>
        </p:nvSpPr>
        <p:spPr>
          <a:xfrm>
            <a:off x="438912" y="3657600"/>
            <a:ext cx="2414016" cy="256032"/>
          </a:xfrm>
          <a:prstGeom prst="rect">
            <a:avLst/>
          </a:prstGeom>
          <a:noFill/>
          <a:ln/>
        </p:spPr>
        <p:txBody>
          <a:bodyPr wrap="square" rtlCol="0" anchor="ctr"/>
          <a:lstStyle/>
          <a:p>
            <a:pPr marL="0" indent="0">
              <a:buNone/>
            </a:pPr>
            <a:r>
              <a:rPr lang="en-US" sz="1000" b="1" dirty="0">
                <a:solidFill>
                  <a:srgbClr val="3A4F65"/>
                </a:solidFill>
                <a:latin typeface="Calibri" pitchFamily="34" charset="0"/>
                <a:ea typeface="Calibri" pitchFamily="34" charset="-122"/>
                <a:cs typeface="Calibri" pitchFamily="34" charset="-120"/>
              </a:rPr>
              <a:t>Gene in ≥ 3 spots</a:t>
            </a:r>
            <a:endParaRPr lang="en-US" sz="1000" dirty="0"/>
          </a:p>
        </p:txBody>
      </p:sp>
      <p:sp>
        <p:nvSpPr>
          <p:cNvPr id="21" name="Text 19"/>
          <p:cNvSpPr/>
          <p:nvPr/>
        </p:nvSpPr>
        <p:spPr>
          <a:xfrm>
            <a:off x="438912" y="3913632"/>
            <a:ext cx="2414016" cy="384048"/>
          </a:xfrm>
          <a:prstGeom prst="rect">
            <a:avLst/>
          </a:prstGeom>
          <a:noFill/>
          <a:ln/>
        </p:spPr>
        <p:txBody>
          <a:bodyPr wrap="square" rtlCol="0" anchor="ctr"/>
          <a:lstStyle/>
          <a:p>
            <a:pPr marL="0" indent="0">
              <a:buNone/>
            </a:pPr>
            <a:r>
              <a:rPr lang="en-US" sz="900" i="1" dirty="0">
                <a:solidFill>
                  <a:srgbClr val="8A9CB0"/>
                </a:solidFill>
                <a:latin typeface="Calibri" pitchFamily="34" charset="0"/>
                <a:ea typeface="Calibri" pitchFamily="34" charset="-122"/>
                <a:cs typeface="Calibri" pitchFamily="34" charset="-120"/>
              </a:rPr>
              <a:t>Removes ultra-rare artefacts</a:t>
            </a:r>
            <a:endParaRPr lang="en-US" sz="900" dirty="0"/>
          </a:p>
        </p:txBody>
      </p:sp>
      <p:sp>
        <p:nvSpPr>
          <p:cNvPr id="22" name="Shape 20"/>
          <p:cNvSpPr/>
          <p:nvPr/>
        </p:nvSpPr>
        <p:spPr>
          <a:xfrm>
            <a:off x="329184" y="4425696"/>
            <a:ext cx="2596896" cy="475488"/>
          </a:xfrm>
          <a:prstGeom prst="rect">
            <a:avLst/>
          </a:prstGeom>
          <a:solidFill>
            <a:srgbClr val="1A2B45"/>
          </a:solidFill>
          <a:ln w="12700">
            <a:solidFill>
              <a:srgbClr val="1A2B45"/>
            </a:solidFill>
            <a:prstDash val="solid"/>
          </a:ln>
        </p:spPr>
        <p:txBody>
          <a:bodyPr/>
          <a:lstStyle/>
          <a:p>
            <a:endParaRPr lang="en-US"/>
          </a:p>
        </p:txBody>
      </p:sp>
      <p:sp>
        <p:nvSpPr>
          <p:cNvPr id="23" name="Text 21"/>
          <p:cNvSpPr/>
          <p:nvPr/>
        </p:nvSpPr>
        <p:spPr>
          <a:xfrm>
            <a:off x="402336" y="4462272"/>
            <a:ext cx="2450592" cy="36576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4,898 → 4,869 spots retained  (99.4%)</a:t>
            </a:r>
            <a:endParaRPr lang="en-US" sz="950" dirty="0"/>
          </a:p>
        </p:txBody>
      </p:sp>
      <p:sp>
        <p:nvSpPr>
          <p:cNvPr id="25" name="Text 23"/>
          <p:cNvSpPr/>
          <p:nvPr/>
        </p:nvSpPr>
        <p:spPr>
          <a:xfrm>
            <a:off x="3127248" y="1508760"/>
            <a:ext cx="5742432"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QC Violin Plot — before filtering</a:t>
            </a:r>
            <a:endParaRPr lang="en-US" sz="950" dirty="0"/>
          </a:p>
        </p:txBody>
      </p:sp>
      <p:sp>
        <p:nvSpPr>
          <p:cNvPr id="26" name="Text 24"/>
          <p:cNvSpPr/>
          <p:nvPr/>
        </p:nvSpPr>
        <p:spPr>
          <a:xfrm>
            <a:off x="3127248" y="1783080"/>
            <a:ext cx="5742432"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figures/qc/violin_01_qc_violin_before_filter.png  [total_counts · n_genes_by_counts · pct_mt]</a:t>
            </a:r>
            <a:endParaRPr lang="en-US" sz="800" dirty="0"/>
          </a:p>
        </p:txBody>
      </p:sp>
      <p:sp>
        <p:nvSpPr>
          <p:cNvPr id="28" name="Text 26"/>
          <p:cNvSpPr/>
          <p:nvPr/>
        </p:nvSpPr>
        <p:spPr>
          <a:xfrm>
            <a:off x="3127248" y="3694176"/>
            <a:ext cx="5742432"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Spatial QC Map on H&amp;E tissue</a:t>
            </a:r>
            <a:endParaRPr lang="en-US" sz="950" dirty="0"/>
          </a:p>
        </p:txBody>
      </p:sp>
      <p:sp>
        <p:nvSpPr>
          <p:cNvPr id="29" name="Text 27"/>
          <p:cNvSpPr/>
          <p:nvPr/>
        </p:nvSpPr>
        <p:spPr>
          <a:xfrm>
            <a:off x="3127248" y="3968496"/>
            <a:ext cx="5742432"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figures/spatial/02_spatial_qc.png  [Spot colour = total counts or MT% — reveals spatial quality distribution]</a:t>
            </a:r>
            <a:endParaRPr lang="en-US" sz="800" dirty="0"/>
          </a:p>
        </p:txBody>
      </p:sp>
      <p:grpSp>
        <p:nvGrpSpPr>
          <p:cNvPr id="32" name="Group 31">
            <a:extLst>
              <a:ext uri="{FF2B5EF4-FFF2-40B4-BE49-F238E27FC236}">
                <a16:creationId xmlns:a16="http://schemas.microsoft.com/office/drawing/2014/main" id="{9D97F9B0-B630-3322-1A1D-5F39C7A3303A}"/>
              </a:ext>
            </a:extLst>
          </p:cNvPr>
          <p:cNvGrpSpPr/>
          <p:nvPr/>
        </p:nvGrpSpPr>
        <p:grpSpPr>
          <a:xfrm>
            <a:off x="3127248" y="749808"/>
            <a:ext cx="5742432" cy="2029968"/>
            <a:chOff x="3127248" y="749808"/>
            <a:chExt cx="5742432" cy="2029968"/>
          </a:xfrm>
        </p:grpSpPr>
        <p:sp>
          <p:nvSpPr>
            <p:cNvPr id="24" name="Shape 22"/>
            <p:cNvSpPr/>
            <p:nvPr/>
          </p:nvSpPr>
          <p:spPr>
            <a:xfrm>
              <a:off x="3127248" y="749808"/>
              <a:ext cx="5742432" cy="2029968"/>
            </a:xfrm>
            <a:prstGeom prst="rect">
              <a:avLst/>
            </a:prstGeom>
            <a:solidFill>
              <a:srgbClr val="E2E8EF"/>
            </a:solidFill>
            <a:ln w="15240">
              <a:solidFill>
                <a:srgbClr val="8A9CB0"/>
              </a:solidFill>
              <a:prstDash val="dash"/>
            </a:ln>
          </p:spPr>
          <p:txBody>
            <a:bodyPr/>
            <a:lstStyle/>
            <a:p>
              <a:endParaRPr lang="en-US"/>
            </a:p>
          </p:txBody>
        </p:sp>
        <p:pic>
          <p:nvPicPr>
            <p:cNvPr id="31" name="Picture 30">
              <a:extLst>
                <a:ext uri="{FF2B5EF4-FFF2-40B4-BE49-F238E27FC236}">
                  <a16:creationId xmlns:a16="http://schemas.microsoft.com/office/drawing/2014/main" id="{B2C86995-64F1-1D36-6F6E-43421CB4C4E4}"/>
                </a:ext>
              </a:extLst>
            </p:cNvPr>
            <p:cNvPicPr>
              <a:picLocks noChangeAspect="1"/>
            </p:cNvPicPr>
            <p:nvPr/>
          </p:nvPicPr>
          <p:blipFill>
            <a:blip r:embed="rId3"/>
            <a:stretch>
              <a:fillRect/>
            </a:stretch>
          </p:blipFill>
          <p:spPr>
            <a:xfrm>
              <a:off x="3219938" y="867147"/>
              <a:ext cx="5540013" cy="1795289"/>
            </a:xfrm>
            <a:prstGeom prst="rect">
              <a:avLst/>
            </a:prstGeom>
          </p:spPr>
        </p:pic>
      </p:grpSp>
      <p:grpSp>
        <p:nvGrpSpPr>
          <p:cNvPr id="35" name="Group 34">
            <a:extLst>
              <a:ext uri="{FF2B5EF4-FFF2-40B4-BE49-F238E27FC236}">
                <a16:creationId xmlns:a16="http://schemas.microsoft.com/office/drawing/2014/main" id="{4BD06A1A-91AF-A0EC-2450-45707BB2E984}"/>
              </a:ext>
            </a:extLst>
          </p:cNvPr>
          <p:cNvGrpSpPr/>
          <p:nvPr/>
        </p:nvGrpSpPr>
        <p:grpSpPr>
          <a:xfrm>
            <a:off x="3127248" y="2926080"/>
            <a:ext cx="5742432" cy="2048256"/>
            <a:chOff x="3127248" y="2926080"/>
            <a:chExt cx="5742432" cy="2048256"/>
          </a:xfrm>
        </p:grpSpPr>
        <p:sp>
          <p:nvSpPr>
            <p:cNvPr id="27" name="Shape 25"/>
            <p:cNvSpPr/>
            <p:nvPr/>
          </p:nvSpPr>
          <p:spPr>
            <a:xfrm>
              <a:off x="3127248" y="2926080"/>
              <a:ext cx="5742432" cy="2048256"/>
            </a:xfrm>
            <a:prstGeom prst="rect">
              <a:avLst/>
            </a:prstGeom>
            <a:solidFill>
              <a:srgbClr val="E2E8EF"/>
            </a:solidFill>
            <a:ln w="15240">
              <a:solidFill>
                <a:srgbClr val="8A9CB0"/>
              </a:solidFill>
              <a:prstDash val="dash"/>
            </a:ln>
          </p:spPr>
          <p:txBody>
            <a:bodyPr/>
            <a:lstStyle/>
            <a:p>
              <a:endParaRPr lang="en-US"/>
            </a:p>
          </p:txBody>
        </p:sp>
        <p:pic>
          <p:nvPicPr>
            <p:cNvPr id="34" name="Picture 33">
              <a:extLst>
                <a:ext uri="{FF2B5EF4-FFF2-40B4-BE49-F238E27FC236}">
                  <a16:creationId xmlns:a16="http://schemas.microsoft.com/office/drawing/2014/main" id="{60DEBEC0-56D2-CFDE-B29F-D91FA625A7A8}"/>
                </a:ext>
              </a:extLst>
            </p:cNvPr>
            <p:cNvPicPr>
              <a:picLocks noChangeAspect="1"/>
            </p:cNvPicPr>
            <p:nvPr/>
          </p:nvPicPr>
          <p:blipFill>
            <a:blip r:embed="rId4"/>
            <a:stretch>
              <a:fillRect/>
            </a:stretch>
          </p:blipFill>
          <p:spPr>
            <a:xfrm>
              <a:off x="3201651" y="2993292"/>
              <a:ext cx="5594877" cy="1907892"/>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CLUSTERING &amp; CELL TYPE ANNOTATION  </a:t>
            </a:r>
            <a:endParaRPr lang="en-US" sz="1700" dirty="0"/>
          </a:p>
        </p:txBody>
      </p:sp>
      <p:sp>
        <p:nvSpPr>
          <p:cNvPr id="5" name="Text 3"/>
          <p:cNvSpPr/>
          <p:nvPr/>
        </p:nvSpPr>
        <p:spPr>
          <a:xfrm>
            <a:off x="274320" y="1691640"/>
            <a:ext cx="4206240"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UMAP coloured by 11 Leiden clusters</a:t>
            </a:r>
            <a:endParaRPr lang="en-US" sz="950" dirty="0"/>
          </a:p>
        </p:txBody>
      </p:sp>
      <p:sp>
        <p:nvSpPr>
          <p:cNvPr id="6" name="Text 4"/>
          <p:cNvSpPr/>
          <p:nvPr/>
        </p:nvSpPr>
        <p:spPr>
          <a:xfrm>
            <a:off x="274320" y="1965960"/>
            <a:ext cx="4206240"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figures/clustering/07_umap_annotated_pub.png  [All 11 clusters labelled]</a:t>
            </a:r>
            <a:endParaRPr lang="en-US" sz="800" dirty="0"/>
          </a:p>
        </p:txBody>
      </p:sp>
      <p:sp>
        <p:nvSpPr>
          <p:cNvPr id="8" name="Text 6"/>
          <p:cNvSpPr/>
          <p:nvPr/>
        </p:nvSpPr>
        <p:spPr>
          <a:xfrm>
            <a:off x="4663440" y="1691640"/>
            <a:ext cx="4206240"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Annotated Spatial Map on H&amp;E tissue</a:t>
            </a:r>
            <a:endParaRPr lang="en-US" sz="950" dirty="0"/>
          </a:p>
        </p:txBody>
      </p:sp>
      <p:sp>
        <p:nvSpPr>
          <p:cNvPr id="9" name="Text 7"/>
          <p:cNvSpPr/>
          <p:nvPr/>
        </p:nvSpPr>
        <p:spPr>
          <a:xfrm>
            <a:off x="4663440" y="1965960"/>
            <a:ext cx="4206240"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figures/spatial/08_spatial_annotated_pub.png  [Same colours as UMAP — shows spatial organisation]</a:t>
            </a:r>
            <a:endParaRPr lang="en-US" sz="800" dirty="0"/>
          </a:p>
        </p:txBody>
      </p:sp>
      <p:sp>
        <p:nvSpPr>
          <p:cNvPr id="10" name="Shape 8"/>
          <p:cNvSpPr/>
          <p:nvPr/>
        </p:nvSpPr>
        <p:spPr>
          <a:xfrm>
            <a:off x="274320" y="3291840"/>
            <a:ext cx="4206240" cy="274320"/>
          </a:xfrm>
          <a:prstGeom prst="rect">
            <a:avLst/>
          </a:prstGeom>
          <a:solidFill>
            <a:srgbClr val="F7F9FC"/>
          </a:solidFill>
          <a:ln w="3810">
            <a:solidFill>
              <a:srgbClr val="E2E8EF"/>
            </a:solidFill>
            <a:prstDash val="solid"/>
          </a:ln>
        </p:spPr>
        <p:txBody>
          <a:bodyPr/>
          <a:lstStyle/>
          <a:p>
            <a:endParaRPr lang="en-US"/>
          </a:p>
        </p:txBody>
      </p:sp>
      <p:sp>
        <p:nvSpPr>
          <p:cNvPr id="11" name="Shape 9"/>
          <p:cNvSpPr/>
          <p:nvPr/>
        </p:nvSpPr>
        <p:spPr>
          <a:xfrm>
            <a:off x="274320" y="3291840"/>
            <a:ext cx="36576" cy="274320"/>
          </a:xfrm>
          <a:prstGeom prst="rect">
            <a:avLst/>
          </a:prstGeom>
          <a:solidFill>
            <a:srgbClr val="0B6E63"/>
          </a:solidFill>
          <a:ln w="12700">
            <a:solidFill>
              <a:srgbClr val="0B6E63"/>
            </a:solidFill>
            <a:prstDash val="solid"/>
          </a:ln>
        </p:spPr>
        <p:txBody>
          <a:bodyPr/>
          <a:lstStyle/>
          <a:p>
            <a:endParaRPr lang="en-US"/>
          </a:p>
        </p:txBody>
      </p:sp>
      <p:sp>
        <p:nvSpPr>
          <p:cNvPr id="12" name="Text 10"/>
          <p:cNvSpPr/>
          <p:nvPr/>
        </p:nvSpPr>
        <p:spPr>
          <a:xfrm>
            <a:off x="347472" y="3319272"/>
            <a:ext cx="384048" cy="219456"/>
          </a:xfrm>
          <a:prstGeom prst="rect">
            <a:avLst/>
          </a:prstGeom>
          <a:noFill/>
          <a:ln/>
        </p:spPr>
        <p:txBody>
          <a:bodyPr wrap="square" rtlCol="0" anchor="ctr"/>
          <a:lstStyle/>
          <a:p>
            <a:pPr marL="0" indent="0">
              <a:buNone/>
            </a:pPr>
            <a:r>
              <a:rPr lang="en-US" sz="800" b="1" dirty="0">
                <a:solidFill>
                  <a:srgbClr val="0B6E63"/>
                </a:solidFill>
                <a:latin typeface="Calibri" pitchFamily="34" charset="0"/>
                <a:ea typeface="Calibri" pitchFamily="34" charset="-122"/>
                <a:cs typeface="Calibri" pitchFamily="34" charset="-120"/>
              </a:rPr>
              <a:t>C0</a:t>
            </a:r>
            <a:endParaRPr lang="en-US" sz="800" dirty="0"/>
          </a:p>
        </p:txBody>
      </p:sp>
      <p:sp>
        <p:nvSpPr>
          <p:cNvPr id="13" name="Text 11"/>
          <p:cNvSpPr/>
          <p:nvPr/>
        </p:nvSpPr>
        <p:spPr>
          <a:xfrm>
            <a:off x="749808" y="3319272"/>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Plasma Cells / TLS (IGLC2+)</a:t>
            </a:r>
            <a:endParaRPr lang="en-US" sz="800" dirty="0"/>
          </a:p>
        </p:txBody>
      </p:sp>
      <p:sp>
        <p:nvSpPr>
          <p:cNvPr id="14" name="Text 12"/>
          <p:cNvSpPr/>
          <p:nvPr/>
        </p:nvSpPr>
        <p:spPr>
          <a:xfrm>
            <a:off x="3986784" y="3319272"/>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910</a:t>
            </a:r>
            <a:endParaRPr lang="en-US" sz="800" dirty="0"/>
          </a:p>
        </p:txBody>
      </p:sp>
      <p:sp>
        <p:nvSpPr>
          <p:cNvPr id="15" name="Shape 13"/>
          <p:cNvSpPr/>
          <p:nvPr/>
        </p:nvSpPr>
        <p:spPr>
          <a:xfrm>
            <a:off x="274320" y="3593592"/>
            <a:ext cx="4206240" cy="274320"/>
          </a:xfrm>
          <a:prstGeom prst="rect">
            <a:avLst/>
          </a:prstGeom>
          <a:solidFill>
            <a:srgbClr val="FFFFFF"/>
          </a:solidFill>
          <a:ln w="3810">
            <a:solidFill>
              <a:srgbClr val="E2E8EF"/>
            </a:solidFill>
            <a:prstDash val="solid"/>
          </a:ln>
        </p:spPr>
        <p:txBody>
          <a:bodyPr/>
          <a:lstStyle/>
          <a:p>
            <a:endParaRPr lang="en-US"/>
          </a:p>
        </p:txBody>
      </p:sp>
      <p:sp>
        <p:nvSpPr>
          <p:cNvPr id="16" name="Shape 14"/>
          <p:cNvSpPr/>
          <p:nvPr/>
        </p:nvSpPr>
        <p:spPr>
          <a:xfrm>
            <a:off x="274320" y="3593592"/>
            <a:ext cx="36576" cy="274320"/>
          </a:xfrm>
          <a:prstGeom prst="rect">
            <a:avLst/>
          </a:prstGeom>
          <a:solidFill>
            <a:srgbClr val="A63010"/>
          </a:solidFill>
          <a:ln w="12700">
            <a:solidFill>
              <a:srgbClr val="A63010"/>
            </a:solidFill>
            <a:prstDash val="solid"/>
          </a:ln>
        </p:spPr>
        <p:txBody>
          <a:bodyPr/>
          <a:lstStyle/>
          <a:p>
            <a:endParaRPr lang="en-US"/>
          </a:p>
        </p:txBody>
      </p:sp>
      <p:sp>
        <p:nvSpPr>
          <p:cNvPr id="17" name="Text 15"/>
          <p:cNvSpPr/>
          <p:nvPr/>
        </p:nvSpPr>
        <p:spPr>
          <a:xfrm>
            <a:off x="347472" y="3621024"/>
            <a:ext cx="384048" cy="219456"/>
          </a:xfrm>
          <a:prstGeom prst="rect">
            <a:avLst/>
          </a:prstGeom>
          <a:noFill/>
          <a:ln/>
        </p:spPr>
        <p:txBody>
          <a:bodyPr wrap="square" rtlCol="0" anchor="ctr"/>
          <a:lstStyle/>
          <a:p>
            <a:pPr marL="0" indent="0">
              <a:buNone/>
            </a:pPr>
            <a:r>
              <a:rPr lang="en-US" sz="800" b="1" dirty="0">
                <a:solidFill>
                  <a:srgbClr val="A63010"/>
                </a:solidFill>
                <a:latin typeface="Calibri" pitchFamily="34" charset="0"/>
                <a:ea typeface="Calibri" pitchFamily="34" charset="-122"/>
                <a:cs typeface="Calibri" pitchFamily="34" charset="-120"/>
              </a:rPr>
              <a:t>C1</a:t>
            </a:r>
            <a:endParaRPr lang="en-US" sz="800" dirty="0"/>
          </a:p>
        </p:txBody>
      </p:sp>
      <p:sp>
        <p:nvSpPr>
          <p:cNvPr id="18" name="Text 16"/>
          <p:cNvSpPr/>
          <p:nvPr/>
        </p:nvSpPr>
        <p:spPr>
          <a:xfrm>
            <a:off x="749808" y="3621024"/>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Proliferating Luminal Tumour (CCND1+)</a:t>
            </a:r>
            <a:endParaRPr lang="en-US" sz="800" dirty="0"/>
          </a:p>
        </p:txBody>
      </p:sp>
      <p:sp>
        <p:nvSpPr>
          <p:cNvPr id="19" name="Text 17"/>
          <p:cNvSpPr/>
          <p:nvPr/>
        </p:nvSpPr>
        <p:spPr>
          <a:xfrm>
            <a:off x="3986784" y="3621024"/>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899</a:t>
            </a:r>
            <a:endParaRPr lang="en-US" sz="800" dirty="0"/>
          </a:p>
        </p:txBody>
      </p:sp>
      <p:sp>
        <p:nvSpPr>
          <p:cNvPr id="20" name="Shape 18"/>
          <p:cNvSpPr/>
          <p:nvPr/>
        </p:nvSpPr>
        <p:spPr>
          <a:xfrm>
            <a:off x="274320" y="3895344"/>
            <a:ext cx="4206240" cy="274320"/>
          </a:xfrm>
          <a:prstGeom prst="rect">
            <a:avLst/>
          </a:prstGeom>
          <a:solidFill>
            <a:srgbClr val="F7F9FC"/>
          </a:solidFill>
          <a:ln w="3810">
            <a:solidFill>
              <a:srgbClr val="E2E8EF"/>
            </a:solidFill>
            <a:prstDash val="solid"/>
          </a:ln>
        </p:spPr>
        <p:txBody>
          <a:bodyPr/>
          <a:lstStyle/>
          <a:p>
            <a:endParaRPr lang="en-US"/>
          </a:p>
        </p:txBody>
      </p:sp>
      <p:sp>
        <p:nvSpPr>
          <p:cNvPr id="21" name="Shape 19"/>
          <p:cNvSpPr/>
          <p:nvPr/>
        </p:nvSpPr>
        <p:spPr>
          <a:xfrm>
            <a:off x="274320" y="3895344"/>
            <a:ext cx="36576" cy="274320"/>
          </a:xfrm>
          <a:prstGeom prst="rect">
            <a:avLst/>
          </a:prstGeom>
          <a:solidFill>
            <a:srgbClr val="B8860B"/>
          </a:solidFill>
          <a:ln w="12700">
            <a:solidFill>
              <a:srgbClr val="B8860B"/>
            </a:solidFill>
            <a:prstDash val="solid"/>
          </a:ln>
        </p:spPr>
        <p:txBody>
          <a:bodyPr/>
          <a:lstStyle/>
          <a:p>
            <a:endParaRPr lang="en-US"/>
          </a:p>
        </p:txBody>
      </p:sp>
      <p:sp>
        <p:nvSpPr>
          <p:cNvPr id="22" name="Text 20"/>
          <p:cNvSpPr/>
          <p:nvPr/>
        </p:nvSpPr>
        <p:spPr>
          <a:xfrm>
            <a:off x="347472" y="3922776"/>
            <a:ext cx="384048" cy="219456"/>
          </a:xfrm>
          <a:prstGeom prst="rect">
            <a:avLst/>
          </a:prstGeom>
          <a:noFill/>
          <a:ln/>
        </p:spPr>
        <p:txBody>
          <a:bodyPr wrap="square" rtlCol="0" anchor="ctr"/>
          <a:lstStyle/>
          <a:p>
            <a:pPr marL="0" indent="0">
              <a:buNone/>
            </a:pPr>
            <a:r>
              <a:rPr lang="en-US" sz="800" b="1" dirty="0">
                <a:solidFill>
                  <a:srgbClr val="B8860B"/>
                </a:solidFill>
                <a:latin typeface="Calibri" pitchFamily="34" charset="0"/>
                <a:ea typeface="Calibri" pitchFamily="34" charset="-122"/>
                <a:cs typeface="Calibri" pitchFamily="34" charset="-120"/>
              </a:rPr>
              <a:t>C2</a:t>
            </a:r>
            <a:endParaRPr lang="en-US" sz="800" dirty="0"/>
          </a:p>
        </p:txBody>
      </p:sp>
      <p:sp>
        <p:nvSpPr>
          <p:cNvPr id="23" name="Text 21"/>
          <p:cNvSpPr/>
          <p:nvPr/>
        </p:nvSpPr>
        <p:spPr>
          <a:xfrm>
            <a:off x="749808" y="3922776"/>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CXCL14+ Tumour-Stroma (KRT8+)</a:t>
            </a:r>
            <a:endParaRPr lang="en-US" sz="800" dirty="0"/>
          </a:p>
        </p:txBody>
      </p:sp>
      <p:sp>
        <p:nvSpPr>
          <p:cNvPr id="24" name="Text 22"/>
          <p:cNvSpPr/>
          <p:nvPr/>
        </p:nvSpPr>
        <p:spPr>
          <a:xfrm>
            <a:off x="3986784" y="3922776"/>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590</a:t>
            </a:r>
            <a:endParaRPr lang="en-US" sz="800" dirty="0"/>
          </a:p>
        </p:txBody>
      </p:sp>
      <p:sp>
        <p:nvSpPr>
          <p:cNvPr id="25" name="Shape 23"/>
          <p:cNvSpPr/>
          <p:nvPr/>
        </p:nvSpPr>
        <p:spPr>
          <a:xfrm>
            <a:off x="274320" y="4197096"/>
            <a:ext cx="4206240" cy="274320"/>
          </a:xfrm>
          <a:prstGeom prst="rect">
            <a:avLst/>
          </a:prstGeom>
          <a:solidFill>
            <a:srgbClr val="FFFFFF"/>
          </a:solidFill>
          <a:ln w="3810">
            <a:solidFill>
              <a:srgbClr val="E2E8EF"/>
            </a:solidFill>
            <a:prstDash val="solid"/>
          </a:ln>
        </p:spPr>
        <p:txBody>
          <a:bodyPr/>
          <a:lstStyle/>
          <a:p>
            <a:endParaRPr lang="en-US"/>
          </a:p>
        </p:txBody>
      </p:sp>
      <p:sp>
        <p:nvSpPr>
          <p:cNvPr id="26" name="Shape 24"/>
          <p:cNvSpPr/>
          <p:nvPr/>
        </p:nvSpPr>
        <p:spPr>
          <a:xfrm>
            <a:off x="274320" y="4197096"/>
            <a:ext cx="36576" cy="274320"/>
          </a:xfrm>
          <a:prstGeom prst="rect">
            <a:avLst/>
          </a:prstGeom>
          <a:solidFill>
            <a:srgbClr val="A63010"/>
          </a:solidFill>
          <a:ln w="12700">
            <a:solidFill>
              <a:srgbClr val="A63010"/>
            </a:solidFill>
            <a:prstDash val="solid"/>
          </a:ln>
        </p:spPr>
        <p:txBody>
          <a:bodyPr/>
          <a:lstStyle/>
          <a:p>
            <a:endParaRPr lang="en-US"/>
          </a:p>
        </p:txBody>
      </p:sp>
      <p:sp>
        <p:nvSpPr>
          <p:cNvPr id="27" name="Text 25"/>
          <p:cNvSpPr/>
          <p:nvPr/>
        </p:nvSpPr>
        <p:spPr>
          <a:xfrm>
            <a:off x="347472" y="4224528"/>
            <a:ext cx="384048" cy="219456"/>
          </a:xfrm>
          <a:prstGeom prst="rect">
            <a:avLst/>
          </a:prstGeom>
          <a:noFill/>
          <a:ln/>
        </p:spPr>
        <p:txBody>
          <a:bodyPr wrap="square" rtlCol="0" anchor="ctr"/>
          <a:lstStyle/>
          <a:p>
            <a:pPr marL="0" indent="0">
              <a:buNone/>
            </a:pPr>
            <a:r>
              <a:rPr lang="en-US" sz="800" b="1" dirty="0">
                <a:solidFill>
                  <a:srgbClr val="A63010"/>
                </a:solidFill>
                <a:latin typeface="Calibri" pitchFamily="34" charset="0"/>
                <a:ea typeface="Calibri" pitchFamily="34" charset="-122"/>
                <a:cs typeface="Calibri" pitchFamily="34" charset="-120"/>
              </a:rPr>
              <a:t>C3</a:t>
            </a:r>
            <a:endParaRPr lang="en-US" sz="800" dirty="0"/>
          </a:p>
        </p:txBody>
      </p:sp>
      <p:sp>
        <p:nvSpPr>
          <p:cNvPr id="28" name="Text 26"/>
          <p:cNvSpPr/>
          <p:nvPr/>
        </p:nvSpPr>
        <p:spPr>
          <a:xfrm>
            <a:off x="749808" y="4224528"/>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Luminal Epithelium (SCGB2A2+)</a:t>
            </a:r>
            <a:endParaRPr lang="en-US" sz="800" dirty="0"/>
          </a:p>
        </p:txBody>
      </p:sp>
      <p:sp>
        <p:nvSpPr>
          <p:cNvPr id="29" name="Text 27"/>
          <p:cNvSpPr/>
          <p:nvPr/>
        </p:nvSpPr>
        <p:spPr>
          <a:xfrm>
            <a:off x="3986784" y="4224528"/>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500</a:t>
            </a:r>
            <a:endParaRPr lang="en-US" sz="800" dirty="0"/>
          </a:p>
        </p:txBody>
      </p:sp>
      <p:sp>
        <p:nvSpPr>
          <p:cNvPr id="30" name="Shape 28"/>
          <p:cNvSpPr/>
          <p:nvPr/>
        </p:nvSpPr>
        <p:spPr>
          <a:xfrm>
            <a:off x="274320" y="4498848"/>
            <a:ext cx="4206240" cy="274320"/>
          </a:xfrm>
          <a:prstGeom prst="rect">
            <a:avLst/>
          </a:prstGeom>
          <a:solidFill>
            <a:srgbClr val="F7F9FC"/>
          </a:solidFill>
          <a:ln w="3810">
            <a:solidFill>
              <a:srgbClr val="E2E8EF"/>
            </a:solidFill>
            <a:prstDash val="solid"/>
          </a:ln>
        </p:spPr>
        <p:txBody>
          <a:bodyPr/>
          <a:lstStyle/>
          <a:p>
            <a:endParaRPr lang="en-US"/>
          </a:p>
        </p:txBody>
      </p:sp>
      <p:sp>
        <p:nvSpPr>
          <p:cNvPr id="31" name="Shape 29"/>
          <p:cNvSpPr/>
          <p:nvPr/>
        </p:nvSpPr>
        <p:spPr>
          <a:xfrm>
            <a:off x="274320" y="4498848"/>
            <a:ext cx="36576" cy="274320"/>
          </a:xfrm>
          <a:prstGeom prst="rect">
            <a:avLst/>
          </a:prstGeom>
          <a:solidFill>
            <a:srgbClr val="1A2B45"/>
          </a:solidFill>
          <a:ln w="12700">
            <a:solidFill>
              <a:srgbClr val="1A2B45"/>
            </a:solidFill>
            <a:prstDash val="solid"/>
          </a:ln>
        </p:spPr>
        <p:txBody>
          <a:bodyPr/>
          <a:lstStyle/>
          <a:p>
            <a:endParaRPr lang="en-US"/>
          </a:p>
        </p:txBody>
      </p:sp>
      <p:sp>
        <p:nvSpPr>
          <p:cNvPr id="32" name="Text 30"/>
          <p:cNvSpPr/>
          <p:nvPr/>
        </p:nvSpPr>
        <p:spPr>
          <a:xfrm>
            <a:off x="347472" y="4526280"/>
            <a:ext cx="384048" cy="219456"/>
          </a:xfrm>
          <a:prstGeom prst="rect">
            <a:avLst/>
          </a:prstGeom>
          <a:noFill/>
          <a:ln/>
        </p:spPr>
        <p:txBody>
          <a:bodyPr wrap="square" rtlCol="0" anchor="ctr"/>
          <a:lstStyle/>
          <a:p>
            <a:pPr marL="0" indent="0">
              <a:buNone/>
            </a:pPr>
            <a:r>
              <a:rPr lang="en-US" sz="800" b="1" dirty="0">
                <a:solidFill>
                  <a:srgbClr val="1A2B45"/>
                </a:solidFill>
                <a:latin typeface="Calibri" pitchFamily="34" charset="0"/>
                <a:ea typeface="Calibri" pitchFamily="34" charset="-122"/>
                <a:cs typeface="Calibri" pitchFamily="34" charset="-120"/>
              </a:rPr>
              <a:t>C4</a:t>
            </a:r>
            <a:endParaRPr lang="en-US" sz="800" dirty="0"/>
          </a:p>
        </p:txBody>
      </p:sp>
      <p:sp>
        <p:nvSpPr>
          <p:cNvPr id="33" name="Text 31"/>
          <p:cNvSpPr/>
          <p:nvPr/>
        </p:nvSpPr>
        <p:spPr>
          <a:xfrm>
            <a:off x="749808" y="4526280"/>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Stromal Barrier (MGP+)</a:t>
            </a:r>
            <a:endParaRPr lang="en-US" sz="800" dirty="0"/>
          </a:p>
        </p:txBody>
      </p:sp>
      <p:sp>
        <p:nvSpPr>
          <p:cNvPr id="34" name="Text 32"/>
          <p:cNvSpPr/>
          <p:nvPr/>
        </p:nvSpPr>
        <p:spPr>
          <a:xfrm>
            <a:off x="3986784" y="4526280"/>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445</a:t>
            </a:r>
            <a:endParaRPr lang="en-US" sz="800" dirty="0"/>
          </a:p>
        </p:txBody>
      </p:sp>
      <p:sp>
        <p:nvSpPr>
          <p:cNvPr id="35" name="Shape 33"/>
          <p:cNvSpPr/>
          <p:nvPr/>
        </p:nvSpPr>
        <p:spPr>
          <a:xfrm>
            <a:off x="274320" y="4800600"/>
            <a:ext cx="4206240" cy="274320"/>
          </a:xfrm>
          <a:prstGeom prst="rect">
            <a:avLst/>
          </a:prstGeom>
          <a:solidFill>
            <a:srgbClr val="FFFFFF"/>
          </a:solidFill>
          <a:ln w="3810">
            <a:solidFill>
              <a:srgbClr val="E2E8EF"/>
            </a:solidFill>
            <a:prstDash val="solid"/>
          </a:ln>
        </p:spPr>
        <p:txBody>
          <a:bodyPr/>
          <a:lstStyle/>
          <a:p>
            <a:endParaRPr lang="en-US"/>
          </a:p>
        </p:txBody>
      </p:sp>
      <p:sp>
        <p:nvSpPr>
          <p:cNvPr id="36" name="Shape 34"/>
          <p:cNvSpPr/>
          <p:nvPr/>
        </p:nvSpPr>
        <p:spPr>
          <a:xfrm>
            <a:off x="274320" y="4800600"/>
            <a:ext cx="36576" cy="274320"/>
          </a:xfrm>
          <a:prstGeom prst="rect">
            <a:avLst/>
          </a:prstGeom>
          <a:solidFill>
            <a:srgbClr val="0B6E63"/>
          </a:solidFill>
          <a:ln w="12700">
            <a:solidFill>
              <a:srgbClr val="0B6E63"/>
            </a:solidFill>
            <a:prstDash val="solid"/>
          </a:ln>
        </p:spPr>
        <p:txBody>
          <a:bodyPr/>
          <a:lstStyle/>
          <a:p>
            <a:endParaRPr lang="en-US"/>
          </a:p>
        </p:txBody>
      </p:sp>
      <p:sp>
        <p:nvSpPr>
          <p:cNvPr id="37" name="Text 35"/>
          <p:cNvSpPr/>
          <p:nvPr/>
        </p:nvSpPr>
        <p:spPr>
          <a:xfrm>
            <a:off x="347472" y="4828032"/>
            <a:ext cx="384048" cy="219456"/>
          </a:xfrm>
          <a:prstGeom prst="rect">
            <a:avLst/>
          </a:prstGeom>
          <a:noFill/>
          <a:ln/>
        </p:spPr>
        <p:txBody>
          <a:bodyPr wrap="square" rtlCol="0" anchor="ctr"/>
          <a:lstStyle/>
          <a:p>
            <a:pPr marL="0" indent="0">
              <a:buNone/>
            </a:pPr>
            <a:r>
              <a:rPr lang="en-US" sz="800" b="1" dirty="0">
                <a:solidFill>
                  <a:srgbClr val="0B6E63"/>
                </a:solidFill>
                <a:latin typeface="Calibri" pitchFamily="34" charset="0"/>
                <a:ea typeface="Calibri" pitchFamily="34" charset="-122"/>
                <a:cs typeface="Calibri" pitchFamily="34" charset="-120"/>
              </a:rPr>
              <a:t>C5</a:t>
            </a:r>
            <a:endParaRPr lang="en-US" sz="800" dirty="0"/>
          </a:p>
        </p:txBody>
      </p:sp>
      <p:sp>
        <p:nvSpPr>
          <p:cNvPr id="38" name="Text 36"/>
          <p:cNvSpPr/>
          <p:nvPr/>
        </p:nvSpPr>
        <p:spPr>
          <a:xfrm>
            <a:off x="749808" y="4828032"/>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Interferon-activated Immune (IFI27+)</a:t>
            </a:r>
            <a:endParaRPr lang="en-US" sz="800" dirty="0"/>
          </a:p>
        </p:txBody>
      </p:sp>
      <p:sp>
        <p:nvSpPr>
          <p:cNvPr id="39" name="Text 37"/>
          <p:cNvSpPr/>
          <p:nvPr/>
        </p:nvSpPr>
        <p:spPr>
          <a:xfrm>
            <a:off x="3986784" y="4828032"/>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445</a:t>
            </a:r>
            <a:endParaRPr lang="en-US" sz="800" dirty="0"/>
          </a:p>
        </p:txBody>
      </p:sp>
      <p:sp>
        <p:nvSpPr>
          <p:cNvPr id="40" name="Shape 38"/>
          <p:cNvSpPr/>
          <p:nvPr/>
        </p:nvSpPr>
        <p:spPr>
          <a:xfrm>
            <a:off x="4663440" y="3291840"/>
            <a:ext cx="4206240" cy="274320"/>
          </a:xfrm>
          <a:prstGeom prst="rect">
            <a:avLst/>
          </a:prstGeom>
          <a:solidFill>
            <a:srgbClr val="F7F9FC"/>
          </a:solidFill>
          <a:ln w="3810">
            <a:solidFill>
              <a:srgbClr val="E2E8EF"/>
            </a:solidFill>
            <a:prstDash val="solid"/>
          </a:ln>
        </p:spPr>
        <p:txBody>
          <a:bodyPr/>
          <a:lstStyle/>
          <a:p>
            <a:endParaRPr lang="en-US"/>
          </a:p>
        </p:txBody>
      </p:sp>
      <p:sp>
        <p:nvSpPr>
          <p:cNvPr id="41" name="Shape 39"/>
          <p:cNvSpPr/>
          <p:nvPr/>
        </p:nvSpPr>
        <p:spPr>
          <a:xfrm>
            <a:off x="4663440" y="3291840"/>
            <a:ext cx="36576" cy="274320"/>
          </a:xfrm>
          <a:prstGeom prst="rect">
            <a:avLst/>
          </a:prstGeom>
          <a:solidFill>
            <a:srgbClr val="A63010"/>
          </a:solidFill>
          <a:ln w="12700">
            <a:solidFill>
              <a:srgbClr val="A63010"/>
            </a:solidFill>
            <a:prstDash val="solid"/>
          </a:ln>
        </p:spPr>
        <p:txBody>
          <a:bodyPr/>
          <a:lstStyle/>
          <a:p>
            <a:endParaRPr lang="en-US"/>
          </a:p>
        </p:txBody>
      </p:sp>
      <p:sp>
        <p:nvSpPr>
          <p:cNvPr id="42" name="Text 40"/>
          <p:cNvSpPr/>
          <p:nvPr/>
        </p:nvSpPr>
        <p:spPr>
          <a:xfrm>
            <a:off x="4736592" y="3319272"/>
            <a:ext cx="384048" cy="219456"/>
          </a:xfrm>
          <a:prstGeom prst="rect">
            <a:avLst/>
          </a:prstGeom>
          <a:noFill/>
          <a:ln/>
        </p:spPr>
        <p:txBody>
          <a:bodyPr wrap="square" rtlCol="0" anchor="ctr"/>
          <a:lstStyle/>
          <a:p>
            <a:pPr marL="0" indent="0">
              <a:buNone/>
            </a:pPr>
            <a:r>
              <a:rPr lang="en-US" sz="800" b="1" dirty="0">
                <a:solidFill>
                  <a:srgbClr val="A63010"/>
                </a:solidFill>
                <a:latin typeface="Calibri" pitchFamily="34" charset="0"/>
                <a:ea typeface="Calibri" pitchFamily="34" charset="-122"/>
                <a:cs typeface="Calibri" pitchFamily="34" charset="-120"/>
              </a:rPr>
              <a:t>C6</a:t>
            </a:r>
            <a:endParaRPr lang="en-US" sz="800" dirty="0"/>
          </a:p>
        </p:txBody>
      </p:sp>
      <p:sp>
        <p:nvSpPr>
          <p:cNvPr id="43" name="Text 41"/>
          <p:cNvSpPr/>
          <p:nvPr/>
        </p:nvSpPr>
        <p:spPr>
          <a:xfrm>
            <a:off x="5138928" y="3319272"/>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ER+ Invasive Carcinoma (GATA3+)</a:t>
            </a:r>
            <a:endParaRPr lang="en-US" sz="800" dirty="0"/>
          </a:p>
        </p:txBody>
      </p:sp>
      <p:sp>
        <p:nvSpPr>
          <p:cNvPr id="44" name="Text 42"/>
          <p:cNvSpPr/>
          <p:nvPr/>
        </p:nvSpPr>
        <p:spPr>
          <a:xfrm>
            <a:off x="8375904" y="3319272"/>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401</a:t>
            </a:r>
            <a:endParaRPr lang="en-US" sz="800" dirty="0"/>
          </a:p>
        </p:txBody>
      </p:sp>
      <p:sp>
        <p:nvSpPr>
          <p:cNvPr id="45" name="Shape 43"/>
          <p:cNvSpPr/>
          <p:nvPr/>
        </p:nvSpPr>
        <p:spPr>
          <a:xfrm>
            <a:off x="4663440" y="3593592"/>
            <a:ext cx="4206240" cy="274320"/>
          </a:xfrm>
          <a:prstGeom prst="rect">
            <a:avLst/>
          </a:prstGeom>
          <a:solidFill>
            <a:srgbClr val="FFFFFF"/>
          </a:solidFill>
          <a:ln w="3810">
            <a:solidFill>
              <a:srgbClr val="E2E8EF"/>
            </a:solidFill>
            <a:prstDash val="solid"/>
          </a:ln>
        </p:spPr>
        <p:txBody>
          <a:bodyPr/>
          <a:lstStyle/>
          <a:p>
            <a:endParaRPr lang="en-US"/>
          </a:p>
        </p:txBody>
      </p:sp>
      <p:sp>
        <p:nvSpPr>
          <p:cNvPr id="46" name="Shape 44"/>
          <p:cNvSpPr/>
          <p:nvPr/>
        </p:nvSpPr>
        <p:spPr>
          <a:xfrm>
            <a:off x="4663440" y="3593592"/>
            <a:ext cx="36576" cy="274320"/>
          </a:xfrm>
          <a:prstGeom prst="rect">
            <a:avLst/>
          </a:prstGeom>
          <a:solidFill>
            <a:srgbClr val="0B6E63"/>
          </a:solidFill>
          <a:ln w="12700">
            <a:solidFill>
              <a:srgbClr val="0B6E63"/>
            </a:solidFill>
            <a:prstDash val="solid"/>
          </a:ln>
        </p:spPr>
        <p:txBody>
          <a:bodyPr/>
          <a:lstStyle/>
          <a:p>
            <a:endParaRPr lang="en-US"/>
          </a:p>
        </p:txBody>
      </p:sp>
      <p:sp>
        <p:nvSpPr>
          <p:cNvPr id="47" name="Text 45"/>
          <p:cNvSpPr/>
          <p:nvPr/>
        </p:nvSpPr>
        <p:spPr>
          <a:xfrm>
            <a:off x="4736592" y="3621024"/>
            <a:ext cx="384048" cy="219456"/>
          </a:xfrm>
          <a:prstGeom prst="rect">
            <a:avLst/>
          </a:prstGeom>
          <a:noFill/>
          <a:ln/>
        </p:spPr>
        <p:txBody>
          <a:bodyPr wrap="square" rtlCol="0" anchor="ctr"/>
          <a:lstStyle/>
          <a:p>
            <a:pPr marL="0" indent="0">
              <a:buNone/>
            </a:pPr>
            <a:r>
              <a:rPr lang="en-US" sz="800" b="1" dirty="0">
                <a:solidFill>
                  <a:srgbClr val="0B6E63"/>
                </a:solidFill>
                <a:latin typeface="Calibri" pitchFamily="34" charset="0"/>
                <a:ea typeface="Calibri" pitchFamily="34" charset="-122"/>
                <a:cs typeface="Calibri" pitchFamily="34" charset="-120"/>
              </a:rPr>
              <a:t>C7</a:t>
            </a:r>
            <a:endParaRPr lang="en-US" sz="800" dirty="0"/>
          </a:p>
        </p:txBody>
      </p:sp>
      <p:sp>
        <p:nvSpPr>
          <p:cNvPr id="48" name="Text 46"/>
          <p:cNvSpPr/>
          <p:nvPr/>
        </p:nvSpPr>
        <p:spPr>
          <a:xfrm>
            <a:off x="5138928" y="3621024"/>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Macrophages / APC (CD74+)</a:t>
            </a:r>
            <a:endParaRPr lang="en-US" sz="800" dirty="0"/>
          </a:p>
        </p:txBody>
      </p:sp>
      <p:sp>
        <p:nvSpPr>
          <p:cNvPr id="49" name="Text 47"/>
          <p:cNvSpPr/>
          <p:nvPr/>
        </p:nvSpPr>
        <p:spPr>
          <a:xfrm>
            <a:off x="8375904" y="3621024"/>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372</a:t>
            </a:r>
            <a:endParaRPr lang="en-US" sz="800" dirty="0"/>
          </a:p>
        </p:txBody>
      </p:sp>
      <p:sp>
        <p:nvSpPr>
          <p:cNvPr id="50" name="Shape 48"/>
          <p:cNvSpPr/>
          <p:nvPr/>
        </p:nvSpPr>
        <p:spPr>
          <a:xfrm>
            <a:off x="4663440" y="3895344"/>
            <a:ext cx="4206240" cy="274320"/>
          </a:xfrm>
          <a:prstGeom prst="rect">
            <a:avLst/>
          </a:prstGeom>
          <a:solidFill>
            <a:srgbClr val="F7F9FC"/>
          </a:solidFill>
          <a:ln w="3810">
            <a:solidFill>
              <a:srgbClr val="E2E8EF"/>
            </a:solidFill>
            <a:prstDash val="solid"/>
          </a:ln>
        </p:spPr>
        <p:txBody>
          <a:bodyPr/>
          <a:lstStyle/>
          <a:p>
            <a:endParaRPr lang="en-US"/>
          </a:p>
        </p:txBody>
      </p:sp>
      <p:sp>
        <p:nvSpPr>
          <p:cNvPr id="51" name="Shape 49"/>
          <p:cNvSpPr/>
          <p:nvPr/>
        </p:nvSpPr>
        <p:spPr>
          <a:xfrm>
            <a:off x="4663440" y="3895344"/>
            <a:ext cx="36576" cy="274320"/>
          </a:xfrm>
          <a:prstGeom prst="rect">
            <a:avLst/>
          </a:prstGeom>
          <a:solidFill>
            <a:srgbClr val="1A2B45"/>
          </a:solidFill>
          <a:ln w="12700">
            <a:solidFill>
              <a:srgbClr val="1A2B45"/>
            </a:solidFill>
            <a:prstDash val="solid"/>
          </a:ln>
        </p:spPr>
        <p:txBody>
          <a:bodyPr/>
          <a:lstStyle/>
          <a:p>
            <a:endParaRPr lang="en-US"/>
          </a:p>
        </p:txBody>
      </p:sp>
      <p:sp>
        <p:nvSpPr>
          <p:cNvPr id="52" name="Text 50"/>
          <p:cNvSpPr/>
          <p:nvPr/>
        </p:nvSpPr>
        <p:spPr>
          <a:xfrm>
            <a:off x="4736592" y="3922776"/>
            <a:ext cx="384048" cy="219456"/>
          </a:xfrm>
          <a:prstGeom prst="rect">
            <a:avLst/>
          </a:prstGeom>
          <a:noFill/>
          <a:ln/>
        </p:spPr>
        <p:txBody>
          <a:bodyPr wrap="square" rtlCol="0" anchor="ctr"/>
          <a:lstStyle/>
          <a:p>
            <a:pPr marL="0" indent="0">
              <a:buNone/>
            </a:pPr>
            <a:r>
              <a:rPr lang="en-US" sz="800" b="1" dirty="0">
                <a:solidFill>
                  <a:srgbClr val="1A2B45"/>
                </a:solidFill>
                <a:latin typeface="Calibri" pitchFamily="34" charset="0"/>
                <a:ea typeface="Calibri" pitchFamily="34" charset="-122"/>
                <a:cs typeface="Calibri" pitchFamily="34" charset="-120"/>
              </a:rPr>
              <a:t>C8</a:t>
            </a:r>
            <a:endParaRPr lang="en-US" sz="800" dirty="0"/>
          </a:p>
        </p:txBody>
      </p:sp>
      <p:sp>
        <p:nvSpPr>
          <p:cNvPr id="53" name="Text 51"/>
          <p:cNvSpPr/>
          <p:nvPr/>
        </p:nvSpPr>
        <p:spPr>
          <a:xfrm>
            <a:off x="5138928" y="3922776"/>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Metabolically Active Stroma (MT-CYB+)</a:t>
            </a:r>
            <a:endParaRPr lang="en-US" sz="800" dirty="0"/>
          </a:p>
        </p:txBody>
      </p:sp>
      <p:sp>
        <p:nvSpPr>
          <p:cNvPr id="54" name="Text 52"/>
          <p:cNvSpPr/>
          <p:nvPr/>
        </p:nvSpPr>
        <p:spPr>
          <a:xfrm>
            <a:off x="8375904" y="3922776"/>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157</a:t>
            </a:r>
            <a:endParaRPr lang="en-US" sz="800" dirty="0"/>
          </a:p>
        </p:txBody>
      </p:sp>
      <p:sp>
        <p:nvSpPr>
          <p:cNvPr id="55" name="Shape 53"/>
          <p:cNvSpPr/>
          <p:nvPr/>
        </p:nvSpPr>
        <p:spPr>
          <a:xfrm>
            <a:off x="4663440" y="4197096"/>
            <a:ext cx="4206240" cy="274320"/>
          </a:xfrm>
          <a:prstGeom prst="rect">
            <a:avLst/>
          </a:prstGeom>
          <a:solidFill>
            <a:srgbClr val="FFFFFF"/>
          </a:solidFill>
          <a:ln w="3810">
            <a:solidFill>
              <a:srgbClr val="E2E8EF"/>
            </a:solidFill>
            <a:prstDash val="solid"/>
          </a:ln>
        </p:spPr>
        <p:txBody>
          <a:bodyPr/>
          <a:lstStyle/>
          <a:p>
            <a:endParaRPr lang="en-US"/>
          </a:p>
        </p:txBody>
      </p:sp>
      <p:sp>
        <p:nvSpPr>
          <p:cNvPr id="56" name="Shape 54"/>
          <p:cNvSpPr/>
          <p:nvPr/>
        </p:nvSpPr>
        <p:spPr>
          <a:xfrm>
            <a:off x="4663440" y="4197096"/>
            <a:ext cx="36576" cy="274320"/>
          </a:xfrm>
          <a:prstGeom prst="rect">
            <a:avLst/>
          </a:prstGeom>
          <a:solidFill>
            <a:srgbClr val="8A9CB0"/>
          </a:solidFill>
          <a:ln w="12700">
            <a:solidFill>
              <a:srgbClr val="8A9CB0"/>
            </a:solidFill>
            <a:prstDash val="solid"/>
          </a:ln>
        </p:spPr>
        <p:txBody>
          <a:bodyPr/>
          <a:lstStyle/>
          <a:p>
            <a:endParaRPr lang="en-US"/>
          </a:p>
        </p:txBody>
      </p:sp>
      <p:sp>
        <p:nvSpPr>
          <p:cNvPr id="57" name="Text 55"/>
          <p:cNvSpPr/>
          <p:nvPr/>
        </p:nvSpPr>
        <p:spPr>
          <a:xfrm>
            <a:off x="4736592" y="4224528"/>
            <a:ext cx="384048" cy="219456"/>
          </a:xfrm>
          <a:prstGeom prst="rect">
            <a:avLst/>
          </a:prstGeom>
          <a:noFill/>
          <a:ln/>
        </p:spPr>
        <p:txBody>
          <a:bodyPr wrap="square" rtlCol="0" anchor="ctr"/>
          <a:lstStyle/>
          <a:p>
            <a:pPr marL="0" indent="0">
              <a:buNone/>
            </a:pPr>
            <a:r>
              <a:rPr lang="en-US" sz="800" b="1" dirty="0">
                <a:solidFill>
                  <a:srgbClr val="8A9CB0"/>
                </a:solidFill>
                <a:latin typeface="Calibri" pitchFamily="34" charset="0"/>
                <a:ea typeface="Calibri" pitchFamily="34" charset="-122"/>
                <a:cs typeface="Calibri" pitchFamily="34" charset="-120"/>
              </a:rPr>
              <a:t>C9</a:t>
            </a:r>
            <a:endParaRPr lang="en-US" sz="800" dirty="0"/>
          </a:p>
        </p:txBody>
      </p:sp>
      <p:sp>
        <p:nvSpPr>
          <p:cNvPr id="58" name="Text 56"/>
          <p:cNvSpPr/>
          <p:nvPr/>
        </p:nvSpPr>
        <p:spPr>
          <a:xfrm>
            <a:off x="5138928" y="4224528"/>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Secretory Epithelium (CRISP3+)</a:t>
            </a:r>
            <a:endParaRPr lang="en-US" sz="800" dirty="0"/>
          </a:p>
        </p:txBody>
      </p:sp>
      <p:sp>
        <p:nvSpPr>
          <p:cNvPr id="59" name="Text 57"/>
          <p:cNvSpPr/>
          <p:nvPr/>
        </p:nvSpPr>
        <p:spPr>
          <a:xfrm>
            <a:off x="8375904" y="4224528"/>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77</a:t>
            </a:r>
            <a:endParaRPr lang="en-US" sz="800" dirty="0"/>
          </a:p>
        </p:txBody>
      </p:sp>
      <p:sp>
        <p:nvSpPr>
          <p:cNvPr id="60" name="Shape 58"/>
          <p:cNvSpPr/>
          <p:nvPr/>
        </p:nvSpPr>
        <p:spPr>
          <a:xfrm>
            <a:off x="4663440" y="4498848"/>
            <a:ext cx="4206240" cy="274320"/>
          </a:xfrm>
          <a:prstGeom prst="rect">
            <a:avLst/>
          </a:prstGeom>
          <a:solidFill>
            <a:srgbClr val="F7F9FC"/>
          </a:solidFill>
          <a:ln w="3810">
            <a:solidFill>
              <a:srgbClr val="E2E8EF"/>
            </a:solidFill>
            <a:prstDash val="solid"/>
          </a:ln>
        </p:spPr>
        <p:txBody>
          <a:bodyPr/>
          <a:lstStyle/>
          <a:p>
            <a:endParaRPr lang="en-US"/>
          </a:p>
        </p:txBody>
      </p:sp>
      <p:sp>
        <p:nvSpPr>
          <p:cNvPr id="61" name="Shape 59"/>
          <p:cNvSpPr/>
          <p:nvPr/>
        </p:nvSpPr>
        <p:spPr>
          <a:xfrm>
            <a:off x="4663440" y="4498848"/>
            <a:ext cx="36576" cy="274320"/>
          </a:xfrm>
          <a:prstGeom prst="rect">
            <a:avLst/>
          </a:prstGeom>
          <a:solidFill>
            <a:srgbClr val="8A9CB0"/>
          </a:solidFill>
          <a:ln w="12700">
            <a:solidFill>
              <a:srgbClr val="8A9CB0"/>
            </a:solidFill>
            <a:prstDash val="solid"/>
          </a:ln>
        </p:spPr>
        <p:txBody>
          <a:bodyPr/>
          <a:lstStyle/>
          <a:p>
            <a:endParaRPr lang="en-US"/>
          </a:p>
        </p:txBody>
      </p:sp>
      <p:sp>
        <p:nvSpPr>
          <p:cNvPr id="62" name="Text 60"/>
          <p:cNvSpPr/>
          <p:nvPr/>
        </p:nvSpPr>
        <p:spPr>
          <a:xfrm>
            <a:off x="4736592" y="4526280"/>
            <a:ext cx="384048" cy="219456"/>
          </a:xfrm>
          <a:prstGeom prst="rect">
            <a:avLst/>
          </a:prstGeom>
          <a:noFill/>
          <a:ln/>
        </p:spPr>
        <p:txBody>
          <a:bodyPr wrap="square" rtlCol="0" anchor="ctr"/>
          <a:lstStyle/>
          <a:p>
            <a:pPr marL="0" indent="0">
              <a:buNone/>
            </a:pPr>
            <a:r>
              <a:rPr lang="en-US" sz="800" b="1" dirty="0">
                <a:solidFill>
                  <a:srgbClr val="8A9CB0"/>
                </a:solidFill>
                <a:latin typeface="Calibri" pitchFamily="34" charset="0"/>
                <a:ea typeface="Calibri" pitchFamily="34" charset="-122"/>
                <a:cs typeface="Calibri" pitchFamily="34" charset="-120"/>
              </a:rPr>
              <a:t>C10</a:t>
            </a:r>
            <a:endParaRPr lang="en-US" sz="800" dirty="0"/>
          </a:p>
        </p:txBody>
      </p:sp>
      <p:sp>
        <p:nvSpPr>
          <p:cNvPr id="63" name="Text 61"/>
          <p:cNvSpPr/>
          <p:nvPr/>
        </p:nvSpPr>
        <p:spPr>
          <a:xfrm>
            <a:off x="5138928" y="4526280"/>
            <a:ext cx="3200400" cy="219456"/>
          </a:xfrm>
          <a:prstGeom prst="rect">
            <a:avLst/>
          </a:prstGeom>
          <a:noFill/>
          <a:ln/>
        </p:spPr>
        <p:txBody>
          <a:bodyPr wrap="square" rtlCol="0" anchor="ctr"/>
          <a:lstStyle/>
          <a:p>
            <a:pPr marL="0" indent="0">
              <a:buNone/>
            </a:pPr>
            <a:r>
              <a:rPr lang="en-US" sz="800" dirty="0">
                <a:solidFill>
                  <a:srgbClr val="3A4F65"/>
                </a:solidFill>
                <a:latin typeface="Calibri" pitchFamily="34" charset="0"/>
                <a:ea typeface="Calibri" pitchFamily="34" charset="-122"/>
                <a:cs typeface="Calibri" pitchFamily="34" charset="-120"/>
              </a:rPr>
              <a:t>Adipose Tissue (FABP4+)</a:t>
            </a:r>
            <a:endParaRPr lang="en-US" sz="800" dirty="0"/>
          </a:p>
        </p:txBody>
      </p:sp>
      <p:sp>
        <p:nvSpPr>
          <p:cNvPr id="64" name="Text 62"/>
          <p:cNvSpPr/>
          <p:nvPr/>
        </p:nvSpPr>
        <p:spPr>
          <a:xfrm>
            <a:off x="8375904" y="4526280"/>
            <a:ext cx="457200" cy="219456"/>
          </a:xfrm>
          <a:prstGeom prst="rect">
            <a:avLst/>
          </a:prstGeom>
          <a:noFill/>
          <a:ln/>
        </p:spPr>
        <p:txBody>
          <a:bodyPr wrap="square" rtlCol="0" anchor="ctr"/>
          <a:lstStyle/>
          <a:p>
            <a:pPr marL="0" indent="0" algn="r">
              <a:buNone/>
            </a:pPr>
            <a:r>
              <a:rPr lang="en-US" sz="800" dirty="0">
                <a:solidFill>
                  <a:srgbClr val="8A9CB0"/>
                </a:solidFill>
                <a:latin typeface="Calibri" pitchFamily="34" charset="0"/>
                <a:ea typeface="Calibri" pitchFamily="34" charset="-122"/>
                <a:cs typeface="Calibri" pitchFamily="34" charset="-120"/>
              </a:rPr>
              <a:t>73</a:t>
            </a:r>
            <a:endParaRPr lang="en-US" sz="800" dirty="0"/>
          </a:p>
        </p:txBody>
      </p:sp>
      <p:grpSp>
        <p:nvGrpSpPr>
          <p:cNvPr id="77" name="Group 76">
            <a:extLst>
              <a:ext uri="{FF2B5EF4-FFF2-40B4-BE49-F238E27FC236}">
                <a16:creationId xmlns:a16="http://schemas.microsoft.com/office/drawing/2014/main" id="{3EAAB8A9-D597-4626-3188-F093F434BEB0}"/>
              </a:ext>
            </a:extLst>
          </p:cNvPr>
          <p:cNvGrpSpPr/>
          <p:nvPr/>
        </p:nvGrpSpPr>
        <p:grpSpPr>
          <a:xfrm>
            <a:off x="274320" y="749808"/>
            <a:ext cx="4206240" cy="2395728"/>
            <a:chOff x="274320" y="749808"/>
            <a:chExt cx="4206240" cy="2395728"/>
          </a:xfrm>
        </p:grpSpPr>
        <p:sp>
          <p:nvSpPr>
            <p:cNvPr id="4" name="Shape 2"/>
            <p:cNvSpPr/>
            <p:nvPr/>
          </p:nvSpPr>
          <p:spPr>
            <a:xfrm>
              <a:off x="274320" y="749808"/>
              <a:ext cx="4206240" cy="2395728"/>
            </a:xfrm>
            <a:prstGeom prst="rect">
              <a:avLst/>
            </a:prstGeom>
            <a:solidFill>
              <a:srgbClr val="E2E8EF"/>
            </a:solidFill>
            <a:ln w="15240">
              <a:solidFill>
                <a:srgbClr val="8A9CB0"/>
              </a:solidFill>
              <a:prstDash val="dash"/>
            </a:ln>
          </p:spPr>
          <p:txBody>
            <a:bodyPr/>
            <a:lstStyle/>
            <a:p>
              <a:endParaRPr lang="en-US"/>
            </a:p>
          </p:txBody>
        </p:sp>
        <p:pic>
          <p:nvPicPr>
            <p:cNvPr id="76" name="Picture 75">
              <a:extLst>
                <a:ext uri="{FF2B5EF4-FFF2-40B4-BE49-F238E27FC236}">
                  <a16:creationId xmlns:a16="http://schemas.microsoft.com/office/drawing/2014/main" id="{E37B68F1-087C-00D5-F0E3-545A42F4D294}"/>
                </a:ext>
              </a:extLst>
            </p:cNvPr>
            <p:cNvPicPr>
              <a:picLocks noChangeAspect="1"/>
            </p:cNvPicPr>
            <p:nvPr/>
          </p:nvPicPr>
          <p:blipFill>
            <a:blip r:embed="rId3"/>
            <a:stretch>
              <a:fillRect/>
            </a:stretch>
          </p:blipFill>
          <p:spPr>
            <a:xfrm>
              <a:off x="329184" y="811236"/>
              <a:ext cx="4073535" cy="2260288"/>
            </a:xfrm>
            <a:prstGeom prst="rect">
              <a:avLst/>
            </a:prstGeom>
          </p:spPr>
        </p:pic>
      </p:grpSp>
      <p:grpSp>
        <p:nvGrpSpPr>
          <p:cNvPr id="80" name="Group 79">
            <a:extLst>
              <a:ext uri="{FF2B5EF4-FFF2-40B4-BE49-F238E27FC236}">
                <a16:creationId xmlns:a16="http://schemas.microsoft.com/office/drawing/2014/main" id="{2FF38CAF-FEBD-2057-C8C2-A58FB9B78A5C}"/>
              </a:ext>
            </a:extLst>
          </p:cNvPr>
          <p:cNvGrpSpPr/>
          <p:nvPr/>
        </p:nvGrpSpPr>
        <p:grpSpPr>
          <a:xfrm>
            <a:off x="4663440" y="749808"/>
            <a:ext cx="4206240" cy="2395728"/>
            <a:chOff x="4663440" y="749808"/>
            <a:chExt cx="4206240" cy="2395728"/>
          </a:xfrm>
        </p:grpSpPr>
        <p:sp>
          <p:nvSpPr>
            <p:cNvPr id="7" name="Shape 5"/>
            <p:cNvSpPr/>
            <p:nvPr/>
          </p:nvSpPr>
          <p:spPr>
            <a:xfrm>
              <a:off x="4663440" y="749808"/>
              <a:ext cx="4206240" cy="2395728"/>
            </a:xfrm>
            <a:prstGeom prst="rect">
              <a:avLst/>
            </a:prstGeom>
            <a:solidFill>
              <a:srgbClr val="E2E8EF"/>
            </a:solidFill>
            <a:ln w="15240">
              <a:solidFill>
                <a:srgbClr val="8A9CB0"/>
              </a:solidFill>
              <a:prstDash val="dash"/>
            </a:ln>
          </p:spPr>
          <p:txBody>
            <a:bodyPr/>
            <a:lstStyle/>
            <a:p>
              <a:endParaRPr lang="en-US"/>
            </a:p>
          </p:txBody>
        </p:sp>
        <p:pic>
          <p:nvPicPr>
            <p:cNvPr id="79" name="Picture 78">
              <a:extLst>
                <a:ext uri="{FF2B5EF4-FFF2-40B4-BE49-F238E27FC236}">
                  <a16:creationId xmlns:a16="http://schemas.microsoft.com/office/drawing/2014/main" id="{89820947-A221-8F11-A6C6-8C4B1893D882}"/>
                </a:ext>
              </a:extLst>
            </p:cNvPr>
            <p:cNvPicPr>
              <a:picLocks noChangeAspect="1"/>
            </p:cNvPicPr>
            <p:nvPr/>
          </p:nvPicPr>
          <p:blipFill>
            <a:blip r:embed="rId4"/>
            <a:stretch>
              <a:fillRect/>
            </a:stretch>
          </p:blipFill>
          <p:spPr>
            <a:xfrm>
              <a:off x="4709160" y="803382"/>
              <a:ext cx="4105656" cy="227943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B6E63"/>
          </a:solidFill>
          <a:ln w="12700">
            <a:solidFill>
              <a:srgbClr val="0B6E63"/>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KEY RESULTS: SPATIALLY VARIABLE GENES  ·  NB04</a:t>
            </a:r>
            <a:endParaRPr lang="en-US" sz="1700" dirty="0"/>
          </a:p>
        </p:txBody>
      </p:sp>
      <p:sp>
        <p:nvSpPr>
          <p:cNvPr id="4" name="Shape 2"/>
          <p:cNvSpPr/>
          <p:nvPr/>
        </p:nvSpPr>
        <p:spPr>
          <a:xfrm>
            <a:off x="274320" y="749808"/>
            <a:ext cx="2606040" cy="1207008"/>
          </a:xfrm>
          <a:prstGeom prst="rect">
            <a:avLst/>
          </a:prstGeom>
          <a:solidFill>
            <a:srgbClr val="1A2B45"/>
          </a:solidFill>
          <a:ln w="1270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5" name="Text 3"/>
          <p:cNvSpPr/>
          <p:nvPr/>
        </p:nvSpPr>
        <p:spPr>
          <a:xfrm>
            <a:off x="274320" y="822960"/>
            <a:ext cx="1243584" cy="47548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3,000</a:t>
            </a:r>
            <a:endParaRPr lang="en-US" sz="2500" dirty="0"/>
          </a:p>
        </p:txBody>
      </p:sp>
      <p:sp>
        <p:nvSpPr>
          <p:cNvPr id="6" name="Text 4"/>
          <p:cNvSpPr/>
          <p:nvPr/>
        </p:nvSpPr>
        <p:spPr>
          <a:xfrm>
            <a:off x="274320" y="1261872"/>
            <a:ext cx="1243584" cy="621792"/>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genes</a:t>
            </a:r>
            <a:endParaRPr lang="en-US" sz="900" dirty="0"/>
          </a:p>
          <a:p>
            <a:pPr marL="0" indent="0">
              <a:buNone/>
            </a:pPr>
            <a:r>
              <a:rPr lang="en-US" sz="900" dirty="0">
                <a:solidFill>
                  <a:srgbClr val="8A9CB0"/>
                </a:solidFill>
                <a:latin typeface="Calibri" pitchFamily="34" charset="0"/>
                <a:ea typeface="Calibri" pitchFamily="34" charset="-122"/>
                <a:cs typeface="Calibri" pitchFamily="34" charset="-120"/>
              </a:rPr>
              <a:t>tested</a:t>
            </a:r>
            <a:endParaRPr lang="en-US" sz="900" dirty="0"/>
          </a:p>
        </p:txBody>
      </p:sp>
      <p:sp>
        <p:nvSpPr>
          <p:cNvPr id="7" name="Text 5"/>
          <p:cNvSpPr/>
          <p:nvPr/>
        </p:nvSpPr>
        <p:spPr>
          <a:xfrm>
            <a:off x="1572768" y="822960"/>
            <a:ext cx="1243584" cy="475488"/>
          </a:xfrm>
          <a:prstGeom prst="rect">
            <a:avLst/>
          </a:prstGeom>
          <a:noFill/>
          <a:ln/>
        </p:spPr>
        <p:txBody>
          <a:bodyPr wrap="square" rtlCol="0" anchor="ctr"/>
          <a:lstStyle/>
          <a:p>
            <a:pPr marL="0" indent="0">
              <a:buNone/>
            </a:pPr>
            <a:r>
              <a:rPr lang="en-US" sz="2500" b="1" dirty="0">
                <a:solidFill>
                  <a:srgbClr val="B8860B"/>
                </a:solidFill>
                <a:latin typeface="Georgia" pitchFamily="34" charset="0"/>
                <a:ea typeface="Georgia" pitchFamily="34" charset="-122"/>
                <a:cs typeface="Georgia" pitchFamily="34" charset="-120"/>
              </a:rPr>
              <a:t>2,498</a:t>
            </a:r>
            <a:endParaRPr lang="en-US" sz="2500" dirty="0"/>
          </a:p>
        </p:txBody>
      </p:sp>
      <p:sp>
        <p:nvSpPr>
          <p:cNvPr id="8" name="Text 6"/>
          <p:cNvSpPr/>
          <p:nvPr/>
        </p:nvSpPr>
        <p:spPr>
          <a:xfrm>
            <a:off x="1572768" y="1261872"/>
            <a:ext cx="1243584" cy="621792"/>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significant</a:t>
            </a:r>
            <a:endParaRPr lang="en-US" sz="900" dirty="0"/>
          </a:p>
          <a:p>
            <a:pPr marL="0" indent="0">
              <a:buNone/>
            </a:pPr>
            <a:r>
              <a:rPr lang="en-US" sz="900" dirty="0">
                <a:solidFill>
                  <a:srgbClr val="8A9CB0"/>
                </a:solidFill>
                <a:latin typeface="Calibri" pitchFamily="34" charset="0"/>
                <a:ea typeface="Calibri" pitchFamily="34" charset="-122"/>
                <a:cs typeface="Calibri" pitchFamily="34" charset="-120"/>
              </a:rPr>
              <a:t>(FDR &lt; 0.05)</a:t>
            </a:r>
            <a:endParaRPr lang="en-US" sz="900" dirty="0"/>
          </a:p>
        </p:txBody>
      </p:sp>
      <p:sp>
        <p:nvSpPr>
          <p:cNvPr id="9" name="Text 7"/>
          <p:cNvSpPr/>
          <p:nvPr/>
        </p:nvSpPr>
        <p:spPr>
          <a:xfrm>
            <a:off x="274320" y="2066544"/>
            <a:ext cx="2606040" cy="237744"/>
          </a:xfrm>
          <a:prstGeom prst="rect">
            <a:avLst/>
          </a:prstGeom>
          <a:noFill/>
          <a:ln/>
        </p:spPr>
        <p:txBody>
          <a:bodyPr wrap="square" rtlCol="0" anchor="ctr"/>
          <a:lstStyle/>
          <a:p>
            <a:pPr marL="0" indent="0">
              <a:buNone/>
            </a:pPr>
            <a:r>
              <a:rPr lang="en-US" sz="950" b="1" dirty="0">
                <a:solidFill>
                  <a:srgbClr val="1A2B45"/>
                </a:solidFill>
                <a:latin typeface="Calibri" pitchFamily="34" charset="0"/>
                <a:ea typeface="Calibri" pitchFamily="34" charset="-122"/>
                <a:cs typeface="Calibri" pitchFamily="34" charset="-120"/>
              </a:rPr>
              <a:t>TOP SPATIALLY VARIABLE GENES – MORAN`S I</a:t>
            </a:r>
            <a:endParaRPr lang="en-US" sz="950" dirty="0"/>
          </a:p>
        </p:txBody>
      </p:sp>
      <p:sp>
        <p:nvSpPr>
          <p:cNvPr id="10" name="Shape 8"/>
          <p:cNvSpPr/>
          <p:nvPr/>
        </p:nvSpPr>
        <p:spPr>
          <a:xfrm>
            <a:off x="274320" y="2359152"/>
            <a:ext cx="2606040" cy="310896"/>
          </a:xfrm>
          <a:prstGeom prst="rect">
            <a:avLst/>
          </a:prstGeom>
          <a:solidFill>
            <a:srgbClr val="F7F9FC"/>
          </a:solidFill>
          <a:ln w="3810">
            <a:solidFill>
              <a:srgbClr val="E2E8EF"/>
            </a:solidFill>
            <a:prstDash val="solid"/>
          </a:ln>
        </p:spPr>
        <p:txBody>
          <a:bodyPr/>
          <a:lstStyle/>
          <a:p>
            <a:endParaRPr lang="en-US"/>
          </a:p>
        </p:txBody>
      </p:sp>
      <p:sp>
        <p:nvSpPr>
          <p:cNvPr id="11" name="Shape 9"/>
          <p:cNvSpPr/>
          <p:nvPr/>
        </p:nvSpPr>
        <p:spPr>
          <a:xfrm>
            <a:off x="274320" y="2359152"/>
            <a:ext cx="36576" cy="310896"/>
          </a:xfrm>
          <a:prstGeom prst="rect">
            <a:avLst/>
          </a:prstGeom>
          <a:solidFill>
            <a:srgbClr val="1A2B45"/>
          </a:solidFill>
          <a:ln w="12700">
            <a:solidFill>
              <a:srgbClr val="1A2B45"/>
            </a:solidFill>
            <a:prstDash val="solid"/>
          </a:ln>
        </p:spPr>
        <p:txBody>
          <a:bodyPr/>
          <a:lstStyle/>
          <a:p>
            <a:endParaRPr lang="en-US"/>
          </a:p>
        </p:txBody>
      </p:sp>
      <p:sp>
        <p:nvSpPr>
          <p:cNvPr id="12" name="Text 10"/>
          <p:cNvSpPr/>
          <p:nvPr/>
        </p:nvSpPr>
        <p:spPr>
          <a:xfrm>
            <a:off x="347472" y="2404872"/>
            <a:ext cx="1261872" cy="219456"/>
          </a:xfrm>
          <a:prstGeom prst="rect">
            <a:avLst/>
          </a:prstGeom>
          <a:noFill/>
          <a:ln/>
        </p:spPr>
        <p:txBody>
          <a:bodyPr wrap="square" rtlCol="0" anchor="ctr"/>
          <a:lstStyle/>
          <a:p>
            <a:pPr marL="0" indent="0">
              <a:buNone/>
            </a:pPr>
            <a:r>
              <a:rPr lang="en-US" sz="900" b="1" dirty="0">
                <a:solidFill>
                  <a:srgbClr val="1A2B45"/>
                </a:solidFill>
                <a:latin typeface="Calibri" pitchFamily="34" charset="0"/>
                <a:ea typeface="Calibri" pitchFamily="34" charset="-122"/>
                <a:cs typeface="Calibri" pitchFamily="34" charset="-120"/>
              </a:rPr>
              <a:t>#1  MGP</a:t>
            </a:r>
            <a:endParaRPr lang="en-US" sz="900" dirty="0"/>
          </a:p>
        </p:txBody>
      </p:sp>
      <p:sp>
        <p:nvSpPr>
          <p:cNvPr id="13" name="Text 11"/>
          <p:cNvSpPr/>
          <p:nvPr/>
        </p:nvSpPr>
        <p:spPr>
          <a:xfrm>
            <a:off x="1627632" y="2404872"/>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I=0.876</a:t>
            </a:r>
            <a:endParaRPr lang="en-US" sz="850" dirty="0"/>
          </a:p>
        </p:txBody>
      </p:sp>
      <p:sp>
        <p:nvSpPr>
          <p:cNvPr id="14" name="Shape 12"/>
          <p:cNvSpPr/>
          <p:nvPr/>
        </p:nvSpPr>
        <p:spPr>
          <a:xfrm>
            <a:off x="2231136" y="2414016"/>
            <a:ext cx="585216" cy="201168"/>
          </a:xfrm>
          <a:prstGeom prst="rect">
            <a:avLst/>
          </a:prstGeom>
          <a:solidFill>
            <a:srgbClr val="1A2B45">
              <a:alpha val="22000"/>
            </a:srgbClr>
          </a:solidFill>
          <a:ln w="12700">
            <a:solidFill>
              <a:srgbClr val="1A2B45"/>
            </a:solidFill>
            <a:prstDash val="solid"/>
          </a:ln>
        </p:spPr>
        <p:txBody>
          <a:bodyPr/>
          <a:lstStyle/>
          <a:p>
            <a:endParaRPr lang="en-US"/>
          </a:p>
        </p:txBody>
      </p:sp>
      <p:sp>
        <p:nvSpPr>
          <p:cNvPr id="15" name="Text 13"/>
          <p:cNvSpPr/>
          <p:nvPr/>
        </p:nvSpPr>
        <p:spPr>
          <a:xfrm>
            <a:off x="2231136" y="2414016"/>
            <a:ext cx="585216" cy="201168"/>
          </a:xfrm>
          <a:prstGeom prst="rect">
            <a:avLst/>
          </a:prstGeom>
          <a:noFill/>
          <a:ln/>
        </p:spPr>
        <p:txBody>
          <a:bodyPr wrap="square" rtlCol="0" anchor="ctr"/>
          <a:lstStyle/>
          <a:p>
            <a:pPr marL="0" indent="0" algn="ctr">
              <a:buNone/>
            </a:pPr>
            <a:r>
              <a:rPr lang="en-US" sz="800" b="1" dirty="0">
                <a:solidFill>
                  <a:srgbClr val="1A2B45"/>
                </a:solidFill>
                <a:latin typeface="Calibri" pitchFamily="34" charset="0"/>
                <a:ea typeface="Calibri" pitchFamily="34" charset="-122"/>
                <a:cs typeface="Calibri" pitchFamily="34" charset="-120"/>
              </a:rPr>
              <a:t>STROMA</a:t>
            </a:r>
            <a:endParaRPr lang="en-US" sz="800" dirty="0"/>
          </a:p>
        </p:txBody>
      </p:sp>
      <p:sp>
        <p:nvSpPr>
          <p:cNvPr id="16" name="Shape 14"/>
          <p:cNvSpPr/>
          <p:nvPr/>
        </p:nvSpPr>
        <p:spPr>
          <a:xfrm>
            <a:off x="274320" y="2688336"/>
            <a:ext cx="2606040" cy="310896"/>
          </a:xfrm>
          <a:prstGeom prst="rect">
            <a:avLst/>
          </a:prstGeom>
          <a:solidFill>
            <a:srgbClr val="FFFFFF"/>
          </a:solidFill>
          <a:ln w="3810">
            <a:solidFill>
              <a:srgbClr val="E2E8EF"/>
            </a:solidFill>
            <a:prstDash val="solid"/>
          </a:ln>
        </p:spPr>
        <p:txBody>
          <a:bodyPr/>
          <a:lstStyle/>
          <a:p>
            <a:endParaRPr lang="en-US"/>
          </a:p>
        </p:txBody>
      </p:sp>
      <p:sp>
        <p:nvSpPr>
          <p:cNvPr id="17" name="Shape 15"/>
          <p:cNvSpPr/>
          <p:nvPr/>
        </p:nvSpPr>
        <p:spPr>
          <a:xfrm>
            <a:off x="274320" y="2688336"/>
            <a:ext cx="36576" cy="310896"/>
          </a:xfrm>
          <a:prstGeom prst="rect">
            <a:avLst/>
          </a:prstGeom>
          <a:solidFill>
            <a:srgbClr val="0B6E63"/>
          </a:solidFill>
          <a:ln w="12700">
            <a:solidFill>
              <a:srgbClr val="0B6E63"/>
            </a:solidFill>
            <a:prstDash val="solid"/>
          </a:ln>
        </p:spPr>
        <p:txBody>
          <a:bodyPr/>
          <a:lstStyle/>
          <a:p>
            <a:endParaRPr lang="en-US"/>
          </a:p>
        </p:txBody>
      </p:sp>
      <p:sp>
        <p:nvSpPr>
          <p:cNvPr id="18" name="Text 16"/>
          <p:cNvSpPr/>
          <p:nvPr/>
        </p:nvSpPr>
        <p:spPr>
          <a:xfrm>
            <a:off x="347472" y="2734056"/>
            <a:ext cx="1261872" cy="219456"/>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#2  IGLC2</a:t>
            </a:r>
            <a:endParaRPr lang="en-US" sz="900" dirty="0"/>
          </a:p>
        </p:txBody>
      </p:sp>
      <p:sp>
        <p:nvSpPr>
          <p:cNvPr id="19" name="Text 17"/>
          <p:cNvSpPr/>
          <p:nvPr/>
        </p:nvSpPr>
        <p:spPr>
          <a:xfrm>
            <a:off x="1627632" y="2734056"/>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I=0.815</a:t>
            </a:r>
            <a:endParaRPr lang="en-US" sz="850" dirty="0"/>
          </a:p>
        </p:txBody>
      </p:sp>
      <p:sp>
        <p:nvSpPr>
          <p:cNvPr id="20" name="Shape 18"/>
          <p:cNvSpPr/>
          <p:nvPr/>
        </p:nvSpPr>
        <p:spPr>
          <a:xfrm>
            <a:off x="2231136" y="2743200"/>
            <a:ext cx="585216" cy="201168"/>
          </a:xfrm>
          <a:prstGeom prst="rect">
            <a:avLst/>
          </a:prstGeom>
          <a:solidFill>
            <a:srgbClr val="0B6E63">
              <a:alpha val="22000"/>
            </a:srgbClr>
          </a:solidFill>
          <a:ln w="12700">
            <a:solidFill>
              <a:srgbClr val="0B6E63"/>
            </a:solidFill>
            <a:prstDash val="solid"/>
          </a:ln>
        </p:spPr>
        <p:txBody>
          <a:bodyPr/>
          <a:lstStyle/>
          <a:p>
            <a:endParaRPr lang="en-US"/>
          </a:p>
        </p:txBody>
      </p:sp>
      <p:sp>
        <p:nvSpPr>
          <p:cNvPr id="21" name="Text 19"/>
          <p:cNvSpPr/>
          <p:nvPr/>
        </p:nvSpPr>
        <p:spPr>
          <a:xfrm>
            <a:off x="2231136" y="2743200"/>
            <a:ext cx="585216" cy="201168"/>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TLS★</a:t>
            </a:r>
            <a:endParaRPr lang="en-US" sz="800" dirty="0"/>
          </a:p>
        </p:txBody>
      </p:sp>
      <p:sp>
        <p:nvSpPr>
          <p:cNvPr id="22" name="Shape 20"/>
          <p:cNvSpPr/>
          <p:nvPr/>
        </p:nvSpPr>
        <p:spPr>
          <a:xfrm>
            <a:off x="274320" y="3017520"/>
            <a:ext cx="2606040" cy="310896"/>
          </a:xfrm>
          <a:prstGeom prst="rect">
            <a:avLst/>
          </a:prstGeom>
          <a:solidFill>
            <a:srgbClr val="F7F9FC"/>
          </a:solidFill>
          <a:ln w="3810">
            <a:solidFill>
              <a:srgbClr val="E2E8EF"/>
            </a:solidFill>
            <a:prstDash val="solid"/>
          </a:ln>
        </p:spPr>
        <p:txBody>
          <a:bodyPr/>
          <a:lstStyle/>
          <a:p>
            <a:endParaRPr lang="en-US"/>
          </a:p>
        </p:txBody>
      </p:sp>
      <p:sp>
        <p:nvSpPr>
          <p:cNvPr id="23" name="Shape 21"/>
          <p:cNvSpPr/>
          <p:nvPr/>
        </p:nvSpPr>
        <p:spPr>
          <a:xfrm>
            <a:off x="274320" y="3017520"/>
            <a:ext cx="36576" cy="310896"/>
          </a:xfrm>
          <a:prstGeom prst="rect">
            <a:avLst/>
          </a:prstGeom>
          <a:solidFill>
            <a:srgbClr val="A63010"/>
          </a:solidFill>
          <a:ln w="12700">
            <a:solidFill>
              <a:srgbClr val="A63010"/>
            </a:solidFill>
            <a:prstDash val="solid"/>
          </a:ln>
        </p:spPr>
        <p:txBody>
          <a:bodyPr/>
          <a:lstStyle/>
          <a:p>
            <a:endParaRPr lang="en-US"/>
          </a:p>
        </p:txBody>
      </p:sp>
      <p:sp>
        <p:nvSpPr>
          <p:cNvPr id="24" name="Text 22"/>
          <p:cNvSpPr/>
          <p:nvPr/>
        </p:nvSpPr>
        <p:spPr>
          <a:xfrm>
            <a:off x="347472" y="3063240"/>
            <a:ext cx="1261872" cy="219456"/>
          </a:xfrm>
          <a:prstGeom prst="rect">
            <a:avLst/>
          </a:prstGeom>
          <a:noFill/>
          <a:ln/>
        </p:spPr>
        <p:txBody>
          <a:bodyPr wrap="square" rtlCol="0" anchor="ctr"/>
          <a:lstStyle/>
          <a:p>
            <a:pPr marL="0" indent="0">
              <a:buNone/>
            </a:pPr>
            <a:r>
              <a:rPr lang="en-US" sz="900" b="1" dirty="0">
                <a:solidFill>
                  <a:srgbClr val="A63010"/>
                </a:solidFill>
                <a:latin typeface="Calibri" pitchFamily="34" charset="0"/>
                <a:ea typeface="Calibri" pitchFamily="34" charset="-122"/>
                <a:cs typeface="Calibri" pitchFamily="34" charset="-120"/>
              </a:rPr>
              <a:t>#3  COX6C</a:t>
            </a:r>
            <a:endParaRPr lang="en-US" sz="900" dirty="0"/>
          </a:p>
        </p:txBody>
      </p:sp>
      <p:sp>
        <p:nvSpPr>
          <p:cNvPr id="25" name="Text 23"/>
          <p:cNvSpPr/>
          <p:nvPr/>
        </p:nvSpPr>
        <p:spPr>
          <a:xfrm>
            <a:off x="1627632" y="3063240"/>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I=0.803</a:t>
            </a:r>
            <a:endParaRPr lang="en-US" sz="850" dirty="0"/>
          </a:p>
        </p:txBody>
      </p:sp>
      <p:sp>
        <p:nvSpPr>
          <p:cNvPr id="26" name="Shape 24"/>
          <p:cNvSpPr/>
          <p:nvPr/>
        </p:nvSpPr>
        <p:spPr>
          <a:xfrm>
            <a:off x="2231136" y="3072384"/>
            <a:ext cx="585216" cy="201168"/>
          </a:xfrm>
          <a:prstGeom prst="rect">
            <a:avLst/>
          </a:prstGeom>
          <a:solidFill>
            <a:srgbClr val="A63010">
              <a:alpha val="22000"/>
            </a:srgbClr>
          </a:solidFill>
          <a:ln w="12700">
            <a:solidFill>
              <a:srgbClr val="A63010"/>
            </a:solidFill>
            <a:prstDash val="solid"/>
          </a:ln>
        </p:spPr>
        <p:txBody>
          <a:bodyPr/>
          <a:lstStyle/>
          <a:p>
            <a:endParaRPr lang="en-US"/>
          </a:p>
        </p:txBody>
      </p:sp>
      <p:sp>
        <p:nvSpPr>
          <p:cNvPr id="27" name="Text 25"/>
          <p:cNvSpPr/>
          <p:nvPr/>
        </p:nvSpPr>
        <p:spPr>
          <a:xfrm>
            <a:off x="2231136" y="3072384"/>
            <a:ext cx="585216" cy="201168"/>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TUMOUR</a:t>
            </a:r>
            <a:endParaRPr lang="en-US" sz="800" dirty="0"/>
          </a:p>
        </p:txBody>
      </p:sp>
      <p:sp>
        <p:nvSpPr>
          <p:cNvPr id="28" name="Shape 26"/>
          <p:cNvSpPr/>
          <p:nvPr/>
        </p:nvSpPr>
        <p:spPr>
          <a:xfrm>
            <a:off x="274320" y="3346704"/>
            <a:ext cx="2606040" cy="310896"/>
          </a:xfrm>
          <a:prstGeom prst="rect">
            <a:avLst/>
          </a:prstGeom>
          <a:solidFill>
            <a:srgbClr val="FFFFFF"/>
          </a:solidFill>
          <a:ln w="3810">
            <a:solidFill>
              <a:srgbClr val="E2E8EF"/>
            </a:solidFill>
            <a:prstDash val="solid"/>
          </a:ln>
        </p:spPr>
        <p:txBody>
          <a:bodyPr/>
          <a:lstStyle/>
          <a:p>
            <a:endParaRPr lang="en-US"/>
          </a:p>
        </p:txBody>
      </p:sp>
      <p:sp>
        <p:nvSpPr>
          <p:cNvPr id="29" name="Shape 27"/>
          <p:cNvSpPr/>
          <p:nvPr/>
        </p:nvSpPr>
        <p:spPr>
          <a:xfrm>
            <a:off x="274320" y="3346704"/>
            <a:ext cx="36576" cy="310896"/>
          </a:xfrm>
          <a:prstGeom prst="rect">
            <a:avLst/>
          </a:prstGeom>
          <a:solidFill>
            <a:srgbClr val="0B6E63"/>
          </a:solidFill>
          <a:ln w="12700">
            <a:solidFill>
              <a:srgbClr val="0B6E63"/>
            </a:solidFill>
            <a:prstDash val="solid"/>
          </a:ln>
        </p:spPr>
        <p:txBody>
          <a:bodyPr/>
          <a:lstStyle/>
          <a:p>
            <a:endParaRPr lang="en-US"/>
          </a:p>
        </p:txBody>
      </p:sp>
      <p:sp>
        <p:nvSpPr>
          <p:cNvPr id="30" name="Text 28"/>
          <p:cNvSpPr/>
          <p:nvPr/>
        </p:nvSpPr>
        <p:spPr>
          <a:xfrm>
            <a:off x="347472" y="3392424"/>
            <a:ext cx="1261872" cy="219456"/>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#4  IGHG3</a:t>
            </a:r>
            <a:endParaRPr lang="en-US" sz="900" dirty="0"/>
          </a:p>
        </p:txBody>
      </p:sp>
      <p:sp>
        <p:nvSpPr>
          <p:cNvPr id="31" name="Text 29"/>
          <p:cNvSpPr/>
          <p:nvPr/>
        </p:nvSpPr>
        <p:spPr>
          <a:xfrm>
            <a:off x="1627632" y="3392424"/>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I=0.793</a:t>
            </a:r>
            <a:endParaRPr lang="en-US" sz="850" dirty="0"/>
          </a:p>
        </p:txBody>
      </p:sp>
      <p:sp>
        <p:nvSpPr>
          <p:cNvPr id="32" name="Shape 30"/>
          <p:cNvSpPr/>
          <p:nvPr/>
        </p:nvSpPr>
        <p:spPr>
          <a:xfrm>
            <a:off x="2231136" y="3401568"/>
            <a:ext cx="585216" cy="201168"/>
          </a:xfrm>
          <a:prstGeom prst="rect">
            <a:avLst/>
          </a:prstGeom>
          <a:solidFill>
            <a:srgbClr val="0B6E63">
              <a:alpha val="22000"/>
            </a:srgbClr>
          </a:solidFill>
          <a:ln w="12700">
            <a:solidFill>
              <a:srgbClr val="0B6E63"/>
            </a:solidFill>
            <a:prstDash val="solid"/>
          </a:ln>
        </p:spPr>
        <p:txBody>
          <a:bodyPr/>
          <a:lstStyle/>
          <a:p>
            <a:endParaRPr lang="en-US"/>
          </a:p>
        </p:txBody>
      </p:sp>
      <p:sp>
        <p:nvSpPr>
          <p:cNvPr id="33" name="Text 31"/>
          <p:cNvSpPr/>
          <p:nvPr/>
        </p:nvSpPr>
        <p:spPr>
          <a:xfrm>
            <a:off x="2231136" y="3401568"/>
            <a:ext cx="585216" cy="201168"/>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TLS★</a:t>
            </a:r>
            <a:endParaRPr lang="en-US" sz="800" dirty="0"/>
          </a:p>
        </p:txBody>
      </p:sp>
      <p:sp>
        <p:nvSpPr>
          <p:cNvPr id="34" name="Shape 32"/>
          <p:cNvSpPr/>
          <p:nvPr/>
        </p:nvSpPr>
        <p:spPr>
          <a:xfrm>
            <a:off x="274320" y="3675888"/>
            <a:ext cx="2606040" cy="310896"/>
          </a:xfrm>
          <a:prstGeom prst="rect">
            <a:avLst/>
          </a:prstGeom>
          <a:solidFill>
            <a:srgbClr val="F7F9FC"/>
          </a:solidFill>
          <a:ln w="3810">
            <a:solidFill>
              <a:srgbClr val="E2E8EF"/>
            </a:solidFill>
            <a:prstDash val="solid"/>
          </a:ln>
        </p:spPr>
        <p:txBody>
          <a:bodyPr/>
          <a:lstStyle/>
          <a:p>
            <a:endParaRPr lang="en-US"/>
          </a:p>
        </p:txBody>
      </p:sp>
      <p:sp>
        <p:nvSpPr>
          <p:cNvPr id="35" name="Shape 33"/>
          <p:cNvSpPr/>
          <p:nvPr/>
        </p:nvSpPr>
        <p:spPr>
          <a:xfrm>
            <a:off x="274320" y="3675888"/>
            <a:ext cx="36576" cy="310896"/>
          </a:xfrm>
          <a:prstGeom prst="rect">
            <a:avLst/>
          </a:prstGeom>
          <a:solidFill>
            <a:srgbClr val="1A2B45"/>
          </a:solidFill>
          <a:ln w="12700">
            <a:solidFill>
              <a:srgbClr val="1A2B45"/>
            </a:solidFill>
            <a:prstDash val="solid"/>
          </a:ln>
        </p:spPr>
        <p:txBody>
          <a:bodyPr/>
          <a:lstStyle/>
          <a:p>
            <a:endParaRPr lang="en-US"/>
          </a:p>
        </p:txBody>
      </p:sp>
      <p:sp>
        <p:nvSpPr>
          <p:cNvPr id="36" name="Text 34"/>
          <p:cNvSpPr/>
          <p:nvPr/>
        </p:nvSpPr>
        <p:spPr>
          <a:xfrm>
            <a:off x="347472" y="3721608"/>
            <a:ext cx="1261872" cy="219456"/>
          </a:xfrm>
          <a:prstGeom prst="rect">
            <a:avLst/>
          </a:prstGeom>
          <a:noFill/>
          <a:ln/>
        </p:spPr>
        <p:txBody>
          <a:bodyPr wrap="square" rtlCol="0" anchor="ctr"/>
          <a:lstStyle/>
          <a:p>
            <a:pPr marL="0" indent="0">
              <a:buNone/>
            </a:pPr>
            <a:r>
              <a:rPr lang="en-US" sz="900" b="1" dirty="0">
                <a:solidFill>
                  <a:srgbClr val="1A2B45"/>
                </a:solidFill>
                <a:latin typeface="Calibri" pitchFamily="34" charset="0"/>
                <a:ea typeface="Calibri" pitchFamily="34" charset="-122"/>
                <a:cs typeface="Calibri" pitchFamily="34" charset="-120"/>
              </a:rPr>
              <a:t>#5  CXCL14</a:t>
            </a:r>
            <a:endParaRPr lang="en-US" sz="900" dirty="0"/>
          </a:p>
        </p:txBody>
      </p:sp>
      <p:sp>
        <p:nvSpPr>
          <p:cNvPr id="37" name="Text 35"/>
          <p:cNvSpPr/>
          <p:nvPr/>
        </p:nvSpPr>
        <p:spPr>
          <a:xfrm>
            <a:off x="1627632" y="3721608"/>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I=0.786</a:t>
            </a:r>
            <a:endParaRPr lang="en-US" sz="850" dirty="0"/>
          </a:p>
        </p:txBody>
      </p:sp>
      <p:sp>
        <p:nvSpPr>
          <p:cNvPr id="38" name="Shape 36"/>
          <p:cNvSpPr/>
          <p:nvPr/>
        </p:nvSpPr>
        <p:spPr>
          <a:xfrm>
            <a:off x="2231136" y="3730752"/>
            <a:ext cx="585216" cy="201168"/>
          </a:xfrm>
          <a:prstGeom prst="rect">
            <a:avLst/>
          </a:prstGeom>
          <a:solidFill>
            <a:srgbClr val="1A2B45">
              <a:alpha val="22000"/>
            </a:srgbClr>
          </a:solidFill>
          <a:ln w="12700">
            <a:solidFill>
              <a:srgbClr val="1A2B45"/>
            </a:solidFill>
            <a:prstDash val="solid"/>
          </a:ln>
        </p:spPr>
        <p:txBody>
          <a:bodyPr/>
          <a:lstStyle/>
          <a:p>
            <a:endParaRPr lang="en-US"/>
          </a:p>
        </p:txBody>
      </p:sp>
      <p:sp>
        <p:nvSpPr>
          <p:cNvPr id="39" name="Text 37"/>
          <p:cNvSpPr/>
          <p:nvPr/>
        </p:nvSpPr>
        <p:spPr>
          <a:xfrm>
            <a:off x="2231136" y="3730752"/>
            <a:ext cx="585216" cy="201168"/>
          </a:xfrm>
          <a:prstGeom prst="rect">
            <a:avLst/>
          </a:prstGeom>
          <a:noFill/>
          <a:ln/>
        </p:spPr>
        <p:txBody>
          <a:bodyPr wrap="square" rtlCol="0" anchor="ctr"/>
          <a:lstStyle/>
          <a:p>
            <a:pPr marL="0" indent="0" algn="ctr">
              <a:buNone/>
            </a:pPr>
            <a:r>
              <a:rPr lang="en-US" sz="800" b="1" dirty="0">
                <a:solidFill>
                  <a:srgbClr val="1A2B45"/>
                </a:solidFill>
                <a:latin typeface="Calibri" pitchFamily="34" charset="0"/>
                <a:ea typeface="Calibri" pitchFamily="34" charset="-122"/>
                <a:cs typeface="Calibri" pitchFamily="34" charset="-120"/>
              </a:rPr>
              <a:t>STROMA</a:t>
            </a:r>
            <a:endParaRPr lang="en-US" sz="800" dirty="0"/>
          </a:p>
        </p:txBody>
      </p:sp>
      <p:sp>
        <p:nvSpPr>
          <p:cNvPr id="40" name="Shape 38"/>
          <p:cNvSpPr/>
          <p:nvPr/>
        </p:nvSpPr>
        <p:spPr>
          <a:xfrm>
            <a:off x="274320" y="4005072"/>
            <a:ext cx="2606040" cy="310896"/>
          </a:xfrm>
          <a:prstGeom prst="rect">
            <a:avLst/>
          </a:prstGeom>
          <a:solidFill>
            <a:srgbClr val="FFFFFF"/>
          </a:solidFill>
          <a:ln w="3810">
            <a:solidFill>
              <a:srgbClr val="E2E8EF"/>
            </a:solidFill>
            <a:prstDash val="solid"/>
          </a:ln>
        </p:spPr>
        <p:txBody>
          <a:bodyPr/>
          <a:lstStyle/>
          <a:p>
            <a:endParaRPr lang="en-US"/>
          </a:p>
        </p:txBody>
      </p:sp>
      <p:sp>
        <p:nvSpPr>
          <p:cNvPr id="41" name="Shape 39"/>
          <p:cNvSpPr/>
          <p:nvPr/>
        </p:nvSpPr>
        <p:spPr>
          <a:xfrm>
            <a:off x="274320" y="4005072"/>
            <a:ext cx="36576" cy="310896"/>
          </a:xfrm>
          <a:prstGeom prst="rect">
            <a:avLst/>
          </a:prstGeom>
          <a:solidFill>
            <a:srgbClr val="0B6E63"/>
          </a:solidFill>
          <a:ln w="12700">
            <a:solidFill>
              <a:srgbClr val="0B6E63"/>
            </a:solidFill>
            <a:prstDash val="solid"/>
          </a:ln>
        </p:spPr>
        <p:txBody>
          <a:bodyPr/>
          <a:lstStyle/>
          <a:p>
            <a:endParaRPr lang="en-US"/>
          </a:p>
        </p:txBody>
      </p:sp>
      <p:sp>
        <p:nvSpPr>
          <p:cNvPr id="42" name="Text 40"/>
          <p:cNvSpPr/>
          <p:nvPr/>
        </p:nvSpPr>
        <p:spPr>
          <a:xfrm>
            <a:off x="347472" y="4050792"/>
            <a:ext cx="1261872" cy="219456"/>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#6  IGKC</a:t>
            </a:r>
            <a:endParaRPr lang="en-US" sz="900" dirty="0"/>
          </a:p>
        </p:txBody>
      </p:sp>
      <p:sp>
        <p:nvSpPr>
          <p:cNvPr id="43" name="Text 41"/>
          <p:cNvSpPr/>
          <p:nvPr/>
        </p:nvSpPr>
        <p:spPr>
          <a:xfrm>
            <a:off x="1627632" y="4050792"/>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I=0.773</a:t>
            </a:r>
            <a:endParaRPr lang="en-US" sz="850" dirty="0"/>
          </a:p>
        </p:txBody>
      </p:sp>
      <p:sp>
        <p:nvSpPr>
          <p:cNvPr id="44" name="Shape 42"/>
          <p:cNvSpPr/>
          <p:nvPr/>
        </p:nvSpPr>
        <p:spPr>
          <a:xfrm>
            <a:off x="2231136" y="4059936"/>
            <a:ext cx="585216" cy="201168"/>
          </a:xfrm>
          <a:prstGeom prst="rect">
            <a:avLst/>
          </a:prstGeom>
          <a:solidFill>
            <a:srgbClr val="0B6E63">
              <a:alpha val="22000"/>
            </a:srgbClr>
          </a:solidFill>
          <a:ln w="12700">
            <a:solidFill>
              <a:srgbClr val="0B6E63"/>
            </a:solidFill>
            <a:prstDash val="solid"/>
          </a:ln>
        </p:spPr>
        <p:txBody>
          <a:bodyPr/>
          <a:lstStyle/>
          <a:p>
            <a:endParaRPr lang="en-US"/>
          </a:p>
        </p:txBody>
      </p:sp>
      <p:sp>
        <p:nvSpPr>
          <p:cNvPr id="45" name="Text 43"/>
          <p:cNvSpPr/>
          <p:nvPr/>
        </p:nvSpPr>
        <p:spPr>
          <a:xfrm>
            <a:off x="2231136" y="4059936"/>
            <a:ext cx="585216" cy="201168"/>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TLS★</a:t>
            </a:r>
            <a:endParaRPr lang="en-US" sz="800" dirty="0"/>
          </a:p>
        </p:txBody>
      </p:sp>
      <p:sp>
        <p:nvSpPr>
          <p:cNvPr id="46" name="Shape 44"/>
          <p:cNvSpPr/>
          <p:nvPr/>
        </p:nvSpPr>
        <p:spPr>
          <a:xfrm>
            <a:off x="274320" y="4334256"/>
            <a:ext cx="2606040" cy="310896"/>
          </a:xfrm>
          <a:prstGeom prst="rect">
            <a:avLst/>
          </a:prstGeom>
          <a:solidFill>
            <a:srgbClr val="F7F9FC"/>
          </a:solidFill>
          <a:ln w="3810">
            <a:solidFill>
              <a:srgbClr val="E2E8EF"/>
            </a:solidFill>
            <a:prstDash val="solid"/>
          </a:ln>
        </p:spPr>
        <p:txBody>
          <a:bodyPr/>
          <a:lstStyle/>
          <a:p>
            <a:endParaRPr lang="en-US"/>
          </a:p>
        </p:txBody>
      </p:sp>
      <p:sp>
        <p:nvSpPr>
          <p:cNvPr id="47" name="Shape 45"/>
          <p:cNvSpPr/>
          <p:nvPr/>
        </p:nvSpPr>
        <p:spPr>
          <a:xfrm>
            <a:off x="274320" y="4334256"/>
            <a:ext cx="36576" cy="310896"/>
          </a:xfrm>
          <a:prstGeom prst="rect">
            <a:avLst/>
          </a:prstGeom>
          <a:solidFill>
            <a:srgbClr val="A63010"/>
          </a:solidFill>
          <a:ln w="12700">
            <a:solidFill>
              <a:srgbClr val="A63010"/>
            </a:solidFill>
            <a:prstDash val="solid"/>
          </a:ln>
        </p:spPr>
        <p:txBody>
          <a:bodyPr/>
          <a:lstStyle/>
          <a:p>
            <a:endParaRPr lang="en-US"/>
          </a:p>
        </p:txBody>
      </p:sp>
      <p:sp>
        <p:nvSpPr>
          <p:cNvPr id="48" name="Text 46"/>
          <p:cNvSpPr/>
          <p:nvPr/>
        </p:nvSpPr>
        <p:spPr>
          <a:xfrm>
            <a:off x="347472" y="4379976"/>
            <a:ext cx="1261872" cy="219456"/>
          </a:xfrm>
          <a:prstGeom prst="rect">
            <a:avLst/>
          </a:prstGeom>
          <a:noFill/>
          <a:ln/>
        </p:spPr>
        <p:txBody>
          <a:bodyPr wrap="square" rtlCol="0" anchor="ctr"/>
          <a:lstStyle/>
          <a:p>
            <a:pPr marL="0" indent="0">
              <a:buNone/>
            </a:pPr>
            <a:r>
              <a:rPr lang="en-US" sz="900" b="1" dirty="0">
                <a:solidFill>
                  <a:srgbClr val="A63010"/>
                </a:solidFill>
                <a:latin typeface="Calibri" pitchFamily="34" charset="0"/>
                <a:ea typeface="Calibri" pitchFamily="34" charset="-122"/>
                <a:cs typeface="Calibri" pitchFamily="34" charset="-120"/>
              </a:rPr>
              <a:t>#7  SCGB1D2</a:t>
            </a:r>
            <a:endParaRPr lang="en-US" sz="900" dirty="0"/>
          </a:p>
        </p:txBody>
      </p:sp>
      <p:sp>
        <p:nvSpPr>
          <p:cNvPr id="49" name="Text 47"/>
          <p:cNvSpPr/>
          <p:nvPr/>
        </p:nvSpPr>
        <p:spPr>
          <a:xfrm>
            <a:off x="1627632" y="4379976"/>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I=0.753</a:t>
            </a:r>
            <a:endParaRPr lang="en-US" sz="850" dirty="0"/>
          </a:p>
        </p:txBody>
      </p:sp>
      <p:sp>
        <p:nvSpPr>
          <p:cNvPr id="50" name="Shape 48"/>
          <p:cNvSpPr/>
          <p:nvPr/>
        </p:nvSpPr>
        <p:spPr>
          <a:xfrm>
            <a:off x="2231136" y="4389120"/>
            <a:ext cx="585216" cy="201168"/>
          </a:xfrm>
          <a:prstGeom prst="rect">
            <a:avLst/>
          </a:prstGeom>
          <a:solidFill>
            <a:srgbClr val="A63010">
              <a:alpha val="22000"/>
            </a:srgbClr>
          </a:solidFill>
          <a:ln w="12700">
            <a:solidFill>
              <a:srgbClr val="A63010"/>
            </a:solidFill>
            <a:prstDash val="solid"/>
          </a:ln>
        </p:spPr>
        <p:txBody>
          <a:bodyPr/>
          <a:lstStyle/>
          <a:p>
            <a:endParaRPr lang="en-US"/>
          </a:p>
        </p:txBody>
      </p:sp>
      <p:sp>
        <p:nvSpPr>
          <p:cNvPr id="51" name="Text 49"/>
          <p:cNvSpPr/>
          <p:nvPr/>
        </p:nvSpPr>
        <p:spPr>
          <a:xfrm>
            <a:off x="2231136" y="4389120"/>
            <a:ext cx="585216" cy="201168"/>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LUMINAL</a:t>
            </a:r>
            <a:endParaRPr lang="en-US" sz="800" dirty="0"/>
          </a:p>
        </p:txBody>
      </p:sp>
      <p:sp>
        <p:nvSpPr>
          <p:cNvPr id="52" name="Shape 50"/>
          <p:cNvSpPr/>
          <p:nvPr/>
        </p:nvSpPr>
        <p:spPr>
          <a:xfrm>
            <a:off x="274320" y="4663440"/>
            <a:ext cx="2606040" cy="310896"/>
          </a:xfrm>
          <a:prstGeom prst="rect">
            <a:avLst/>
          </a:prstGeom>
          <a:solidFill>
            <a:srgbClr val="FFFFFF"/>
          </a:solidFill>
          <a:ln w="3810">
            <a:solidFill>
              <a:srgbClr val="E2E8EF"/>
            </a:solidFill>
            <a:prstDash val="solid"/>
          </a:ln>
        </p:spPr>
        <p:txBody>
          <a:bodyPr/>
          <a:lstStyle/>
          <a:p>
            <a:endParaRPr lang="en-US"/>
          </a:p>
        </p:txBody>
      </p:sp>
      <p:sp>
        <p:nvSpPr>
          <p:cNvPr id="53" name="Shape 51"/>
          <p:cNvSpPr/>
          <p:nvPr/>
        </p:nvSpPr>
        <p:spPr>
          <a:xfrm>
            <a:off x="274320" y="4663440"/>
            <a:ext cx="36576" cy="310896"/>
          </a:xfrm>
          <a:prstGeom prst="rect">
            <a:avLst/>
          </a:prstGeom>
          <a:solidFill>
            <a:srgbClr val="A63010"/>
          </a:solidFill>
          <a:ln w="12700">
            <a:solidFill>
              <a:srgbClr val="A63010"/>
            </a:solidFill>
            <a:prstDash val="solid"/>
          </a:ln>
        </p:spPr>
        <p:txBody>
          <a:bodyPr/>
          <a:lstStyle/>
          <a:p>
            <a:endParaRPr lang="en-US"/>
          </a:p>
        </p:txBody>
      </p:sp>
      <p:sp>
        <p:nvSpPr>
          <p:cNvPr id="54" name="Text 52"/>
          <p:cNvSpPr/>
          <p:nvPr/>
        </p:nvSpPr>
        <p:spPr>
          <a:xfrm>
            <a:off x="347472" y="4709160"/>
            <a:ext cx="1261872" cy="219456"/>
          </a:xfrm>
          <a:prstGeom prst="rect">
            <a:avLst/>
          </a:prstGeom>
          <a:noFill/>
          <a:ln/>
        </p:spPr>
        <p:txBody>
          <a:bodyPr wrap="square" rtlCol="0" anchor="ctr"/>
          <a:lstStyle/>
          <a:p>
            <a:pPr marL="0" indent="0">
              <a:buNone/>
            </a:pPr>
            <a:r>
              <a:rPr lang="en-US" sz="900" b="1" dirty="0">
                <a:solidFill>
                  <a:srgbClr val="A63010"/>
                </a:solidFill>
                <a:latin typeface="Calibri" pitchFamily="34" charset="0"/>
                <a:ea typeface="Calibri" pitchFamily="34" charset="-122"/>
                <a:cs typeface="Calibri" pitchFamily="34" charset="-120"/>
              </a:rPr>
              <a:t>#8  KRT8</a:t>
            </a:r>
            <a:endParaRPr lang="en-US" sz="900" dirty="0"/>
          </a:p>
        </p:txBody>
      </p:sp>
      <p:sp>
        <p:nvSpPr>
          <p:cNvPr id="55" name="Text 53"/>
          <p:cNvSpPr/>
          <p:nvPr/>
        </p:nvSpPr>
        <p:spPr>
          <a:xfrm>
            <a:off x="1627632" y="4709160"/>
            <a:ext cx="566928" cy="219456"/>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I=0.739</a:t>
            </a:r>
            <a:endParaRPr lang="en-US" sz="850" dirty="0"/>
          </a:p>
        </p:txBody>
      </p:sp>
      <p:sp>
        <p:nvSpPr>
          <p:cNvPr id="56" name="Shape 54"/>
          <p:cNvSpPr/>
          <p:nvPr/>
        </p:nvSpPr>
        <p:spPr>
          <a:xfrm>
            <a:off x="2231136" y="4718304"/>
            <a:ext cx="585216" cy="201168"/>
          </a:xfrm>
          <a:prstGeom prst="rect">
            <a:avLst/>
          </a:prstGeom>
          <a:solidFill>
            <a:srgbClr val="A63010">
              <a:alpha val="22000"/>
            </a:srgbClr>
          </a:solidFill>
          <a:ln w="12700">
            <a:solidFill>
              <a:srgbClr val="A63010"/>
            </a:solidFill>
            <a:prstDash val="solid"/>
          </a:ln>
        </p:spPr>
        <p:txBody>
          <a:bodyPr/>
          <a:lstStyle/>
          <a:p>
            <a:endParaRPr lang="en-US"/>
          </a:p>
        </p:txBody>
      </p:sp>
      <p:sp>
        <p:nvSpPr>
          <p:cNvPr id="57" name="Text 55"/>
          <p:cNvSpPr/>
          <p:nvPr/>
        </p:nvSpPr>
        <p:spPr>
          <a:xfrm>
            <a:off x="2231136" y="4718304"/>
            <a:ext cx="585216" cy="201168"/>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TUMOUR</a:t>
            </a:r>
            <a:endParaRPr lang="en-US" sz="800" dirty="0"/>
          </a:p>
        </p:txBody>
      </p:sp>
      <p:sp>
        <p:nvSpPr>
          <p:cNvPr id="59" name="Text 57"/>
          <p:cNvSpPr/>
          <p:nvPr/>
        </p:nvSpPr>
        <p:spPr>
          <a:xfrm>
            <a:off x="3072384" y="1581912"/>
            <a:ext cx="5797296"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Moran's I Summary (2-panel)</a:t>
            </a:r>
            <a:endParaRPr lang="en-US" sz="950" dirty="0"/>
          </a:p>
        </p:txBody>
      </p:sp>
      <p:sp>
        <p:nvSpPr>
          <p:cNvPr id="60" name="Text 58"/>
          <p:cNvSpPr/>
          <p:nvPr/>
        </p:nvSpPr>
        <p:spPr>
          <a:xfrm>
            <a:off x="3072384" y="1856232"/>
            <a:ext cx="5797296"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figures/svg/02_moranI_summary.png</a:t>
            </a:r>
            <a:endParaRPr lang="en-US" sz="800" dirty="0"/>
          </a:p>
          <a:p>
            <a:pPr marL="0" indent="0" algn="ctr">
              <a:buNone/>
            </a:pPr>
            <a:r>
              <a:rPr lang="en-US" sz="800" dirty="0">
                <a:solidFill>
                  <a:srgbClr val="8A9CB0"/>
                </a:solidFill>
                <a:latin typeface="Calibri" pitchFamily="34" charset="0"/>
                <a:ea typeface="Calibri" pitchFamily="34" charset="-122"/>
                <a:cs typeface="Calibri" pitchFamily="34" charset="-120"/>
              </a:rPr>
              <a:t>Left: histogram of I values across 3,000 genes  |  Right: I vs -log10(FDR) scatter</a:t>
            </a:r>
            <a:endParaRPr lang="en-US" sz="800" dirty="0"/>
          </a:p>
        </p:txBody>
      </p:sp>
      <p:sp>
        <p:nvSpPr>
          <p:cNvPr id="62" name="Text 60"/>
          <p:cNvSpPr/>
          <p:nvPr/>
        </p:nvSpPr>
        <p:spPr>
          <a:xfrm>
            <a:off x="3072384" y="3813048"/>
            <a:ext cx="5797296"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Top 8 SVGs spatial maps</a:t>
            </a:r>
            <a:endParaRPr lang="en-US" sz="950" dirty="0"/>
          </a:p>
        </p:txBody>
      </p:sp>
      <p:sp>
        <p:nvSpPr>
          <p:cNvPr id="63" name="Text 61"/>
          <p:cNvSpPr/>
          <p:nvPr/>
        </p:nvSpPr>
        <p:spPr>
          <a:xfrm>
            <a:off x="3072384" y="4087368"/>
            <a:ext cx="5797296"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figures/svg/01_top_svgs_spatial.png</a:t>
            </a:r>
            <a:endParaRPr lang="en-US" sz="800" dirty="0"/>
          </a:p>
          <a:p>
            <a:pPr marL="0" indent="0" algn="ctr">
              <a:buNone/>
            </a:pPr>
            <a:r>
              <a:rPr lang="en-US" sz="800" dirty="0">
                <a:solidFill>
                  <a:srgbClr val="8A9CB0"/>
                </a:solidFill>
                <a:latin typeface="Calibri" pitchFamily="34" charset="0"/>
                <a:ea typeface="Calibri" pitchFamily="34" charset="-122"/>
                <a:cs typeface="Calibri" pitchFamily="34" charset="-120"/>
              </a:rPr>
              <a:t>8-panel grid — each gene coloured on H&amp;E tissue, title = gene name + I score</a:t>
            </a:r>
            <a:endParaRPr lang="en-US" sz="800" dirty="0"/>
          </a:p>
        </p:txBody>
      </p:sp>
      <p:grpSp>
        <p:nvGrpSpPr>
          <p:cNvPr id="68" name="Group 67">
            <a:extLst>
              <a:ext uri="{FF2B5EF4-FFF2-40B4-BE49-F238E27FC236}">
                <a16:creationId xmlns:a16="http://schemas.microsoft.com/office/drawing/2014/main" id="{193697E8-BAD2-0534-982F-2336F46C1EC9}"/>
              </a:ext>
            </a:extLst>
          </p:cNvPr>
          <p:cNvGrpSpPr/>
          <p:nvPr/>
        </p:nvGrpSpPr>
        <p:grpSpPr>
          <a:xfrm>
            <a:off x="3072384" y="749808"/>
            <a:ext cx="5797296" cy="2176272"/>
            <a:chOff x="3072384" y="749808"/>
            <a:chExt cx="5797296" cy="2176272"/>
          </a:xfrm>
        </p:grpSpPr>
        <p:sp>
          <p:nvSpPr>
            <p:cNvPr id="58" name="Shape 56"/>
            <p:cNvSpPr/>
            <p:nvPr/>
          </p:nvSpPr>
          <p:spPr>
            <a:xfrm>
              <a:off x="3072384" y="749808"/>
              <a:ext cx="5797296" cy="2176272"/>
            </a:xfrm>
            <a:prstGeom prst="rect">
              <a:avLst/>
            </a:prstGeom>
            <a:solidFill>
              <a:srgbClr val="E2E8EF"/>
            </a:solidFill>
            <a:ln w="15240">
              <a:solidFill>
                <a:srgbClr val="8A9CB0"/>
              </a:solidFill>
              <a:prstDash val="dash"/>
            </a:ln>
          </p:spPr>
          <p:txBody>
            <a:bodyPr/>
            <a:lstStyle/>
            <a:p>
              <a:endParaRPr lang="en-US"/>
            </a:p>
          </p:txBody>
        </p:sp>
        <p:pic>
          <p:nvPicPr>
            <p:cNvPr id="67" name="Picture 66">
              <a:extLst>
                <a:ext uri="{FF2B5EF4-FFF2-40B4-BE49-F238E27FC236}">
                  <a16:creationId xmlns:a16="http://schemas.microsoft.com/office/drawing/2014/main" id="{FFCEC4B8-9EEE-14B2-DA62-854E292C3583}"/>
                </a:ext>
              </a:extLst>
            </p:cNvPr>
            <p:cNvPicPr>
              <a:picLocks noChangeAspect="1"/>
            </p:cNvPicPr>
            <p:nvPr/>
          </p:nvPicPr>
          <p:blipFill>
            <a:blip r:embed="rId3"/>
            <a:stretch>
              <a:fillRect/>
            </a:stretch>
          </p:blipFill>
          <p:spPr>
            <a:xfrm>
              <a:off x="3141785" y="823475"/>
              <a:ext cx="5654743" cy="2011165"/>
            </a:xfrm>
            <a:prstGeom prst="rect">
              <a:avLst/>
            </a:prstGeom>
          </p:spPr>
        </p:pic>
      </p:grpSp>
      <p:grpSp>
        <p:nvGrpSpPr>
          <p:cNvPr id="71" name="Group 70">
            <a:extLst>
              <a:ext uri="{FF2B5EF4-FFF2-40B4-BE49-F238E27FC236}">
                <a16:creationId xmlns:a16="http://schemas.microsoft.com/office/drawing/2014/main" id="{0D95CBEB-36B0-CCD6-B792-6D341815941D}"/>
              </a:ext>
            </a:extLst>
          </p:cNvPr>
          <p:cNvGrpSpPr/>
          <p:nvPr/>
        </p:nvGrpSpPr>
        <p:grpSpPr>
          <a:xfrm>
            <a:off x="3072384" y="3090672"/>
            <a:ext cx="5797296" cy="1956816"/>
            <a:chOff x="3072384" y="3090672"/>
            <a:chExt cx="5797296" cy="1956816"/>
          </a:xfrm>
        </p:grpSpPr>
        <p:sp>
          <p:nvSpPr>
            <p:cNvPr id="61" name="Shape 59"/>
            <p:cNvSpPr/>
            <p:nvPr/>
          </p:nvSpPr>
          <p:spPr>
            <a:xfrm>
              <a:off x="3072384" y="3090672"/>
              <a:ext cx="5797296" cy="1956816"/>
            </a:xfrm>
            <a:prstGeom prst="rect">
              <a:avLst/>
            </a:prstGeom>
            <a:solidFill>
              <a:srgbClr val="E2E8EF"/>
            </a:solidFill>
            <a:ln w="15240">
              <a:solidFill>
                <a:srgbClr val="8A9CB0"/>
              </a:solidFill>
              <a:prstDash val="dash"/>
            </a:ln>
          </p:spPr>
          <p:txBody>
            <a:bodyPr/>
            <a:lstStyle/>
            <a:p>
              <a:endParaRPr lang="en-US"/>
            </a:p>
          </p:txBody>
        </p:sp>
        <p:pic>
          <p:nvPicPr>
            <p:cNvPr id="70" name="Picture 69">
              <a:extLst>
                <a:ext uri="{FF2B5EF4-FFF2-40B4-BE49-F238E27FC236}">
                  <a16:creationId xmlns:a16="http://schemas.microsoft.com/office/drawing/2014/main" id="{A1305DFB-9851-93FD-BAA9-7F33588AD407}"/>
                </a:ext>
              </a:extLst>
            </p:cNvPr>
            <p:cNvPicPr>
              <a:picLocks noChangeAspect="1"/>
            </p:cNvPicPr>
            <p:nvPr/>
          </p:nvPicPr>
          <p:blipFill>
            <a:blip r:embed="rId4"/>
            <a:stretch>
              <a:fillRect/>
            </a:stretch>
          </p:blipFill>
          <p:spPr>
            <a:xfrm>
              <a:off x="3141785" y="3145297"/>
              <a:ext cx="5654743" cy="1859441"/>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05F3-41F3-37A4-4170-21B5CDF11A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E483BF-1F83-A0BA-2743-13AB979CD79F}"/>
              </a:ext>
            </a:extLst>
          </p:cNvPr>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a:extLst>
              <a:ext uri="{FF2B5EF4-FFF2-40B4-BE49-F238E27FC236}">
                <a16:creationId xmlns:a16="http://schemas.microsoft.com/office/drawing/2014/main" id="{540DCC12-D11D-B1B4-3DF2-82AC86DBDD66}"/>
              </a:ext>
            </a:extLst>
          </p:cNvPr>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KEY RESULTS: IMMUNE EXCLUSION &amp; TLS  ·  NB05</a:t>
            </a:r>
            <a:endParaRPr lang="en-US" sz="1700" dirty="0"/>
          </a:p>
        </p:txBody>
      </p:sp>
      <p:grpSp>
        <p:nvGrpSpPr>
          <p:cNvPr id="70" name="Group 69">
            <a:extLst>
              <a:ext uri="{FF2B5EF4-FFF2-40B4-BE49-F238E27FC236}">
                <a16:creationId xmlns:a16="http://schemas.microsoft.com/office/drawing/2014/main" id="{AA4B37B3-4B54-18B1-4B6F-409F2FE17483}"/>
              </a:ext>
            </a:extLst>
          </p:cNvPr>
          <p:cNvGrpSpPr/>
          <p:nvPr/>
        </p:nvGrpSpPr>
        <p:grpSpPr>
          <a:xfrm>
            <a:off x="201168" y="704088"/>
            <a:ext cx="8595360" cy="2048256"/>
            <a:chOff x="274320" y="2944368"/>
            <a:chExt cx="8595360" cy="2048256"/>
          </a:xfrm>
        </p:grpSpPr>
        <p:sp>
          <p:nvSpPr>
            <p:cNvPr id="29" name="Text 27">
              <a:extLst>
                <a:ext uri="{FF2B5EF4-FFF2-40B4-BE49-F238E27FC236}">
                  <a16:creationId xmlns:a16="http://schemas.microsoft.com/office/drawing/2014/main" id="{23F1DCF1-6F6C-C14E-6A84-9E4343D74753}"/>
                </a:ext>
              </a:extLst>
            </p:cNvPr>
            <p:cNvSpPr/>
            <p:nvPr/>
          </p:nvSpPr>
          <p:spPr>
            <a:xfrm>
              <a:off x="274320" y="2944368"/>
              <a:ext cx="8595360" cy="274320"/>
            </a:xfrm>
            <a:prstGeom prst="rect">
              <a:avLst/>
            </a:prstGeom>
            <a:noFill/>
            <a:ln/>
          </p:spPr>
          <p:txBody>
            <a:bodyPr wrap="square" rtlCol="0" anchor="ctr"/>
            <a:lstStyle/>
            <a:p>
              <a:pPr marL="0" indent="0">
                <a:buNone/>
              </a:pPr>
              <a:r>
                <a:rPr lang="en-US" sz="1050" b="1" dirty="0">
                  <a:solidFill>
                    <a:srgbClr val="A63010"/>
                  </a:solidFill>
                  <a:latin typeface="Calibri" pitchFamily="34" charset="0"/>
                  <a:ea typeface="Calibri" pitchFamily="34" charset="-122"/>
                  <a:cs typeface="Calibri" pitchFamily="34" charset="-120"/>
                </a:rPr>
                <a:t>IMMUNE EXCLUSION — EVERY IMMUNE CELL TYPE SCORES ZERO IN TUMOUR CORE</a:t>
              </a:r>
              <a:endParaRPr lang="en-US" sz="1050" dirty="0"/>
            </a:p>
          </p:txBody>
        </p:sp>
        <p:sp>
          <p:nvSpPr>
            <p:cNvPr id="30" name="Shape 28">
              <a:extLst>
                <a:ext uri="{FF2B5EF4-FFF2-40B4-BE49-F238E27FC236}">
                  <a16:creationId xmlns:a16="http://schemas.microsoft.com/office/drawing/2014/main" id="{2CAB749C-51A8-432D-1BB6-428584B9F044}"/>
                </a:ext>
              </a:extLst>
            </p:cNvPr>
            <p:cNvSpPr/>
            <p:nvPr/>
          </p:nvSpPr>
          <p:spPr>
            <a:xfrm>
              <a:off x="274320" y="3273552"/>
              <a:ext cx="1920240" cy="237744"/>
            </a:xfrm>
            <a:prstGeom prst="rect">
              <a:avLst/>
            </a:prstGeom>
            <a:solidFill>
              <a:srgbClr val="1A2B45"/>
            </a:solidFill>
            <a:ln w="12700">
              <a:solidFill>
                <a:srgbClr val="1A2B45"/>
              </a:solidFill>
              <a:prstDash val="solid"/>
            </a:ln>
          </p:spPr>
          <p:txBody>
            <a:bodyPr/>
            <a:lstStyle/>
            <a:p>
              <a:endParaRPr lang="en-US"/>
            </a:p>
          </p:txBody>
        </p:sp>
        <p:sp>
          <p:nvSpPr>
            <p:cNvPr id="31" name="Text 29">
              <a:extLst>
                <a:ext uri="{FF2B5EF4-FFF2-40B4-BE49-F238E27FC236}">
                  <a16:creationId xmlns:a16="http://schemas.microsoft.com/office/drawing/2014/main" id="{FD44B7D9-3D1F-1506-7519-99879CAE79BF}"/>
                </a:ext>
              </a:extLst>
            </p:cNvPr>
            <p:cNvSpPr/>
            <p:nvPr/>
          </p:nvSpPr>
          <p:spPr>
            <a:xfrm>
              <a:off x="274320" y="3291840"/>
              <a:ext cx="1920240"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Cell Type</a:t>
              </a:r>
              <a:endParaRPr lang="en-US" sz="800" dirty="0"/>
            </a:p>
          </p:txBody>
        </p:sp>
        <p:sp>
          <p:nvSpPr>
            <p:cNvPr id="32" name="Shape 30">
              <a:extLst>
                <a:ext uri="{FF2B5EF4-FFF2-40B4-BE49-F238E27FC236}">
                  <a16:creationId xmlns:a16="http://schemas.microsoft.com/office/drawing/2014/main" id="{9ACE45AD-3486-64CA-5A04-04D382391C79}"/>
                </a:ext>
              </a:extLst>
            </p:cNvPr>
            <p:cNvSpPr/>
            <p:nvPr/>
          </p:nvSpPr>
          <p:spPr>
            <a:xfrm>
              <a:off x="2231136" y="3273552"/>
              <a:ext cx="2578608" cy="237744"/>
            </a:xfrm>
            <a:prstGeom prst="rect">
              <a:avLst/>
            </a:prstGeom>
            <a:solidFill>
              <a:srgbClr val="1A2B45"/>
            </a:solidFill>
            <a:ln w="12700">
              <a:solidFill>
                <a:srgbClr val="1A2B45"/>
              </a:solidFill>
              <a:prstDash val="solid"/>
            </a:ln>
          </p:spPr>
          <p:txBody>
            <a:bodyPr/>
            <a:lstStyle/>
            <a:p>
              <a:endParaRPr lang="en-US"/>
            </a:p>
          </p:txBody>
        </p:sp>
        <p:sp>
          <p:nvSpPr>
            <p:cNvPr id="33" name="Text 31">
              <a:extLst>
                <a:ext uri="{FF2B5EF4-FFF2-40B4-BE49-F238E27FC236}">
                  <a16:creationId xmlns:a16="http://schemas.microsoft.com/office/drawing/2014/main" id="{D076E246-D927-83D0-5509-19E22C33B518}"/>
                </a:ext>
              </a:extLst>
            </p:cNvPr>
            <p:cNvSpPr/>
            <p:nvPr/>
          </p:nvSpPr>
          <p:spPr>
            <a:xfrm>
              <a:off x="2231136" y="3291840"/>
              <a:ext cx="2578608"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Peak Cluster </a:t>
              </a:r>
              <a:endParaRPr lang="en-US" sz="800" dirty="0"/>
            </a:p>
          </p:txBody>
        </p:sp>
        <p:sp>
          <p:nvSpPr>
            <p:cNvPr id="34" name="Shape 32">
              <a:extLst>
                <a:ext uri="{FF2B5EF4-FFF2-40B4-BE49-F238E27FC236}">
                  <a16:creationId xmlns:a16="http://schemas.microsoft.com/office/drawing/2014/main" id="{0971571C-2741-A4D8-B291-F8135CB81060}"/>
                </a:ext>
              </a:extLst>
            </p:cNvPr>
            <p:cNvSpPr/>
            <p:nvPr/>
          </p:nvSpPr>
          <p:spPr>
            <a:xfrm>
              <a:off x="4846320" y="3273552"/>
              <a:ext cx="2359152" cy="237744"/>
            </a:xfrm>
            <a:prstGeom prst="rect">
              <a:avLst/>
            </a:prstGeom>
            <a:solidFill>
              <a:srgbClr val="1A2B45"/>
            </a:solidFill>
            <a:ln w="12700">
              <a:solidFill>
                <a:srgbClr val="1A2B45"/>
              </a:solidFill>
              <a:prstDash val="solid"/>
            </a:ln>
          </p:spPr>
          <p:txBody>
            <a:bodyPr/>
            <a:lstStyle/>
            <a:p>
              <a:endParaRPr lang="en-US"/>
            </a:p>
          </p:txBody>
        </p:sp>
        <p:sp>
          <p:nvSpPr>
            <p:cNvPr id="35" name="Text 33">
              <a:extLst>
                <a:ext uri="{FF2B5EF4-FFF2-40B4-BE49-F238E27FC236}">
                  <a16:creationId xmlns:a16="http://schemas.microsoft.com/office/drawing/2014/main" id="{E3B3BCF8-4369-EB59-5DF2-715E0F6F1799}"/>
                </a:ext>
              </a:extLst>
            </p:cNvPr>
            <p:cNvSpPr/>
            <p:nvPr/>
          </p:nvSpPr>
          <p:spPr>
            <a:xfrm>
              <a:off x="4846320" y="3291840"/>
              <a:ext cx="2359152"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Tumour Core Score</a:t>
              </a:r>
              <a:endParaRPr lang="en-US" sz="800" dirty="0"/>
            </a:p>
          </p:txBody>
        </p:sp>
        <p:sp>
          <p:nvSpPr>
            <p:cNvPr id="36" name="Shape 34">
              <a:extLst>
                <a:ext uri="{FF2B5EF4-FFF2-40B4-BE49-F238E27FC236}">
                  <a16:creationId xmlns:a16="http://schemas.microsoft.com/office/drawing/2014/main" id="{88F26907-2756-3CE5-E60F-958748442BAC}"/>
                </a:ext>
              </a:extLst>
            </p:cNvPr>
            <p:cNvSpPr/>
            <p:nvPr/>
          </p:nvSpPr>
          <p:spPr>
            <a:xfrm>
              <a:off x="7242048" y="3273552"/>
              <a:ext cx="1627632" cy="237744"/>
            </a:xfrm>
            <a:prstGeom prst="rect">
              <a:avLst/>
            </a:prstGeom>
            <a:solidFill>
              <a:srgbClr val="1A2B45"/>
            </a:solidFill>
            <a:ln w="12700">
              <a:solidFill>
                <a:srgbClr val="1A2B45"/>
              </a:solidFill>
              <a:prstDash val="solid"/>
            </a:ln>
          </p:spPr>
          <p:txBody>
            <a:bodyPr/>
            <a:lstStyle/>
            <a:p>
              <a:endParaRPr lang="en-US"/>
            </a:p>
          </p:txBody>
        </p:sp>
        <p:sp>
          <p:nvSpPr>
            <p:cNvPr id="37" name="Text 35">
              <a:extLst>
                <a:ext uri="{FF2B5EF4-FFF2-40B4-BE49-F238E27FC236}">
                  <a16:creationId xmlns:a16="http://schemas.microsoft.com/office/drawing/2014/main" id="{C884F3B1-5D3A-F40A-6C50-76CE2309E3D0}"/>
                </a:ext>
              </a:extLst>
            </p:cNvPr>
            <p:cNvSpPr/>
            <p:nvPr/>
          </p:nvSpPr>
          <p:spPr>
            <a:xfrm>
              <a:off x="7242048" y="3291840"/>
              <a:ext cx="1627632"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Status</a:t>
              </a:r>
              <a:endParaRPr lang="en-US" sz="800" dirty="0"/>
            </a:p>
          </p:txBody>
        </p:sp>
        <p:sp>
          <p:nvSpPr>
            <p:cNvPr id="38" name="Shape 36">
              <a:extLst>
                <a:ext uri="{FF2B5EF4-FFF2-40B4-BE49-F238E27FC236}">
                  <a16:creationId xmlns:a16="http://schemas.microsoft.com/office/drawing/2014/main" id="{6FDF2D1A-D574-102D-ECA6-77F4484D804F}"/>
                </a:ext>
              </a:extLst>
            </p:cNvPr>
            <p:cNvSpPr/>
            <p:nvPr/>
          </p:nvSpPr>
          <p:spPr>
            <a:xfrm>
              <a:off x="274320" y="3547872"/>
              <a:ext cx="8595360" cy="274320"/>
            </a:xfrm>
            <a:prstGeom prst="rect">
              <a:avLst/>
            </a:prstGeom>
            <a:solidFill>
              <a:srgbClr val="F7F9FC"/>
            </a:solidFill>
            <a:ln w="3810">
              <a:solidFill>
                <a:srgbClr val="E2E8EF"/>
              </a:solidFill>
              <a:prstDash val="solid"/>
            </a:ln>
          </p:spPr>
          <p:txBody>
            <a:bodyPr/>
            <a:lstStyle/>
            <a:p>
              <a:endParaRPr lang="en-US" dirty="0"/>
            </a:p>
          </p:txBody>
        </p:sp>
        <p:sp>
          <p:nvSpPr>
            <p:cNvPr id="39" name="Text 37">
              <a:extLst>
                <a:ext uri="{FF2B5EF4-FFF2-40B4-BE49-F238E27FC236}">
                  <a16:creationId xmlns:a16="http://schemas.microsoft.com/office/drawing/2014/main" id="{F25C1E11-91AC-BF94-8D9E-B2B248FA4E2E}"/>
                </a:ext>
              </a:extLst>
            </p:cNvPr>
            <p:cNvSpPr/>
            <p:nvPr/>
          </p:nvSpPr>
          <p:spPr>
            <a:xfrm>
              <a:off x="347472" y="3584448"/>
              <a:ext cx="184708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T Cells</a:t>
              </a:r>
              <a:endParaRPr lang="en-US" sz="950" dirty="0"/>
            </a:p>
          </p:txBody>
        </p:sp>
        <p:sp>
          <p:nvSpPr>
            <p:cNvPr id="40" name="Text 38">
              <a:extLst>
                <a:ext uri="{FF2B5EF4-FFF2-40B4-BE49-F238E27FC236}">
                  <a16:creationId xmlns:a16="http://schemas.microsoft.com/office/drawing/2014/main" id="{A52AFEF0-5A67-D219-BF7D-FEC88E3A3204}"/>
                </a:ext>
              </a:extLst>
            </p:cNvPr>
            <p:cNvSpPr/>
            <p:nvPr/>
          </p:nvSpPr>
          <p:spPr>
            <a:xfrm>
              <a:off x="2231136" y="3584448"/>
              <a:ext cx="257860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Macrophages/APC </a:t>
              </a:r>
              <a:endParaRPr lang="en-US" sz="950" dirty="0"/>
            </a:p>
          </p:txBody>
        </p:sp>
        <p:sp>
          <p:nvSpPr>
            <p:cNvPr id="41" name="Text 39">
              <a:extLst>
                <a:ext uri="{FF2B5EF4-FFF2-40B4-BE49-F238E27FC236}">
                  <a16:creationId xmlns:a16="http://schemas.microsoft.com/office/drawing/2014/main" id="{70E7F233-31B1-E9E9-BB69-FDE1AB4AD77D}"/>
                </a:ext>
              </a:extLst>
            </p:cNvPr>
            <p:cNvSpPr/>
            <p:nvPr/>
          </p:nvSpPr>
          <p:spPr>
            <a:xfrm>
              <a:off x="4846320" y="3584448"/>
              <a:ext cx="2359152" cy="201168"/>
            </a:xfrm>
            <a:prstGeom prst="rect">
              <a:avLst/>
            </a:prstGeom>
            <a:noFill/>
            <a:ln/>
          </p:spPr>
          <p:txBody>
            <a:bodyPr wrap="square" rtlCol="0" anchor="ctr"/>
            <a:lstStyle/>
            <a:p>
              <a:pPr marL="0" indent="0" algn="ctr">
                <a:buNone/>
              </a:pPr>
              <a:r>
                <a:rPr lang="en-US" sz="950" b="1" dirty="0">
                  <a:solidFill>
                    <a:srgbClr val="A63010"/>
                  </a:solidFill>
                  <a:latin typeface="Calibri" pitchFamily="34" charset="0"/>
                  <a:ea typeface="Calibri" pitchFamily="34" charset="-122"/>
                  <a:cs typeface="Calibri" pitchFamily="34" charset="-120"/>
                </a:rPr>
                <a:t>~0.00</a:t>
              </a:r>
              <a:endParaRPr lang="en-US" sz="950" dirty="0"/>
            </a:p>
          </p:txBody>
        </p:sp>
        <p:sp>
          <p:nvSpPr>
            <p:cNvPr id="42" name="Shape 40">
              <a:extLst>
                <a:ext uri="{FF2B5EF4-FFF2-40B4-BE49-F238E27FC236}">
                  <a16:creationId xmlns:a16="http://schemas.microsoft.com/office/drawing/2014/main" id="{B6796F77-F499-919C-C852-46796DCE2518}"/>
                </a:ext>
              </a:extLst>
            </p:cNvPr>
            <p:cNvSpPr/>
            <p:nvPr/>
          </p:nvSpPr>
          <p:spPr>
            <a:xfrm>
              <a:off x="7315200" y="3593592"/>
              <a:ext cx="1463040" cy="182880"/>
            </a:xfrm>
            <a:prstGeom prst="rect">
              <a:avLst/>
            </a:prstGeom>
            <a:solidFill>
              <a:srgbClr val="A63010">
                <a:alpha val="22000"/>
              </a:srgbClr>
            </a:solidFill>
            <a:ln w="12700">
              <a:solidFill>
                <a:srgbClr val="A63010"/>
              </a:solidFill>
              <a:prstDash val="solid"/>
            </a:ln>
          </p:spPr>
          <p:txBody>
            <a:bodyPr/>
            <a:lstStyle/>
            <a:p>
              <a:endParaRPr lang="en-US"/>
            </a:p>
          </p:txBody>
        </p:sp>
        <p:sp>
          <p:nvSpPr>
            <p:cNvPr id="43" name="Text 41">
              <a:extLst>
                <a:ext uri="{FF2B5EF4-FFF2-40B4-BE49-F238E27FC236}">
                  <a16:creationId xmlns:a16="http://schemas.microsoft.com/office/drawing/2014/main" id="{D3458D34-D475-AC57-515A-2F06EFE96F3D}"/>
                </a:ext>
              </a:extLst>
            </p:cNvPr>
            <p:cNvSpPr/>
            <p:nvPr/>
          </p:nvSpPr>
          <p:spPr>
            <a:xfrm>
              <a:off x="7315200" y="3593592"/>
              <a:ext cx="1463040" cy="182880"/>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EXCLUDED</a:t>
              </a:r>
              <a:endParaRPr lang="en-US" sz="800" dirty="0"/>
            </a:p>
          </p:txBody>
        </p:sp>
        <p:sp>
          <p:nvSpPr>
            <p:cNvPr id="44" name="Shape 42">
              <a:extLst>
                <a:ext uri="{FF2B5EF4-FFF2-40B4-BE49-F238E27FC236}">
                  <a16:creationId xmlns:a16="http://schemas.microsoft.com/office/drawing/2014/main" id="{458CBD56-B45E-C384-B915-07316568C528}"/>
                </a:ext>
              </a:extLst>
            </p:cNvPr>
            <p:cNvSpPr/>
            <p:nvPr/>
          </p:nvSpPr>
          <p:spPr>
            <a:xfrm>
              <a:off x="274320" y="3840480"/>
              <a:ext cx="8595360" cy="274320"/>
            </a:xfrm>
            <a:prstGeom prst="rect">
              <a:avLst/>
            </a:prstGeom>
            <a:solidFill>
              <a:srgbClr val="FFFFFF"/>
            </a:solidFill>
            <a:ln w="3810">
              <a:solidFill>
                <a:srgbClr val="E2E8EF"/>
              </a:solidFill>
              <a:prstDash val="solid"/>
            </a:ln>
          </p:spPr>
          <p:txBody>
            <a:bodyPr/>
            <a:lstStyle/>
            <a:p>
              <a:endParaRPr lang="en-US"/>
            </a:p>
          </p:txBody>
        </p:sp>
        <p:sp>
          <p:nvSpPr>
            <p:cNvPr id="45" name="Text 43">
              <a:extLst>
                <a:ext uri="{FF2B5EF4-FFF2-40B4-BE49-F238E27FC236}">
                  <a16:creationId xmlns:a16="http://schemas.microsoft.com/office/drawing/2014/main" id="{AEB98D3D-CA6C-174E-07AC-1F4A5BA5F1F1}"/>
                </a:ext>
              </a:extLst>
            </p:cNvPr>
            <p:cNvSpPr/>
            <p:nvPr/>
          </p:nvSpPr>
          <p:spPr>
            <a:xfrm>
              <a:off x="347472" y="3877056"/>
              <a:ext cx="184708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CD8+ T Cells</a:t>
              </a:r>
              <a:endParaRPr lang="en-US" sz="950" dirty="0"/>
            </a:p>
          </p:txBody>
        </p:sp>
        <p:sp>
          <p:nvSpPr>
            <p:cNvPr id="46" name="Text 44">
              <a:extLst>
                <a:ext uri="{FF2B5EF4-FFF2-40B4-BE49-F238E27FC236}">
                  <a16:creationId xmlns:a16="http://schemas.microsoft.com/office/drawing/2014/main" id="{18D6FD3F-A78E-DF24-087E-0402E35EB255}"/>
                </a:ext>
              </a:extLst>
            </p:cNvPr>
            <p:cNvSpPr/>
            <p:nvPr/>
          </p:nvSpPr>
          <p:spPr>
            <a:xfrm>
              <a:off x="2231136" y="3877056"/>
              <a:ext cx="257860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Macrophages/APC </a:t>
              </a:r>
              <a:endParaRPr lang="en-US" sz="950" dirty="0"/>
            </a:p>
          </p:txBody>
        </p:sp>
        <p:sp>
          <p:nvSpPr>
            <p:cNvPr id="47" name="Text 45">
              <a:extLst>
                <a:ext uri="{FF2B5EF4-FFF2-40B4-BE49-F238E27FC236}">
                  <a16:creationId xmlns:a16="http://schemas.microsoft.com/office/drawing/2014/main" id="{70198324-3BC6-CA32-6A68-07BF9EADF315}"/>
                </a:ext>
              </a:extLst>
            </p:cNvPr>
            <p:cNvSpPr/>
            <p:nvPr/>
          </p:nvSpPr>
          <p:spPr>
            <a:xfrm>
              <a:off x="4846320" y="3877056"/>
              <a:ext cx="2359152" cy="201168"/>
            </a:xfrm>
            <a:prstGeom prst="rect">
              <a:avLst/>
            </a:prstGeom>
            <a:noFill/>
            <a:ln/>
          </p:spPr>
          <p:txBody>
            <a:bodyPr wrap="square" rtlCol="0" anchor="ctr"/>
            <a:lstStyle/>
            <a:p>
              <a:pPr marL="0" indent="0" algn="ctr">
                <a:buNone/>
              </a:pPr>
              <a:r>
                <a:rPr lang="en-US" sz="950" b="1" dirty="0">
                  <a:solidFill>
                    <a:srgbClr val="A63010"/>
                  </a:solidFill>
                  <a:latin typeface="Calibri" pitchFamily="34" charset="0"/>
                  <a:ea typeface="Calibri" pitchFamily="34" charset="-122"/>
                  <a:cs typeface="Calibri" pitchFamily="34" charset="-120"/>
                </a:rPr>
                <a:t>~0.00</a:t>
              </a:r>
              <a:endParaRPr lang="en-US" sz="950" dirty="0"/>
            </a:p>
          </p:txBody>
        </p:sp>
        <p:sp>
          <p:nvSpPr>
            <p:cNvPr id="48" name="Shape 46">
              <a:extLst>
                <a:ext uri="{FF2B5EF4-FFF2-40B4-BE49-F238E27FC236}">
                  <a16:creationId xmlns:a16="http://schemas.microsoft.com/office/drawing/2014/main" id="{E1F435AF-A7C1-7D0A-4068-D04A93E2B638}"/>
                </a:ext>
              </a:extLst>
            </p:cNvPr>
            <p:cNvSpPr/>
            <p:nvPr/>
          </p:nvSpPr>
          <p:spPr>
            <a:xfrm>
              <a:off x="7315200" y="3886200"/>
              <a:ext cx="1463040" cy="182880"/>
            </a:xfrm>
            <a:prstGeom prst="rect">
              <a:avLst/>
            </a:prstGeom>
            <a:solidFill>
              <a:srgbClr val="A63010">
                <a:alpha val="22000"/>
              </a:srgbClr>
            </a:solidFill>
            <a:ln w="12700">
              <a:solidFill>
                <a:srgbClr val="A63010"/>
              </a:solidFill>
              <a:prstDash val="solid"/>
            </a:ln>
          </p:spPr>
          <p:txBody>
            <a:bodyPr/>
            <a:lstStyle/>
            <a:p>
              <a:endParaRPr lang="en-US"/>
            </a:p>
          </p:txBody>
        </p:sp>
        <p:sp>
          <p:nvSpPr>
            <p:cNvPr id="49" name="Text 47">
              <a:extLst>
                <a:ext uri="{FF2B5EF4-FFF2-40B4-BE49-F238E27FC236}">
                  <a16:creationId xmlns:a16="http://schemas.microsoft.com/office/drawing/2014/main" id="{4B045660-0566-D314-8D97-F1A668DC98DB}"/>
                </a:ext>
              </a:extLst>
            </p:cNvPr>
            <p:cNvSpPr/>
            <p:nvPr/>
          </p:nvSpPr>
          <p:spPr>
            <a:xfrm>
              <a:off x="7315200" y="3886200"/>
              <a:ext cx="1463040" cy="182880"/>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EXCLUDED</a:t>
              </a:r>
              <a:endParaRPr lang="en-US" sz="800" dirty="0"/>
            </a:p>
          </p:txBody>
        </p:sp>
        <p:sp>
          <p:nvSpPr>
            <p:cNvPr id="50" name="Shape 48">
              <a:extLst>
                <a:ext uri="{FF2B5EF4-FFF2-40B4-BE49-F238E27FC236}">
                  <a16:creationId xmlns:a16="http://schemas.microsoft.com/office/drawing/2014/main" id="{ED3BC21A-A1F0-C486-8608-7F4B34D8EEBB}"/>
                </a:ext>
              </a:extLst>
            </p:cNvPr>
            <p:cNvSpPr/>
            <p:nvPr/>
          </p:nvSpPr>
          <p:spPr>
            <a:xfrm>
              <a:off x="274320" y="4133088"/>
              <a:ext cx="8595360" cy="274320"/>
            </a:xfrm>
            <a:prstGeom prst="rect">
              <a:avLst/>
            </a:prstGeom>
            <a:solidFill>
              <a:srgbClr val="F7F9FC"/>
            </a:solidFill>
            <a:ln w="3810">
              <a:solidFill>
                <a:srgbClr val="E2E8EF"/>
              </a:solidFill>
              <a:prstDash val="solid"/>
            </a:ln>
          </p:spPr>
          <p:txBody>
            <a:bodyPr/>
            <a:lstStyle/>
            <a:p>
              <a:endParaRPr lang="en-US"/>
            </a:p>
          </p:txBody>
        </p:sp>
        <p:sp>
          <p:nvSpPr>
            <p:cNvPr id="51" name="Text 49">
              <a:extLst>
                <a:ext uri="{FF2B5EF4-FFF2-40B4-BE49-F238E27FC236}">
                  <a16:creationId xmlns:a16="http://schemas.microsoft.com/office/drawing/2014/main" id="{73CB9C60-623B-57CC-45A6-B8B07835F948}"/>
                </a:ext>
              </a:extLst>
            </p:cNvPr>
            <p:cNvSpPr/>
            <p:nvPr/>
          </p:nvSpPr>
          <p:spPr>
            <a:xfrm>
              <a:off x="347472" y="4169664"/>
              <a:ext cx="184708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NK Cells</a:t>
              </a:r>
              <a:endParaRPr lang="en-US" sz="950" dirty="0"/>
            </a:p>
          </p:txBody>
        </p:sp>
        <p:sp>
          <p:nvSpPr>
            <p:cNvPr id="52" name="Text 50">
              <a:extLst>
                <a:ext uri="{FF2B5EF4-FFF2-40B4-BE49-F238E27FC236}">
                  <a16:creationId xmlns:a16="http://schemas.microsoft.com/office/drawing/2014/main" id="{3EF6EE0F-1C28-6323-AE5E-DF206719E6F6}"/>
                </a:ext>
              </a:extLst>
            </p:cNvPr>
            <p:cNvSpPr/>
            <p:nvPr/>
          </p:nvSpPr>
          <p:spPr>
            <a:xfrm>
              <a:off x="2231136" y="4169664"/>
              <a:ext cx="257860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Macrophages/APC </a:t>
              </a:r>
              <a:endParaRPr lang="en-US" sz="950" dirty="0"/>
            </a:p>
          </p:txBody>
        </p:sp>
        <p:sp>
          <p:nvSpPr>
            <p:cNvPr id="53" name="Text 51">
              <a:extLst>
                <a:ext uri="{FF2B5EF4-FFF2-40B4-BE49-F238E27FC236}">
                  <a16:creationId xmlns:a16="http://schemas.microsoft.com/office/drawing/2014/main" id="{995BC879-2DDF-B1BA-05AD-C7EEBCC92B4A}"/>
                </a:ext>
              </a:extLst>
            </p:cNvPr>
            <p:cNvSpPr/>
            <p:nvPr/>
          </p:nvSpPr>
          <p:spPr>
            <a:xfrm>
              <a:off x="4846320" y="4169664"/>
              <a:ext cx="2359152" cy="201168"/>
            </a:xfrm>
            <a:prstGeom prst="rect">
              <a:avLst/>
            </a:prstGeom>
            <a:noFill/>
            <a:ln/>
          </p:spPr>
          <p:txBody>
            <a:bodyPr wrap="square" rtlCol="0" anchor="ctr"/>
            <a:lstStyle/>
            <a:p>
              <a:pPr marL="0" indent="0" algn="ctr">
                <a:buNone/>
              </a:pPr>
              <a:r>
                <a:rPr lang="en-US" sz="950" b="1" dirty="0">
                  <a:solidFill>
                    <a:srgbClr val="A63010"/>
                  </a:solidFill>
                  <a:latin typeface="Calibri" pitchFamily="34" charset="0"/>
                  <a:ea typeface="Calibri" pitchFamily="34" charset="-122"/>
                  <a:cs typeface="Calibri" pitchFamily="34" charset="-120"/>
                </a:rPr>
                <a:t>~0.00</a:t>
              </a:r>
              <a:endParaRPr lang="en-US" sz="950" dirty="0"/>
            </a:p>
          </p:txBody>
        </p:sp>
        <p:sp>
          <p:nvSpPr>
            <p:cNvPr id="54" name="Shape 52">
              <a:extLst>
                <a:ext uri="{FF2B5EF4-FFF2-40B4-BE49-F238E27FC236}">
                  <a16:creationId xmlns:a16="http://schemas.microsoft.com/office/drawing/2014/main" id="{1448AABD-73F8-33FE-B3F0-19C1F45C6D9C}"/>
                </a:ext>
              </a:extLst>
            </p:cNvPr>
            <p:cNvSpPr/>
            <p:nvPr/>
          </p:nvSpPr>
          <p:spPr>
            <a:xfrm>
              <a:off x="7315200" y="4178808"/>
              <a:ext cx="1463040" cy="182880"/>
            </a:xfrm>
            <a:prstGeom prst="rect">
              <a:avLst/>
            </a:prstGeom>
            <a:solidFill>
              <a:srgbClr val="A63010">
                <a:alpha val="22000"/>
              </a:srgbClr>
            </a:solidFill>
            <a:ln w="12700">
              <a:solidFill>
                <a:srgbClr val="A63010"/>
              </a:solidFill>
              <a:prstDash val="solid"/>
            </a:ln>
          </p:spPr>
          <p:txBody>
            <a:bodyPr/>
            <a:lstStyle/>
            <a:p>
              <a:endParaRPr lang="en-US"/>
            </a:p>
          </p:txBody>
        </p:sp>
        <p:sp>
          <p:nvSpPr>
            <p:cNvPr id="55" name="Text 53">
              <a:extLst>
                <a:ext uri="{FF2B5EF4-FFF2-40B4-BE49-F238E27FC236}">
                  <a16:creationId xmlns:a16="http://schemas.microsoft.com/office/drawing/2014/main" id="{03731F7B-03CE-8A56-1C7F-880BAE280479}"/>
                </a:ext>
              </a:extLst>
            </p:cNvPr>
            <p:cNvSpPr/>
            <p:nvPr/>
          </p:nvSpPr>
          <p:spPr>
            <a:xfrm>
              <a:off x="7315200" y="4178808"/>
              <a:ext cx="1463040" cy="182880"/>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EXCLUDED</a:t>
              </a:r>
              <a:endParaRPr lang="en-US" sz="800" dirty="0"/>
            </a:p>
          </p:txBody>
        </p:sp>
        <p:sp>
          <p:nvSpPr>
            <p:cNvPr id="56" name="Shape 54">
              <a:extLst>
                <a:ext uri="{FF2B5EF4-FFF2-40B4-BE49-F238E27FC236}">
                  <a16:creationId xmlns:a16="http://schemas.microsoft.com/office/drawing/2014/main" id="{5A229A2A-AEE1-50EE-EA67-AF43E05E9868}"/>
                </a:ext>
              </a:extLst>
            </p:cNvPr>
            <p:cNvSpPr/>
            <p:nvPr/>
          </p:nvSpPr>
          <p:spPr>
            <a:xfrm>
              <a:off x="274320" y="4425696"/>
              <a:ext cx="8595360" cy="274320"/>
            </a:xfrm>
            <a:prstGeom prst="rect">
              <a:avLst/>
            </a:prstGeom>
            <a:solidFill>
              <a:srgbClr val="FFFFFF"/>
            </a:solidFill>
            <a:ln w="3810">
              <a:solidFill>
                <a:srgbClr val="E2E8EF"/>
              </a:solidFill>
              <a:prstDash val="solid"/>
            </a:ln>
          </p:spPr>
          <p:txBody>
            <a:bodyPr/>
            <a:lstStyle/>
            <a:p>
              <a:endParaRPr lang="en-US"/>
            </a:p>
          </p:txBody>
        </p:sp>
        <p:sp>
          <p:nvSpPr>
            <p:cNvPr id="57" name="Text 55">
              <a:extLst>
                <a:ext uri="{FF2B5EF4-FFF2-40B4-BE49-F238E27FC236}">
                  <a16:creationId xmlns:a16="http://schemas.microsoft.com/office/drawing/2014/main" id="{98E7106A-4BDA-8DB6-FAFB-B8C37A67AD8D}"/>
                </a:ext>
              </a:extLst>
            </p:cNvPr>
            <p:cNvSpPr/>
            <p:nvPr/>
          </p:nvSpPr>
          <p:spPr>
            <a:xfrm>
              <a:off x="347472" y="4462272"/>
              <a:ext cx="184708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B Cells</a:t>
              </a:r>
              <a:endParaRPr lang="en-US" sz="950" dirty="0"/>
            </a:p>
          </p:txBody>
        </p:sp>
        <p:sp>
          <p:nvSpPr>
            <p:cNvPr id="58" name="Text 56">
              <a:extLst>
                <a:ext uri="{FF2B5EF4-FFF2-40B4-BE49-F238E27FC236}">
                  <a16:creationId xmlns:a16="http://schemas.microsoft.com/office/drawing/2014/main" id="{05F1304F-2BA6-F3B5-187A-C7FE4926DF48}"/>
                </a:ext>
              </a:extLst>
            </p:cNvPr>
            <p:cNvSpPr/>
            <p:nvPr/>
          </p:nvSpPr>
          <p:spPr>
            <a:xfrm>
              <a:off x="2231136" y="4462272"/>
              <a:ext cx="257860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Macrophages/APC </a:t>
              </a:r>
              <a:endParaRPr lang="en-US" sz="950" dirty="0"/>
            </a:p>
          </p:txBody>
        </p:sp>
        <p:sp>
          <p:nvSpPr>
            <p:cNvPr id="59" name="Text 57">
              <a:extLst>
                <a:ext uri="{FF2B5EF4-FFF2-40B4-BE49-F238E27FC236}">
                  <a16:creationId xmlns:a16="http://schemas.microsoft.com/office/drawing/2014/main" id="{DCD61FB0-4F12-9469-53CE-F02BE39C3B03}"/>
                </a:ext>
              </a:extLst>
            </p:cNvPr>
            <p:cNvSpPr/>
            <p:nvPr/>
          </p:nvSpPr>
          <p:spPr>
            <a:xfrm>
              <a:off x="4846320" y="4462272"/>
              <a:ext cx="2359152" cy="201168"/>
            </a:xfrm>
            <a:prstGeom prst="rect">
              <a:avLst/>
            </a:prstGeom>
            <a:noFill/>
            <a:ln/>
          </p:spPr>
          <p:txBody>
            <a:bodyPr wrap="square" rtlCol="0" anchor="ctr"/>
            <a:lstStyle/>
            <a:p>
              <a:pPr marL="0" indent="0" algn="ctr">
                <a:buNone/>
              </a:pPr>
              <a:r>
                <a:rPr lang="en-US" sz="950" b="1" dirty="0">
                  <a:solidFill>
                    <a:srgbClr val="A63010"/>
                  </a:solidFill>
                  <a:latin typeface="Calibri" pitchFamily="34" charset="0"/>
                  <a:ea typeface="Calibri" pitchFamily="34" charset="-122"/>
                  <a:cs typeface="Calibri" pitchFamily="34" charset="-120"/>
                </a:rPr>
                <a:t>~0.00</a:t>
              </a:r>
              <a:endParaRPr lang="en-US" sz="950" dirty="0"/>
            </a:p>
          </p:txBody>
        </p:sp>
        <p:sp>
          <p:nvSpPr>
            <p:cNvPr id="60" name="Shape 58">
              <a:extLst>
                <a:ext uri="{FF2B5EF4-FFF2-40B4-BE49-F238E27FC236}">
                  <a16:creationId xmlns:a16="http://schemas.microsoft.com/office/drawing/2014/main" id="{B7FA51BD-50A7-4674-5866-25D35EFDABA9}"/>
                </a:ext>
              </a:extLst>
            </p:cNvPr>
            <p:cNvSpPr/>
            <p:nvPr/>
          </p:nvSpPr>
          <p:spPr>
            <a:xfrm>
              <a:off x="7315200" y="4471416"/>
              <a:ext cx="1463040" cy="182880"/>
            </a:xfrm>
            <a:prstGeom prst="rect">
              <a:avLst/>
            </a:prstGeom>
            <a:solidFill>
              <a:srgbClr val="A63010">
                <a:alpha val="22000"/>
              </a:srgbClr>
            </a:solidFill>
            <a:ln w="12700">
              <a:solidFill>
                <a:srgbClr val="A63010"/>
              </a:solidFill>
              <a:prstDash val="solid"/>
            </a:ln>
          </p:spPr>
          <p:txBody>
            <a:bodyPr/>
            <a:lstStyle/>
            <a:p>
              <a:endParaRPr lang="en-US"/>
            </a:p>
          </p:txBody>
        </p:sp>
        <p:sp>
          <p:nvSpPr>
            <p:cNvPr id="61" name="Text 59">
              <a:extLst>
                <a:ext uri="{FF2B5EF4-FFF2-40B4-BE49-F238E27FC236}">
                  <a16:creationId xmlns:a16="http://schemas.microsoft.com/office/drawing/2014/main" id="{FF2A9B25-069F-1673-A2A8-27D980BF445D}"/>
                </a:ext>
              </a:extLst>
            </p:cNvPr>
            <p:cNvSpPr/>
            <p:nvPr/>
          </p:nvSpPr>
          <p:spPr>
            <a:xfrm>
              <a:off x="7315200" y="4471416"/>
              <a:ext cx="1463040" cy="182880"/>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EXCLUDED</a:t>
              </a:r>
              <a:endParaRPr lang="en-US" sz="800" dirty="0"/>
            </a:p>
          </p:txBody>
        </p:sp>
        <p:sp>
          <p:nvSpPr>
            <p:cNvPr id="62" name="Shape 60">
              <a:extLst>
                <a:ext uri="{FF2B5EF4-FFF2-40B4-BE49-F238E27FC236}">
                  <a16:creationId xmlns:a16="http://schemas.microsoft.com/office/drawing/2014/main" id="{4C692BE3-C1F6-8364-72F7-A27AC35D21C7}"/>
                </a:ext>
              </a:extLst>
            </p:cNvPr>
            <p:cNvSpPr/>
            <p:nvPr/>
          </p:nvSpPr>
          <p:spPr>
            <a:xfrm>
              <a:off x="274320" y="4718304"/>
              <a:ext cx="8595360" cy="274320"/>
            </a:xfrm>
            <a:prstGeom prst="rect">
              <a:avLst/>
            </a:prstGeom>
            <a:solidFill>
              <a:srgbClr val="E0F5F2"/>
            </a:solidFill>
            <a:ln w="12700">
              <a:solidFill>
                <a:srgbClr val="0B6E63"/>
              </a:solidFill>
              <a:prstDash val="solid"/>
            </a:ln>
          </p:spPr>
          <p:txBody>
            <a:bodyPr/>
            <a:lstStyle/>
            <a:p>
              <a:endParaRPr lang="en-US"/>
            </a:p>
          </p:txBody>
        </p:sp>
        <p:sp>
          <p:nvSpPr>
            <p:cNvPr id="63" name="Text 61">
              <a:extLst>
                <a:ext uri="{FF2B5EF4-FFF2-40B4-BE49-F238E27FC236}">
                  <a16:creationId xmlns:a16="http://schemas.microsoft.com/office/drawing/2014/main" id="{7F4A8A5F-6DF4-A20C-912C-F407A70BFAA0}"/>
                </a:ext>
              </a:extLst>
            </p:cNvPr>
            <p:cNvSpPr/>
            <p:nvPr/>
          </p:nvSpPr>
          <p:spPr>
            <a:xfrm>
              <a:off x="347472" y="4754880"/>
              <a:ext cx="1847088" cy="201168"/>
            </a:xfrm>
            <a:prstGeom prst="rect">
              <a:avLst/>
            </a:prstGeom>
            <a:noFill/>
            <a:ln/>
          </p:spPr>
          <p:txBody>
            <a:bodyPr wrap="square" rtlCol="0" anchor="ctr"/>
            <a:lstStyle/>
            <a:p>
              <a:pPr marL="0" indent="0">
                <a:buNone/>
              </a:pPr>
              <a:r>
                <a:rPr lang="en-US" sz="950" b="1" dirty="0">
                  <a:solidFill>
                    <a:srgbClr val="0B6E63"/>
                  </a:solidFill>
                  <a:latin typeface="Calibri" pitchFamily="34" charset="0"/>
                  <a:ea typeface="Calibri" pitchFamily="34" charset="-122"/>
                  <a:cs typeface="Calibri" pitchFamily="34" charset="-120"/>
                </a:rPr>
                <a:t>Plasma Cells</a:t>
              </a:r>
              <a:endParaRPr lang="en-US" sz="950" dirty="0"/>
            </a:p>
          </p:txBody>
        </p:sp>
        <p:sp>
          <p:nvSpPr>
            <p:cNvPr id="64" name="Text 62">
              <a:extLst>
                <a:ext uri="{FF2B5EF4-FFF2-40B4-BE49-F238E27FC236}">
                  <a16:creationId xmlns:a16="http://schemas.microsoft.com/office/drawing/2014/main" id="{528C0788-F09B-596A-3688-2B89C7B9285F}"/>
                </a:ext>
              </a:extLst>
            </p:cNvPr>
            <p:cNvSpPr/>
            <p:nvPr/>
          </p:nvSpPr>
          <p:spPr>
            <a:xfrm>
              <a:off x="2231136" y="4754880"/>
              <a:ext cx="2578608" cy="201168"/>
            </a:xfrm>
            <a:prstGeom prst="rect">
              <a:avLst/>
            </a:prstGeom>
            <a:noFill/>
            <a:ln/>
          </p:spPr>
          <p:txBody>
            <a:bodyPr wrap="square" rtlCol="0" anchor="ctr"/>
            <a:lstStyle/>
            <a:p>
              <a:pPr marL="0" indent="0">
                <a:buNone/>
              </a:pPr>
              <a:r>
                <a:rPr lang="en-US" sz="950" dirty="0">
                  <a:solidFill>
                    <a:srgbClr val="3A4F65"/>
                  </a:solidFill>
                  <a:latin typeface="Calibri" pitchFamily="34" charset="0"/>
                  <a:ea typeface="Calibri" pitchFamily="34" charset="-122"/>
                  <a:cs typeface="Calibri" pitchFamily="34" charset="-120"/>
                </a:rPr>
                <a:t>TLS Zone </a:t>
              </a:r>
              <a:endParaRPr lang="en-US" sz="950" dirty="0"/>
            </a:p>
          </p:txBody>
        </p:sp>
        <p:sp>
          <p:nvSpPr>
            <p:cNvPr id="65" name="Text 63">
              <a:extLst>
                <a:ext uri="{FF2B5EF4-FFF2-40B4-BE49-F238E27FC236}">
                  <a16:creationId xmlns:a16="http://schemas.microsoft.com/office/drawing/2014/main" id="{E6149D9F-66D2-8739-E5E3-7360A773FD22}"/>
                </a:ext>
              </a:extLst>
            </p:cNvPr>
            <p:cNvSpPr/>
            <p:nvPr/>
          </p:nvSpPr>
          <p:spPr>
            <a:xfrm>
              <a:off x="4846320" y="4754880"/>
              <a:ext cx="2359152" cy="201168"/>
            </a:xfrm>
            <a:prstGeom prst="rect">
              <a:avLst/>
            </a:prstGeom>
            <a:noFill/>
            <a:ln/>
          </p:spPr>
          <p:txBody>
            <a:bodyPr wrap="square" rtlCol="0" anchor="ctr"/>
            <a:lstStyle/>
            <a:p>
              <a:pPr marL="0" indent="0" algn="ctr">
                <a:buNone/>
              </a:pPr>
              <a:r>
                <a:rPr lang="en-US" sz="950" dirty="0">
                  <a:solidFill>
                    <a:srgbClr val="8A9CB0"/>
                  </a:solidFill>
                  <a:latin typeface="Calibri" pitchFamily="34" charset="0"/>
                  <a:ea typeface="Calibri" pitchFamily="34" charset="-122"/>
                  <a:cs typeface="Calibri" pitchFamily="34" charset="-120"/>
                </a:rPr>
                <a:t>0.82</a:t>
              </a:r>
              <a:endParaRPr lang="en-US" sz="950" dirty="0"/>
            </a:p>
          </p:txBody>
        </p:sp>
        <p:sp>
          <p:nvSpPr>
            <p:cNvPr id="66" name="Shape 64">
              <a:extLst>
                <a:ext uri="{FF2B5EF4-FFF2-40B4-BE49-F238E27FC236}">
                  <a16:creationId xmlns:a16="http://schemas.microsoft.com/office/drawing/2014/main" id="{04D6E903-A206-3FDA-68AC-31BE80CEFFE3}"/>
                </a:ext>
              </a:extLst>
            </p:cNvPr>
            <p:cNvSpPr/>
            <p:nvPr/>
          </p:nvSpPr>
          <p:spPr>
            <a:xfrm>
              <a:off x="7315200" y="4764024"/>
              <a:ext cx="1463040" cy="182880"/>
            </a:xfrm>
            <a:prstGeom prst="rect">
              <a:avLst/>
            </a:prstGeom>
            <a:solidFill>
              <a:srgbClr val="0B6E63">
                <a:alpha val="22000"/>
              </a:srgbClr>
            </a:solidFill>
            <a:ln w="12700">
              <a:solidFill>
                <a:srgbClr val="0B6E63"/>
              </a:solidFill>
              <a:prstDash val="solid"/>
            </a:ln>
          </p:spPr>
          <p:txBody>
            <a:bodyPr/>
            <a:lstStyle/>
            <a:p>
              <a:endParaRPr lang="en-US"/>
            </a:p>
          </p:txBody>
        </p:sp>
        <p:sp>
          <p:nvSpPr>
            <p:cNvPr id="67" name="Text 65">
              <a:extLst>
                <a:ext uri="{FF2B5EF4-FFF2-40B4-BE49-F238E27FC236}">
                  <a16:creationId xmlns:a16="http://schemas.microsoft.com/office/drawing/2014/main" id="{FD34D7A9-E791-38EE-400B-6659B5DE9ACD}"/>
                </a:ext>
              </a:extLst>
            </p:cNvPr>
            <p:cNvSpPr/>
            <p:nvPr/>
          </p:nvSpPr>
          <p:spPr>
            <a:xfrm>
              <a:off x="7315200" y="4764024"/>
              <a:ext cx="1463040" cy="182880"/>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TLS ZONE</a:t>
              </a:r>
              <a:endParaRPr lang="en-US" sz="800" dirty="0"/>
            </a:p>
          </p:txBody>
        </p:sp>
      </p:grpSp>
      <p:pic>
        <p:nvPicPr>
          <p:cNvPr id="72" name="Picture 71">
            <a:extLst>
              <a:ext uri="{FF2B5EF4-FFF2-40B4-BE49-F238E27FC236}">
                <a16:creationId xmlns:a16="http://schemas.microsoft.com/office/drawing/2014/main" id="{D8715872-69AF-C7AA-5C4D-9E9A0A36F353}"/>
              </a:ext>
            </a:extLst>
          </p:cNvPr>
          <p:cNvPicPr>
            <a:picLocks noChangeAspect="1"/>
          </p:cNvPicPr>
          <p:nvPr/>
        </p:nvPicPr>
        <p:blipFill>
          <a:blip r:embed="rId3"/>
          <a:stretch>
            <a:fillRect/>
          </a:stretch>
        </p:blipFill>
        <p:spPr>
          <a:xfrm>
            <a:off x="1914352" y="2913064"/>
            <a:ext cx="4804164" cy="2120708"/>
          </a:xfrm>
          <a:prstGeom prst="rect">
            <a:avLst/>
          </a:prstGeom>
        </p:spPr>
      </p:pic>
    </p:spTree>
    <p:extLst>
      <p:ext uri="{BB962C8B-B14F-4D97-AF65-F5344CB8AC3E}">
        <p14:creationId xmlns:p14="http://schemas.microsoft.com/office/powerpoint/2010/main" val="3069648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A63010"/>
          </a:solidFill>
          <a:ln w="12700">
            <a:solidFill>
              <a:srgbClr val="A63010"/>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KEY RESULTS: DUAL IMMUNOSUPPRESSIVE BARRIER  ·  NB06</a:t>
            </a:r>
            <a:endParaRPr lang="en-US" sz="1600" dirty="0"/>
          </a:p>
        </p:txBody>
      </p:sp>
      <p:sp>
        <p:nvSpPr>
          <p:cNvPr id="4" name="Text 2"/>
          <p:cNvSpPr/>
          <p:nvPr/>
        </p:nvSpPr>
        <p:spPr>
          <a:xfrm>
            <a:off x="274320" y="694944"/>
            <a:ext cx="8595360" cy="219456"/>
          </a:xfrm>
          <a:prstGeom prst="rect">
            <a:avLst/>
          </a:prstGeom>
          <a:noFill/>
          <a:ln/>
        </p:spPr>
        <p:txBody>
          <a:bodyPr wrap="square" rtlCol="0" anchor="ctr"/>
          <a:lstStyle/>
          <a:p>
            <a:pPr marL="0" indent="0">
              <a:buNone/>
            </a:pPr>
            <a:r>
              <a:rPr lang="en-US" sz="900" i="1" dirty="0">
                <a:solidFill>
                  <a:srgbClr val="8A9CB0"/>
                </a:solidFill>
                <a:latin typeface="Calibri" pitchFamily="34" charset="0"/>
                <a:ea typeface="Calibri" pitchFamily="34" charset="-122"/>
                <a:cs typeface="Calibri" pitchFamily="34" charset="-120"/>
              </a:rPr>
              <a:t>39 curated LR pairs  ·  8 TME pathways </a:t>
            </a:r>
            <a:endParaRPr lang="en-US" sz="900" dirty="0"/>
          </a:p>
        </p:txBody>
      </p:sp>
      <p:grpSp>
        <p:nvGrpSpPr>
          <p:cNvPr id="36" name="Group 35">
            <a:extLst>
              <a:ext uri="{FF2B5EF4-FFF2-40B4-BE49-F238E27FC236}">
                <a16:creationId xmlns:a16="http://schemas.microsoft.com/office/drawing/2014/main" id="{3C224361-E1B7-6116-BD84-D30F81E5EC78}"/>
              </a:ext>
            </a:extLst>
          </p:cNvPr>
          <p:cNvGrpSpPr/>
          <p:nvPr/>
        </p:nvGrpSpPr>
        <p:grpSpPr>
          <a:xfrm>
            <a:off x="232273" y="925326"/>
            <a:ext cx="4114800" cy="2026403"/>
            <a:chOff x="274320" y="1005840"/>
            <a:chExt cx="4114800" cy="2026403"/>
          </a:xfrm>
        </p:grpSpPr>
        <p:grpSp>
          <p:nvGrpSpPr>
            <p:cNvPr id="28" name="Group 27">
              <a:extLst>
                <a:ext uri="{FF2B5EF4-FFF2-40B4-BE49-F238E27FC236}">
                  <a16:creationId xmlns:a16="http://schemas.microsoft.com/office/drawing/2014/main" id="{33ED51BC-8351-1626-6795-4460026A9FB8}"/>
                </a:ext>
              </a:extLst>
            </p:cNvPr>
            <p:cNvGrpSpPr/>
            <p:nvPr/>
          </p:nvGrpSpPr>
          <p:grpSpPr>
            <a:xfrm>
              <a:off x="274320" y="1005840"/>
              <a:ext cx="4114800" cy="2026403"/>
              <a:chOff x="274320" y="1005840"/>
              <a:chExt cx="4114800" cy="2212848"/>
            </a:xfrm>
          </p:grpSpPr>
          <p:sp>
            <p:nvSpPr>
              <p:cNvPr id="5" name="Shape 3"/>
              <p:cNvSpPr/>
              <p:nvPr/>
            </p:nvSpPr>
            <p:spPr>
              <a:xfrm>
                <a:off x="274320" y="1005840"/>
                <a:ext cx="4114800" cy="2212848"/>
              </a:xfrm>
              <a:prstGeom prst="rect">
                <a:avLst/>
              </a:prstGeom>
              <a:solidFill>
                <a:srgbClr val="132236"/>
              </a:solidFill>
              <a:ln w="2794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6" name="Shape 4"/>
              <p:cNvSpPr/>
              <p:nvPr/>
            </p:nvSpPr>
            <p:spPr>
              <a:xfrm>
                <a:off x="274320" y="1005840"/>
                <a:ext cx="4114800" cy="420624"/>
              </a:xfrm>
              <a:prstGeom prst="rect">
                <a:avLst/>
              </a:prstGeom>
              <a:solidFill>
                <a:srgbClr val="A63010"/>
              </a:solidFill>
              <a:ln w="12700">
                <a:solidFill>
                  <a:srgbClr val="A63010"/>
                </a:solidFill>
                <a:prstDash val="solid"/>
              </a:ln>
            </p:spPr>
            <p:txBody>
              <a:bodyPr/>
              <a:lstStyle/>
              <a:p>
                <a:endParaRPr lang="en-US"/>
              </a:p>
            </p:txBody>
          </p:sp>
          <p:sp>
            <p:nvSpPr>
              <p:cNvPr id="7" name="Text 5"/>
              <p:cNvSpPr/>
              <p:nvPr/>
            </p:nvSpPr>
            <p:spPr>
              <a:xfrm>
                <a:off x="384048" y="1024128"/>
                <a:ext cx="3895344" cy="384048"/>
              </a:xfrm>
              <a:prstGeom prst="rect">
                <a:avLst/>
              </a:prstGeom>
              <a:noFill/>
              <a:ln/>
            </p:spPr>
            <p:txBody>
              <a:bodyPr wrap="square"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LOCK 1  —  IMMUNE CHECKPOINT (The Shield)</a:t>
                </a:r>
                <a:endParaRPr lang="en-US" sz="1100" dirty="0"/>
              </a:p>
            </p:txBody>
          </p:sp>
          <p:sp>
            <p:nvSpPr>
              <p:cNvPr id="8" name="Text 6"/>
              <p:cNvSpPr/>
              <p:nvPr/>
            </p:nvSpPr>
            <p:spPr>
              <a:xfrm>
                <a:off x="384048" y="1517904"/>
                <a:ext cx="3895344" cy="310896"/>
              </a:xfrm>
              <a:prstGeom prst="rect">
                <a:avLst/>
              </a:prstGeom>
              <a:noFill/>
              <a:ln/>
            </p:spPr>
            <p:txBody>
              <a:bodyPr wrap="square" rtlCol="0" anchor="ctr"/>
              <a:lstStyle/>
              <a:p>
                <a:pPr marL="0" indent="0">
                  <a:buNone/>
                </a:pPr>
                <a:r>
                  <a:rPr lang="en-US" sz="1600" b="1" dirty="0">
                    <a:solidFill>
                      <a:srgbClr val="A63010"/>
                    </a:solidFill>
                    <a:latin typeface="Georgia" pitchFamily="34" charset="0"/>
                    <a:ea typeface="Georgia" pitchFamily="34" charset="-122"/>
                    <a:cs typeface="Georgia" pitchFamily="34" charset="-120"/>
                  </a:rPr>
                  <a:t>PD-L1 → PD-1</a:t>
                </a:r>
                <a:endParaRPr lang="en-US" sz="1600" dirty="0"/>
              </a:p>
            </p:txBody>
          </p:sp>
          <p:sp>
            <p:nvSpPr>
              <p:cNvPr id="9" name="Text 7"/>
              <p:cNvSpPr/>
              <p:nvPr/>
            </p:nvSpPr>
            <p:spPr>
              <a:xfrm>
                <a:off x="384048" y="1865376"/>
                <a:ext cx="3895344" cy="694944"/>
              </a:xfrm>
              <a:prstGeom prst="rect">
                <a:avLst/>
              </a:prstGeom>
              <a:noFill/>
              <a:ln/>
            </p:spPr>
            <p:txBody>
              <a:bodyPr wrap="square" rtlCol="0" anchor="ctr"/>
              <a:lstStyle/>
              <a:p>
                <a:pPr marL="0" indent="0">
                  <a:buNone/>
                </a:pPr>
                <a:r>
                  <a:rPr lang="en-US" sz="1000" dirty="0">
                    <a:solidFill>
                      <a:srgbClr val="8A9CB0"/>
                    </a:solidFill>
                    <a:latin typeface="Calibri" pitchFamily="34" charset="0"/>
                    <a:ea typeface="Calibri" pitchFamily="34" charset="-122"/>
                    <a:cs typeface="Calibri" pitchFamily="34" charset="-120"/>
                  </a:rPr>
                  <a:t>Tumour cells express PD-L1. Binds PD-1 on T cells. Functionally switches off cytotoxic response. T cell is PRESENT but cannot fire — deactivated at point of contact.</a:t>
                </a:r>
                <a:endParaRPr lang="en-US" sz="1000" dirty="0"/>
              </a:p>
            </p:txBody>
          </p:sp>
          <p:sp>
            <p:nvSpPr>
              <p:cNvPr id="10" name="Shape 8"/>
              <p:cNvSpPr/>
              <p:nvPr/>
            </p:nvSpPr>
            <p:spPr>
              <a:xfrm>
                <a:off x="384048" y="2615184"/>
                <a:ext cx="3895344" cy="512064"/>
              </a:xfrm>
              <a:prstGeom prst="rect">
                <a:avLst/>
              </a:prstGeom>
              <a:solidFill>
                <a:srgbClr val="1E0A08"/>
              </a:solidFill>
              <a:ln w="12700">
                <a:solidFill>
                  <a:srgbClr val="5A1A10"/>
                </a:solidFill>
                <a:prstDash val="solid"/>
              </a:ln>
            </p:spPr>
            <p:txBody>
              <a:bodyPr/>
              <a:lstStyle/>
              <a:p>
                <a:endParaRPr lang="en-US"/>
              </a:p>
            </p:txBody>
          </p:sp>
        </p:grpSp>
        <p:sp>
          <p:nvSpPr>
            <p:cNvPr id="11" name="Text 9"/>
            <p:cNvSpPr/>
            <p:nvPr/>
          </p:nvSpPr>
          <p:spPr>
            <a:xfrm>
              <a:off x="475488" y="2513938"/>
              <a:ext cx="3712464" cy="365760"/>
            </a:xfrm>
            <a:prstGeom prst="rect">
              <a:avLst/>
            </a:prstGeom>
            <a:noFill/>
            <a:ln/>
          </p:spPr>
          <p:txBody>
            <a:bodyPr wrap="square" rtlCol="0" anchor="ctr"/>
            <a:lstStyle/>
            <a:p>
              <a:pPr marL="0" indent="0">
                <a:buNone/>
              </a:pPr>
              <a:r>
                <a:rPr lang="en-US" sz="900" dirty="0">
                  <a:solidFill>
                    <a:srgbClr val="A63010"/>
                  </a:solidFill>
                  <a:latin typeface="Calibri" pitchFamily="34" charset="0"/>
                  <a:ea typeface="Calibri" pitchFamily="34" charset="-122"/>
                  <a:cs typeface="Calibri" pitchFamily="34" charset="-120"/>
                </a:rPr>
                <a:t>Also: CD80→CTLA4  ·  LAG3→MHC-II  ·  TIGIT→PVR</a:t>
              </a:r>
              <a:endParaRPr lang="en-US" sz="900" dirty="0"/>
            </a:p>
          </p:txBody>
        </p:sp>
      </p:grpSp>
      <p:grpSp>
        <p:nvGrpSpPr>
          <p:cNvPr id="48" name="Group 47">
            <a:extLst>
              <a:ext uri="{FF2B5EF4-FFF2-40B4-BE49-F238E27FC236}">
                <a16:creationId xmlns:a16="http://schemas.microsoft.com/office/drawing/2014/main" id="{E30E89DD-99F1-A544-EA02-82785225E97B}"/>
              </a:ext>
            </a:extLst>
          </p:cNvPr>
          <p:cNvGrpSpPr/>
          <p:nvPr/>
        </p:nvGrpSpPr>
        <p:grpSpPr>
          <a:xfrm>
            <a:off x="4754880" y="912507"/>
            <a:ext cx="4114800" cy="2039222"/>
            <a:chOff x="4754880" y="1005840"/>
            <a:chExt cx="4114800" cy="2212848"/>
          </a:xfrm>
        </p:grpSpPr>
        <p:sp>
          <p:nvSpPr>
            <p:cNvPr id="12" name="Shape 10"/>
            <p:cNvSpPr/>
            <p:nvPr/>
          </p:nvSpPr>
          <p:spPr>
            <a:xfrm>
              <a:off x="4754880" y="1005840"/>
              <a:ext cx="4114800" cy="2212848"/>
            </a:xfrm>
            <a:prstGeom prst="rect">
              <a:avLst/>
            </a:prstGeom>
            <a:solidFill>
              <a:srgbClr val="132236"/>
            </a:solidFill>
            <a:ln w="2794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13" name="Shape 11"/>
            <p:cNvSpPr/>
            <p:nvPr/>
          </p:nvSpPr>
          <p:spPr>
            <a:xfrm>
              <a:off x="4754880" y="1005840"/>
              <a:ext cx="4114800" cy="420624"/>
            </a:xfrm>
            <a:prstGeom prst="rect">
              <a:avLst/>
            </a:prstGeom>
            <a:solidFill>
              <a:srgbClr val="1A2B45"/>
            </a:solidFill>
            <a:ln w="12700">
              <a:solidFill>
                <a:srgbClr val="1A2B45"/>
              </a:solidFill>
              <a:prstDash val="solid"/>
            </a:ln>
          </p:spPr>
          <p:txBody>
            <a:bodyPr/>
            <a:lstStyle/>
            <a:p>
              <a:endParaRPr lang="en-US"/>
            </a:p>
          </p:txBody>
        </p:sp>
        <p:sp>
          <p:nvSpPr>
            <p:cNvPr id="14" name="Text 12"/>
            <p:cNvSpPr/>
            <p:nvPr/>
          </p:nvSpPr>
          <p:spPr>
            <a:xfrm>
              <a:off x="4864608" y="1024128"/>
              <a:ext cx="3895344" cy="384048"/>
            </a:xfrm>
            <a:prstGeom prst="rect">
              <a:avLst/>
            </a:prstGeom>
            <a:noFill/>
            <a:ln/>
          </p:spPr>
          <p:txBody>
            <a:bodyPr wrap="square"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LOCK 2  —  TGF-β STROMAL BARRIER (The Wall)</a:t>
              </a:r>
              <a:endParaRPr lang="en-US" sz="1100" dirty="0"/>
            </a:p>
          </p:txBody>
        </p:sp>
        <p:sp>
          <p:nvSpPr>
            <p:cNvPr id="15" name="Text 13"/>
            <p:cNvSpPr/>
            <p:nvPr/>
          </p:nvSpPr>
          <p:spPr>
            <a:xfrm>
              <a:off x="4864608" y="1517904"/>
              <a:ext cx="3895344" cy="310896"/>
            </a:xfrm>
            <a:prstGeom prst="rect">
              <a:avLst/>
            </a:prstGeom>
            <a:noFill/>
            <a:ln/>
          </p:spPr>
          <p:txBody>
            <a:bodyPr wrap="square" rtlCol="0" anchor="ctr"/>
            <a:lstStyle/>
            <a:p>
              <a:pPr marL="0" indent="0">
                <a:buNone/>
              </a:pPr>
              <a:r>
                <a:rPr lang="en-US" sz="1600" b="1" dirty="0">
                  <a:solidFill>
                    <a:srgbClr val="4A9FD4"/>
                  </a:solidFill>
                  <a:latin typeface="Georgia" pitchFamily="34" charset="0"/>
                  <a:ea typeface="Georgia" pitchFamily="34" charset="-122"/>
                  <a:cs typeface="Georgia" pitchFamily="34" charset="-120"/>
                </a:rPr>
                <a:t>TGFβ1 → TGFBR1 / TGFBR2</a:t>
              </a:r>
              <a:endParaRPr lang="en-US" sz="1600" dirty="0"/>
            </a:p>
          </p:txBody>
        </p:sp>
        <p:sp>
          <p:nvSpPr>
            <p:cNvPr id="16" name="Text 14"/>
            <p:cNvSpPr/>
            <p:nvPr/>
          </p:nvSpPr>
          <p:spPr>
            <a:xfrm>
              <a:off x="4864608" y="1865376"/>
              <a:ext cx="3895344" cy="694944"/>
            </a:xfrm>
            <a:prstGeom prst="rect">
              <a:avLst/>
            </a:prstGeom>
            <a:noFill/>
            <a:ln/>
          </p:spPr>
          <p:txBody>
            <a:bodyPr wrap="square" rtlCol="0" anchor="ctr"/>
            <a:lstStyle/>
            <a:p>
              <a:pPr marL="0" indent="0">
                <a:buNone/>
              </a:pPr>
              <a:r>
                <a:rPr lang="en-US" sz="1000" dirty="0">
                  <a:solidFill>
                    <a:srgbClr val="8A9CB0"/>
                  </a:solidFill>
                  <a:latin typeface="Calibri" pitchFamily="34" charset="0"/>
                  <a:ea typeface="Calibri" pitchFamily="34" charset="-122"/>
                  <a:cs typeface="Calibri" pitchFamily="34" charset="-120"/>
                </a:rPr>
                <a:t>CAFs secrete TGF-β. Stiffens extracellular matrix. Physically blocks T cell migration. T cell WANTS to fight — but cannot pass through the stromal wall.</a:t>
              </a:r>
              <a:endParaRPr lang="en-US" sz="1000" dirty="0"/>
            </a:p>
          </p:txBody>
        </p:sp>
        <p:sp>
          <p:nvSpPr>
            <p:cNvPr id="17" name="Shape 15"/>
            <p:cNvSpPr/>
            <p:nvPr/>
          </p:nvSpPr>
          <p:spPr>
            <a:xfrm>
              <a:off x="4864608" y="2615184"/>
              <a:ext cx="3895344" cy="512064"/>
            </a:xfrm>
            <a:prstGeom prst="rect">
              <a:avLst/>
            </a:prstGeom>
            <a:solidFill>
              <a:srgbClr val="060F1E"/>
            </a:solidFill>
            <a:ln w="12700">
              <a:solidFill>
                <a:srgbClr val="1A3055"/>
              </a:solidFill>
              <a:prstDash val="solid"/>
            </a:ln>
          </p:spPr>
          <p:txBody>
            <a:bodyPr/>
            <a:lstStyle/>
            <a:p>
              <a:endParaRPr lang="en-US"/>
            </a:p>
          </p:txBody>
        </p:sp>
        <p:sp>
          <p:nvSpPr>
            <p:cNvPr id="18" name="Text 16"/>
            <p:cNvSpPr/>
            <p:nvPr/>
          </p:nvSpPr>
          <p:spPr>
            <a:xfrm>
              <a:off x="4956048" y="2679192"/>
              <a:ext cx="3712464" cy="365760"/>
            </a:xfrm>
            <a:prstGeom prst="rect">
              <a:avLst/>
            </a:prstGeom>
            <a:noFill/>
            <a:ln/>
          </p:spPr>
          <p:txBody>
            <a:bodyPr wrap="square" rtlCol="0" anchor="ctr"/>
            <a:lstStyle/>
            <a:p>
              <a:pPr marL="0" indent="0">
                <a:buNone/>
              </a:pPr>
              <a:r>
                <a:rPr lang="en-US" sz="900" dirty="0">
                  <a:solidFill>
                    <a:srgbClr val="4A9FD4"/>
                  </a:solidFill>
                  <a:latin typeface="Calibri" pitchFamily="34" charset="0"/>
                  <a:ea typeface="Calibri" pitchFamily="34" charset="-122"/>
                  <a:cs typeface="Calibri" pitchFamily="34" charset="-120"/>
                </a:rPr>
                <a:t>FN1→ITGB1 (score 1.06 — highest)  ·  COL1A1→ITGA1  ·  POSTN→ITGAV</a:t>
              </a:r>
              <a:endParaRPr lang="en-US" sz="900" dirty="0"/>
            </a:p>
          </p:txBody>
        </p:sp>
      </p:grpSp>
      <p:grpSp>
        <p:nvGrpSpPr>
          <p:cNvPr id="38" name="Group 37">
            <a:extLst>
              <a:ext uri="{FF2B5EF4-FFF2-40B4-BE49-F238E27FC236}">
                <a16:creationId xmlns:a16="http://schemas.microsoft.com/office/drawing/2014/main" id="{772AC2AC-A6CA-B7F8-3AE1-2D8CDDE8F57A}"/>
              </a:ext>
            </a:extLst>
          </p:cNvPr>
          <p:cNvGrpSpPr/>
          <p:nvPr/>
        </p:nvGrpSpPr>
        <p:grpSpPr>
          <a:xfrm>
            <a:off x="225552" y="3065022"/>
            <a:ext cx="4114800" cy="2026403"/>
            <a:chOff x="274320" y="1005840"/>
            <a:chExt cx="4114800" cy="2026403"/>
          </a:xfrm>
        </p:grpSpPr>
        <p:grpSp>
          <p:nvGrpSpPr>
            <p:cNvPr id="39" name="Group 38">
              <a:extLst>
                <a:ext uri="{FF2B5EF4-FFF2-40B4-BE49-F238E27FC236}">
                  <a16:creationId xmlns:a16="http://schemas.microsoft.com/office/drawing/2014/main" id="{EF7349CE-3B13-6760-7C9F-432136743425}"/>
                </a:ext>
              </a:extLst>
            </p:cNvPr>
            <p:cNvGrpSpPr/>
            <p:nvPr/>
          </p:nvGrpSpPr>
          <p:grpSpPr>
            <a:xfrm>
              <a:off x="274320" y="1005840"/>
              <a:ext cx="4114800" cy="2026403"/>
              <a:chOff x="274320" y="1005840"/>
              <a:chExt cx="4114800" cy="2212848"/>
            </a:xfrm>
          </p:grpSpPr>
          <p:sp>
            <p:nvSpPr>
              <p:cNvPr id="41" name="Shape 3">
                <a:extLst>
                  <a:ext uri="{FF2B5EF4-FFF2-40B4-BE49-F238E27FC236}">
                    <a16:creationId xmlns:a16="http://schemas.microsoft.com/office/drawing/2014/main" id="{B000FD22-3108-E386-BCC9-67224211384E}"/>
                  </a:ext>
                </a:extLst>
              </p:cNvPr>
              <p:cNvSpPr/>
              <p:nvPr/>
            </p:nvSpPr>
            <p:spPr>
              <a:xfrm>
                <a:off x="274320" y="1005840"/>
                <a:ext cx="4114800" cy="2212848"/>
              </a:xfrm>
              <a:prstGeom prst="rect">
                <a:avLst/>
              </a:prstGeom>
              <a:solidFill>
                <a:srgbClr val="132236"/>
              </a:solidFill>
              <a:ln w="2794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42" name="Shape 4">
                <a:extLst>
                  <a:ext uri="{FF2B5EF4-FFF2-40B4-BE49-F238E27FC236}">
                    <a16:creationId xmlns:a16="http://schemas.microsoft.com/office/drawing/2014/main" id="{9790FBF1-7832-533E-EC01-E0B03FACE4C1}"/>
                  </a:ext>
                </a:extLst>
              </p:cNvPr>
              <p:cNvSpPr/>
              <p:nvPr/>
            </p:nvSpPr>
            <p:spPr>
              <a:xfrm>
                <a:off x="274320" y="1005840"/>
                <a:ext cx="4114800" cy="420624"/>
              </a:xfrm>
              <a:prstGeom prst="rect">
                <a:avLst/>
              </a:prstGeom>
              <a:solidFill>
                <a:srgbClr val="A63010"/>
              </a:solidFill>
              <a:ln w="12700">
                <a:solidFill>
                  <a:srgbClr val="A63010"/>
                </a:solidFill>
                <a:prstDash val="solid"/>
              </a:ln>
            </p:spPr>
            <p:txBody>
              <a:bodyPr/>
              <a:lstStyle/>
              <a:p>
                <a:endParaRPr lang="en-US"/>
              </a:p>
            </p:txBody>
          </p:sp>
          <p:sp>
            <p:nvSpPr>
              <p:cNvPr id="43" name="Text 5">
                <a:extLst>
                  <a:ext uri="{FF2B5EF4-FFF2-40B4-BE49-F238E27FC236}">
                    <a16:creationId xmlns:a16="http://schemas.microsoft.com/office/drawing/2014/main" id="{41365448-D036-FE67-A6A8-0CE500592859}"/>
                  </a:ext>
                </a:extLst>
              </p:cNvPr>
              <p:cNvSpPr/>
              <p:nvPr/>
            </p:nvSpPr>
            <p:spPr>
              <a:xfrm>
                <a:off x="384048" y="1024128"/>
                <a:ext cx="3895344" cy="384048"/>
              </a:xfrm>
              <a:prstGeom prst="rect">
                <a:avLst/>
              </a:prstGeom>
              <a:noFill/>
              <a:ln/>
            </p:spPr>
            <p:txBody>
              <a:bodyPr wrap="square"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LOCK 3  —  TLS RECRUITMENT (The Wall)</a:t>
                </a:r>
                <a:endParaRPr lang="en-US" sz="1100" dirty="0"/>
              </a:p>
            </p:txBody>
          </p:sp>
          <p:sp>
            <p:nvSpPr>
              <p:cNvPr id="44" name="Text 6">
                <a:extLst>
                  <a:ext uri="{FF2B5EF4-FFF2-40B4-BE49-F238E27FC236}">
                    <a16:creationId xmlns:a16="http://schemas.microsoft.com/office/drawing/2014/main" id="{3E063DFB-AEC5-378A-3D8B-87FE8DD0D87E}"/>
                  </a:ext>
                </a:extLst>
              </p:cNvPr>
              <p:cNvSpPr/>
              <p:nvPr/>
            </p:nvSpPr>
            <p:spPr>
              <a:xfrm>
                <a:off x="384048" y="1517904"/>
                <a:ext cx="3895344" cy="310896"/>
              </a:xfrm>
              <a:prstGeom prst="rect">
                <a:avLst/>
              </a:prstGeom>
              <a:noFill/>
              <a:ln/>
            </p:spPr>
            <p:txBody>
              <a:bodyPr wrap="square" rtlCol="0" anchor="ctr"/>
              <a:lstStyle/>
              <a:p>
                <a:pPr marL="0" indent="0">
                  <a:buNone/>
                </a:pPr>
                <a:r>
                  <a:rPr lang="en-US" sz="1600" b="1" dirty="0">
                    <a:solidFill>
                      <a:srgbClr val="A63010"/>
                    </a:solidFill>
                    <a:latin typeface="Georgia" pitchFamily="34" charset="0"/>
                    <a:ea typeface="Georgia" pitchFamily="34" charset="-122"/>
                    <a:cs typeface="Georgia" pitchFamily="34" charset="-120"/>
                  </a:rPr>
                  <a:t>CXCL13 → CXCR5</a:t>
                </a:r>
                <a:endParaRPr lang="en-US" sz="1600" dirty="0"/>
              </a:p>
            </p:txBody>
          </p:sp>
          <p:sp>
            <p:nvSpPr>
              <p:cNvPr id="45" name="Text 7">
                <a:extLst>
                  <a:ext uri="{FF2B5EF4-FFF2-40B4-BE49-F238E27FC236}">
                    <a16:creationId xmlns:a16="http://schemas.microsoft.com/office/drawing/2014/main" id="{C94545E2-71CB-4C8E-29FB-E9CE7CBAD5EB}"/>
                  </a:ext>
                </a:extLst>
              </p:cNvPr>
              <p:cNvSpPr/>
              <p:nvPr/>
            </p:nvSpPr>
            <p:spPr>
              <a:xfrm>
                <a:off x="384048" y="1865376"/>
                <a:ext cx="3895344" cy="694944"/>
              </a:xfrm>
              <a:prstGeom prst="rect">
                <a:avLst/>
              </a:prstGeom>
              <a:noFill/>
              <a:ln/>
            </p:spPr>
            <p:txBody>
              <a:bodyPr wrap="square" rtlCol="0" anchor="ctr"/>
              <a:lstStyle/>
              <a:p>
                <a:r>
                  <a:rPr lang="en-US" sz="1000" dirty="0">
                    <a:solidFill>
                      <a:schemeClr val="bg1"/>
                    </a:solidFill>
                  </a:rPr>
                  <a:t>Spatial barriers and macrophage signaling drive "patchy" immune-excluded tumor resistance</a:t>
                </a:r>
              </a:p>
            </p:txBody>
          </p:sp>
          <p:sp>
            <p:nvSpPr>
              <p:cNvPr id="46" name="Shape 8">
                <a:extLst>
                  <a:ext uri="{FF2B5EF4-FFF2-40B4-BE49-F238E27FC236}">
                    <a16:creationId xmlns:a16="http://schemas.microsoft.com/office/drawing/2014/main" id="{7C592A80-9869-4460-053F-42AC3A4253E6}"/>
                  </a:ext>
                </a:extLst>
              </p:cNvPr>
              <p:cNvSpPr/>
              <p:nvPr/>
            </p:nvSpPr>
            <p:spPr>
              <a:xfrm>
                <a:off x="384048" y="2615184"/>
                <a:ext cx="3895344" cy="512064"/>
              </a:xfrm>
              <a:prstGeom prst="rect">
                <a:avLst/>
              </a:prstGeom>
              <a:solidFill>
                <a:srgbClr val="1E0A08"/>
              </a:solidFill>
              <a:ln w="12700">
                <a:solidFill>
                  <a:srgbClr val="5A1A10"/>
                </a:solidFill>
                <a:prstDash val="solid"/>
              </a:ln>
            </p:spPr>
            <p:txBody>
              <a:bodyPr/>
              <a:lstStyle/>
              <a:p>
                <a:endParaRPr lang="en-US"/>
              </a:p>
            </p:txBody>
          </p:sp>
        </p:grpSp>
        <p:sp>
          <p:nvSpPr>
            <p:cNvPr id="40" name="Text 9">
              <a:extLst>
                <a:ext uri="{FF2B5EF4-FFF2-40B4-BE49-F238E27FC236}">
                  <a16:creationId xmlns:a16="http://schemas.microsoft.com/office/drawing/2014/main" id="{6ACA2C14-A0B8-6992-9616-9F36024CFD5E}"/>
                </a:ext>
              </a:extLst>
            </p:cNvPr>
            <p:cNvSpPr/>
            <p:nvPr/>
          </p:nvSpPr>
          <p:spPr>
            <a:xfrm>
              <a:off x="475488" y="2513938"/>
              <a:ext cx="3712464" cy="365760"/>
            </a:xfrm>
            <a:prstGeom prst="rect">
              <a:avLst/>
            </a:prstGeom>
            <a:noFill/>
            <a:ln/>
          </p:spPr>
          <p:txBody>
            <a:bodyPr wrap="square" rtlCol="0" anchor="ctr"/>
            <a:lstStyle/>
            <a:p>
              <a:pPr marL="0" indent="0">
                <a:buNone/>
              </a:pPr>
              <a:r>
                <a:rPr lang="en-US" sz="900" dirty="0">
                  <a:solidFill>
                    <a:srgbClr val="A63010"/>
                  </a:solidFill>
                  <a:latin typeface="Calibri" pitchFamily="34" charset="0"/>
                  <a:ea typeface="Calibri" pitchFamily="34" charset="-122"/>
                  <a:cs typeface="Calibri" pitchFamily="34" charset="-120"/>
                </a:rPr>
                <a:t>Also: CXCL12→CXCR4</a:t>
              </a:r>
              <a:endParaRPr lang="en-US" sz="900" dirty="0"/>
            </a:p>
          </p:txBody>
        </p:sp>
      </p:grpSp>
      <p:pic>
        <p:nvPicPr>
          <p:cNvPr id="50" name="Picture 49">
            <a:extLst>
              <a:ext uri="{FF2B5EF4-FFF2-40B4-BE49-F238E27FC236}">
                <a16:creationId xmlns:a16="http://schemas.microsoft.com/office/drawing/2014/main" id="{C25B286D-D0E5-4117-B24D-C19DDECB5B42}"/>
              </a:ext>
            </a:extLst>
          </p:cNvPr>
          <p:cNvPicPr>
            <a:picLocks noChangeAspect="1"/>
          </p:cNvPicPr>
          <p:nvPr/>
        </p:nvPicPr>
        <p:blipFill>
          <a:blip r:embed="rId3"/>
          <a:stretch>
            <a:fillRect/>
          </a:stretch>
        </p:blipFill>
        <p:spPr>
          <a:xfrm>
            <a:off x="4956048" y="3054526"/>
            <a:ext cx="3712464" cy="1993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KEY RESULTS: IMMUNE EXCLUSION &amp; TLS  </a:t>
            </a:r>
            <a:endParaRPr lang="en-US" sz="1700" dirty="0"/>
          </a:p>
        </p:txBody>
      </p:sp>
      <p:sp>
        <p:nvSpPr>
          <p:cNvPr id="4" name="Text 2"/>
          <p:cNvSpPr/>
          <p:nvPr/>
        </p:nvSpPr>
        <p:spPr>
          <a:xfrm>
            <a:off x="274320" y="749808"/>
            <a:ext cx="8595360" cy="274320"/>
          </a:xfrm>
          <a:prstGeom prst="rect">
            <a:avLst/>
          </a:prstGeom>
          <a:noFill/>
          <a:ln/>
        </p:spPr>
        <p:txBody>
          <a:bodyPr wrap="square" rtlCol="0" anchor="ctr"/>
          <a:lstStyle/>
          <a:p>
            <a:pPr marL="0" indent="0">
              <a:buNone/>
            </a:pPr>
            <a:r>
              <a:rPr lang="en-US" sz="1050" b="1" dirty="0">
                <a:solidFill>
                  <a:srgbClr val="0B6E63"/>
                </a:solidFill>
                <a:latin typeface="Calibri" pitchFamily="34" charset="0"/>
                <a:ea typeface="Calibri" pitchFamily="34" charset="-122"/>
                <a:cs typeface="Calibri" pitchFamily="34" charset="-120"/>
              </a:rPr>
              <a:t>3 INDEPENDENT TLS CONFIRMATIONS — SAME TISSUE LOCATION</a:t>
            </a:r>
            <a:endParaRPr lang="en-US" sz="1050" dirty="0"/>
          </a:p>
        </p:txBody>
      </p:sp>
      <p:sp>
        <p:nvSpPr>
          <p:cNvPr id="5" name="Shape 3"/>
          <p:cNvSpPr/>
          <p:nvPr/>
        </p:nvSpPr>
        <p:spPr>
          <a:xfrm>
            <a:off x="274320" y="1078992"/>
            <a:ext cx="2834640" cy="1737360"/>
          </a:xfrm>
          <a:prstGeom prst="rect">
            <a:avLst/>
          </a:prstGeom>
          <a:solidFill>
            <a:srgbClr val="FFFFFF"/>
          </a:solidFill>
          <a:ln w="2286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6" name="Shape 4"/>
          <p:cNvSpPr/>
          <p:nvPr/>
        </p:nvSpPr>
        <p:spPr>
          <a:xfrm>
            <a:off x="274320" y="1078992"/>
            <a:ext cx="2834640" cy="365760"/>
          </a:xfrm>
          <a:prstGeom prst="rect">
            <a:avLst/>
          </a:prstGeom>
          <a:solidFill>
            <a:srgbClr val="0B6E63"/>
          </a:solidFill>
          <a:ln w="12700">
            <a:solidFill>
              <a:srgbClr val="0B6E63"/>
            </a:solidFill>
            <a:prstDash val="solid"/>
          </a:ln>
        </p:spPr>
        <p:txBody>
          <a:bodyPr/>
          <a:lstStyle/>
          <a:p>
            <a:endParaRPr lang="en-US"/>
          </a:p>
        </p:txBody>
      </p:sp>
      <p:sp>
        <p:nvSpPr>
          <p:cNvPr id="7" name="Text 5"/>
          <p:cNvSpPr/>
          <p:nvPr/>
        </p:nvSpPr>
        <p:spPr>
          <a:xfrm>
            <a:off x="329184" y="1097280"/>
            <a:ext cx="384048" cy="329184"/>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8" name="Text 6"/>
          <p:cNvSpPr/>
          <p:nvPr/>
        </p:nvSpPr>
        <p:spPr>
          <a:xfrm>
            <a:off x="713232" y="1133856"/>
            <a:ext cx="233172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Moran's I (NB04)</a:t>
            </a:r>
            <a:endParaRPr lang="en-US" sz="950" dirty="0"/>
          </a:p>
        </p:txBody>
      </p:sp>
      <p:sp>
        <p:nvSpPr>
          <p:cNvPr id="9" name="Text 7"/>
          <p:cNvSpPr/>
          <p:nvPr/>
        </p:nvSpPr>
        <p:spPr>
          <a:xfrm>
            <a:off x="365760" y="1517904"/>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IGLC2 #2, IGHG3 #4, IGKC #6</a:t>
            </a:r>
            <a:endParaRPr lang="en-US" sz="850" dirty="0"/>
          </a:p>
        </p:txBody>
      </p:sp>
      <p:sp>
        <p:nvSpPr>
          <p:cNvPr id="10" name="Text 8"/>
          <p:cNvSpPr/>
          <p:nvPr/>
        </p:nvSpPr>
        <p:spPr>
          <a:xfrm>
            <a:off x="365760" y="1828800"/>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All plasma cell markers</a:t>
            </a:r>
            <a:endParaRPr lang="en-US" sz="850" dirty="0"/>
          </a:p>
        </p:txBody>
      </p:sp>
      <p:sp>
        <p:nvSpPr>
          <p:cNvPr id="11" name="Text 9"/>
          <p:cNvSpPr/>
          <p:nvPr/>
        </p:nvSpPr>
        <p:spPr>
          <a:xfrm>
            <a:off x="365760" y="2139696"/>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Spatially concentrated — not scattered</a:t>
            </a:r>
            <a:endParaRPr lang="en-US" sz="850" dirty="0"/>
          </a:p>
        </p:txBody>
      </p:sp>
      <p:sp>
        <p:nvSpPr>
          <p:cNvPr id="12" name="Text 10"/>
          <p:cNvSpPr/>
          <p:nvPr/>
        </p:nvSpPr>
        <p:spPr>
          <a:xfrm>
            <a:off x="365760" y="2450592"/>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FDR &lt; 0.05 · 100 permutations</a:t>
            </a:r>
            <a:endParaRPr lang="en-US" sz="850" dirty="0"/>
          </a:p>
        </p:txBody>
      </p:sp>
      <p:sp>
        <p:nvSpPr>
          <p:cNvPr id="13" name="Shape 11"/>
          <p:cNvSpPr/>
          <p:nvPr/>
        </p:nvSpPr>
        <p:spPr>
          <a:xfrm>
            <a:off x="3227832" y="1078992"/>
            <a:ext cx="2834640" cy="1737360"/>
          </a:xfrm>
          <a:prstGeom prst="rect">
            <a:avLst/>
          </a:prstGeom>
          <a:solidFill>
            <a:srgbClr val="FFFFFF"/>
          </a:solidFill>
          <a:ln w="2286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14" name="Shape 12"/>
          <p:cNvSpPr/>
          <p:nvPr/>
        </p:nvSpPr>
        <p:spPr>
          <a:xfrm>
            <a:off x="3227832" y="1078992"/>
            <a:ext cx="2834640" cy="365760"/>
          </a:xfrm>
          <a:prstGeom prst="rect">
            <a:avLst/>
          </a:prstGeom>
          <a:solidFill>
            <a:srgbClr val="1A2B45"/>
          </a:solidFill>
          <a:ln w="12700">
            <a:solidFill>
              <a:srgbClr val="1A2B45"/>
            </a:solidFill>
            <a:prstDash val="solid"/>
          </a:ln>
        </p:spPr>
        <p:txBody>
          <a:bodyPr/>
          <a:lstStyle/>
          <a:p>
            <a:endParaRPr lang="en-US"/>
          </a:p>
        </p:txBody>
      </p:sp>
      <p:sp>
        <p:nvSpPr>
          <p:cNvPr id="15" name="Text 13"/>
          <p:cNvSpPr/>
          <p:nvPr/>
        </p:nvSpPr>
        <p:spPr>
          <a:xfrm>
            <a:off x="3282696" y="1097280"/>
            <a:ext cx="502920" cy="329184"/>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6" name="Text 14"/>
          <p:cNvSpPr/>
          <p:nvPr/>
        </p:nvSpPr>
        <p:spPr>
          <a:xfrm>
            <a:off x="3666744" y="1133856"/>
            <a:ext cx="233172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Cell Scoring (NB05)</a:t>
            </a:r>
            <a:endParaRPr lang="en-US" sz="950" dirty="0"/>
          </a:p>
        </p:txBody>
      </p:sp>
      <p:sp>
        <p:nvSpPr>
          <p:cNvPr id="17" name="Text 15"/>
          <p:cNvSpPr/>
          <p:nvPr/>
        </p:nvSpPr>
        <p:spPr>
          <a:xfrm>
            <a:off x="3319272" y="1517904"/>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Plasma cell score = 20.9 (peak)</a:t>
            </a:r>
            <a:endParaRPr lang="en-US" sz="850" dirty="0"/>
          </a:p>
        </p:txBody>
      </p:sp>
      <p:sp>
        <p:nvSpPr>
          <p:cNvPr id="18" name="Text 16"/>
          <p:cNvSpPr/>
          <p:nvPr/>
        </p:nvSpPr>
        <p:spPr>
          <a:xfrm>
            <a:off x="3319272" y="1828800"/>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B cell enrichment same zone</a:t>
            </a:r>
            <a:endParaRPr lang="en-US" sz="850" dirty="0"/>
          </a:p>
        </p:txBody>
      </p:sp>
      <p:sp>
        <p:nvSpPr>
          <p:cNvPr id="19" name="Text 17"/>
          <p:cNvSpPr/>
          <p:nvPr/>
        </p:nvSpPr>
        <p:spPr>
          <a:xfrm>
            <a:off x="3319272" y="2139696"/>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TLS signature (CXCL13, CCL19) co-enriched</a:t>
            </a:r>
            <a:endParaRPr lang="en-US" sz="850" dirty="0"/>
          </a:p>
        </p:txBody>
      </p:sp>
      <p:sp>
        <p:nvSpPr>
          <p:cNvPr id="20" name="Text 18"/>
          <p:cNvSpPr/>
          <p:nvPr/>
        </p:nvSpPr>
        <p:spPr>
          <a:xfrm>
            <a:off x="3319272" y="2450592"/>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5× higher than any other immune type</a:t>
            </a:r>
            <a:endParaRPr lang="en-US" sz="850" dirty="0"/>
          </a:p>
        </p:txBody>
      </p:sp>
      <p:sp>
        <p:nvSpPr>
          <p:cNvPr id="21" name="Shape 19"/>
          <p:cNvSpPr/>
          <p:nvPr/>
        </p:nvSpPr>
        <p:spPr>
          <a:xfrm>
            <a:off x="6181344" y="1078992"/>
            <a:ext cx="2834640" cy="1737360"/>
          </a:xfrm>
          <a:prstGeom prst="rect">
            <a:avLst/>
          </a:prstGeom>
          <a:solidFill>
            <a:srgbClr val="FFFFFF"/>
          </a:solidFill>
          <a:ln w="2286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22" name="Shape 20"/>
          <p:cNvSpPr/>
          <p:nvPr/>
        </p:nvSpPr>
        <p:spPr>
          <a:xfrm>
            <a:off x="6181344" y="1078992"/>
            <a:ext cx="2834640" cy="365760"/>
          </a:xfrm>
          <a:prstGeom prst="rect">
            <a:avLst/>
          </a:prstGeom>
          <a:solidFill>
            <a:srgbClr val="A63010"/>
          </a:solidFill>
          <a:ln w="12700">
            <a:solidFill>
              <a:srgbClr val="A63010"/>
            </a:solidFill>
            <a:prstDash val="solid"/>
          </a:ln>
        </p:spPr>
        <p:txBody>
          <a:bodyPr/>
          <a:lstStyle/>
          <a:p>
            <a:endParaRPr lang="en-US"/>
          </a:p>
        </p:txBody>
      </p:sp>
      <p:sp>
        <p:nvSpPr>
          <p:cNvPr id="23" name="Text 21"/>
          <p:cNvSpPr/>
          <p:nvPr/>
        </p:nvSpPr>
        <p:spPr>
          <a:xfrm>
            <a:off x="6236207" y="1097280"/>
            <a:ext cx="453761" cy="329184"/>
          </a:xfrm>
          <a:prstGeom prst="rect">
            <a:avLst/>
          </a:prstGeom>
          <a:noFill/>
          <a:ln/>
        </p:spPr>
        <p:txBody>
          <a:bodyPr wrap="square"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24" name="Text 22"/>
          <p:cNvSpPr/>
          <p:nvPr/>
        </p:nvSpPr>
        <p:spPr>
          <a:xfrm>
            <a:off x="6620256" y="1133856"/>
            <a:ext cx="233172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LR Communication (NB06)</a:t>
            </a:r>
            <a:endParaRPr lang="en-US" sz="950" dirty="0"/>
          </a:p>
        </p:txBody>
      </p:sp>
      <p:sp>
        <p:nvSpPr>
          <p:cNvPr id="25" name="Text 23"/>
          <p:cNvSpPr/>
          <p:nvPr/>
        </p:nvSpPr>
        <p:spPr>
          <a:xfrm>
            <a:off x="6272784" y="1517904"/>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CXCL13→CXCR5 confirmed p&lt;0.001</a:t>
            </a:r>
            <a:endParaRPr lang="en-US" sz="850" dirty="0"/>
          </a:p>
        </p:txBody>
      </p:sp>
      <p:sp>
        <p:nvSpPr>
          <p:cNvPr id="26" name="Text 24"/>
          <p:cNvSpPr/>
          <p:nvPr/>
        </p:nvSpPr>
        <p:spPr>
          <a:xfrm>
            <a:off x="6272784" y="1828800"/>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500 permutation validated</a:t>
            </a:r>
            <a:endParaRPr lang="en-US" sz="850" dirty="0"/>
          </a:p>
        </p:txBody>
      </p:sp>
      <p:sp>
        <p:nvSpPr>
          <p:cNvPr id="27" name="Text 25"/>
          <p:cNvSpPr/>
          <p:nvPr/>
        </p:nvSpPr>
        <p:spPr>
          <a:xfrm>
            <a:off x="6272784" y="2139696"/>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THE canonical TLS-building chemokine</a:t>
            </a:r>
            <a:endParaRPr lang="en-US" sz="850" dirty="0"/>
          </a:p>
        </p:txBody>
      </p:sp>
      <p:sp>
        <p:nvSpPr>
          <p:cNvPr id="28" name="Text 26"/>
          <p:cNvSpPr/>
          <p:nvPr/>
        </p:nvSpPr>
        <p:spPr>
          <a:xfrm>
            <a:off x="6272784" y="2450592"/>
            <a:ext cx="2670048" cy="274320"/>
          </a:xfrm>
          <a:prstGeom prst="rect">
            <a:avLst/>
          </a:prstGeom>
          <a:noFill/>
          <a:ln/>
        </p:spPr>
        <p:txBody>
          <a:bodyPr wrap="square" rtlCol="0" anchor="ctr"/>
          <a:lstStyle/>
          <a:p>
            <a:pPr marL="342900" indent="-342900">
              <a:buSzPct val="100000"/>
              <a:buChar char="•"/>
            </a:pPr>
            <a:r>
              <a:rPr lang="en-US" sz="850" dirty="0">
                <a:solidFill>
                  <a:srgbClr val="3A4F65"/>
                </a:solidFill>
                <a:latin typeface="Calibri" pitchFamily="34" charset="0"/>
                <a:ea typeface="Calibri" pitchFamily="34" charset="-122"/>
                <a:cs typeface="Calibri" pitchFamily="34" charset="-120"/>
              </a:rPr>
              <a:t>Found in same perivascular zone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MOLECULAR SUBTYPE &amp; PATHWAY VALIDATION  ·  NB07</a:t>
            </a:r>
            <a:endParaRPr lang="en-US" sz="1700" dirty="0"/>
          </a:p>
        </p:txBody>
      </p:sp>
      <p:sp>
        <p:nvSpPr>
          <p:cNvPr id="4" name="Shape 2"/>
          <p:cNvSpPr/>
          <p:nvPr/>
        </p:nvSpPr>
        <p:spPr>
          <a:xfrm>
            <a:off x="274320" y="749808"/>
            <a:ext cx="4114800" cy="4224528"/>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5" name="Text 3"/>
          <p:cNvSpPr/>
          <p:nvPr/>
        </p:nvSpPr>
        <p:spPr>
          <a:xfrm>
            <a:off x="384048" y="822960"/>
            <a:ext cx="3895344" cy="274320"/>
          </a:xfrm>
          <a:prstGeom prst="rect">
            <a:avLst/>
          </a:prstGeom>
          <a:noFill/>
          <a:ln/>
        </p:spPr>
        <p:txBody>
          <a:bodyPr wrap="square" rtlCol="0" anchor="ctr"/>
          <a:lstStyle/>
          <a:p>
            <a:pPr marL="0" indent="0">
              <a:buNone/>
            </a:pPr>
            <a:r>
              <a:rPr lang="en-US" sz="1100" b="1" dirty="0">
                <a:solidFill>
                  <a:srgbClr val="1A2B45"/>
                </a:solidFill>
                <a:latin typeface="Calibri" pitchFamily="34" charset="0"/>
                <a:ea typeface="Calibri" pitchFamily="34" charset="-122"/>
                <a:cs typeface="Calibri" pitchFamily="34" charset="-120"/>
              </a:rPr>
              <a:t>PAM50 MOLECULAR SUBTYPING</a:t>
            </a:r>
            <a:endParaRPr lang="en-US" sz="1100" dirty="0"/>
          </a:p>
        </p:txBody>
      </p:sp>
      <p:sp>
        <p:nvSpPr>
          <p:cNvPr id="6" name="Text 4"/>
          <p:cNvSpPr/>
          <p:nvPr/>
        </p:nvSpPr>
        <p:spPr>
          <a:xfrm>
            <a:off x="384048" y="1115568"/>
            <a:ext cx="3895344" cy="256032"/>
          </a:xfrm>
          <a:prstGeom prst="rect">
            <a:avLst/>
          </a:prstGeom>
          <a:noFill/>
          <a:ln/>
        </p:spPr>
        <p:txBody>
          <a:bodyPr wrap="square" rtlCol="0" anchor="ctr"/>
          <a:lstStyle/>
          <a:p>
            <a:pPr marL="0" indent="0">
              <a:buNone/>
            </a:pPr>
            <a:r>
              <a:rPr lang="en-US" sz="950" i="1" dirty="0">
                <a:solidFill>
                  <a:srgbClr val="8A9CB0"/>
                </a:solidFill>
                <a:latin typeface="Calibri" pitchFamily="34" charset="0"/>
                <a:ea typeface="Calibri" pitchFamily="34" charset="-122"/>
                <a:cs typeface="Calibri" pitchFamily="34" charset="-120"/>
              </a:rPr>
              <a:t>Clinically validated 50-gene classifier · Scored per Visium spot spatially</a:t>
            </a:r>
            <a:endParaRPr lang="en-US" sz="950" dirty="0"/>
          </a:p>
        </p:txBody>
      </p:sp>
      <p:sp>
        <p:nvSpPr>
          <p:cNvPr id="7" name="Shape 5"/>
          <p:cNvSpPr/>
          <p:nvPr/>
        </p:nvSpPr>
        <p:spPr>
          <a:xfrm>
            <a:off x="347472" y="1444752"/>
            <a:ext cx="3986784" cy="493776"/>
          </a:xfrm>
          <a:prstGeom prst="rect">
            <a:avLst/>
          </a:prstGeom>
          <a:solidFill>
            <a:srgbClr val="E0F5F2"/>
          </a:solidFill>
          <a:ln w="19050">
            <a:solidFill>
              <a:srgbClr val="0B6E63"/>
            </a:solidFill>
            <a:prstDash val="solid"/>
          </a:ln>
        </p:spPr>
        <p:txBody>
          <a:bodyPr/>
          <a:lstStyle/>
          <a:p>
            <a:endParaRPr lang="en-US"/>
          </a:p>
        </p:txBody>
      </p:sp>
      <p:sp>
        <p:nvSpPr>
          <p:cNvPr id="8" name="Text 6"/>
          <p:cNvSpPr/>
          <p:nvPr/>
        </p:nvSpPr>
        <p:spPr>
          <a:xfrm>
            <a:off x="438912" y="1481328"/>
            <a:ext cx="1371600" cy="237744"/>
          </a:xfrm>
          <a:prstGeom prst="rect">
            <a:avLst/>
          </a:prstGeom>
          <a:noFill/>
          <a:ln/>
        </p:spPr>
        <p:txBody>
          <a:bodyPr wrap="square" rtlCol="0" anchor="ctr"/>
          <a:lstStyle/>
          <a:p>
            <a:pPr marL="0" indent="0">
              <a:buNone/>
            </a:pPr>
            <a:r>
              <a:rPr lang="en-US" sz="1100" b="1" dirty="0">
                <a:solidFill>
                  <a:srgbClr val="0B6E63"/>
                </a:solidFill>
                <a:latin typeface="Calibri" pitchFamily="34" charset="0"/>
                <a:ea typeface="Calibri" pitchFamily="34" charset="-122"/>
                <a:cs typeface="Calibri" pitchFamily="34" charset="-120"/>
              </a:rPr>
              <a:t>Luminal A</a:t>
            </a:r>
            <a:endParaRPr lang="en-US" sz="1100" dirty="0"/>
          </a:p>
        </p:txBody>
      </p:sp>
      <p:sp>
        <p:nvSpPr>
          <p:cNvPr id="9" name="Shape 7"/>
          <p:cNvSpPr/>
          <p:nvPr/>
        </p:nvSpPr>
        <p:spPr>
          <a:xfrm>
            <a:off x="1828800" y="1554480"/>
            <a:ext cx="1828800" cy="182880"/>
          </a:xfrm>
          <a:prstGeom prst="rect">
            <a:avLst/>
          </a:prstGeom>
          <a:solidFill>
            <a:srgbClr val="0B6E63"/>
          </a:solidFill>
          <a:ln w="12700">
            <a:solidFill>
              <a:srgbClr val="0B6E63"/>
            </a:solidFill>
            <a:prstDash val="solid"/>
          </a:ln>
        </p:spPr>
        <p:txBody>
          <a:bodyPr/>
          <a:lstStyle/>
          <a:p>
            <a:endParaRPr lang="en-US"/>
          </a:p>
        </p:txBody>
      </p:sp>
      <p:sp>
        <p:nvSpPr>
          <p:cNvPr id="10" name="Text 8"/>
          <p:cNvSpPr/>
          <p:nvPr/>
        </p:nvSpPr>
        <p:spPr>
          <a:xfrm>
            <a:off x="3712464" y="1536192"/>
            <a:ext cx="457200" cy="219456"/>
          </a:xfrm>
          <a:prstGeom prst="rect">
            <a:avLst/>
          </a:prstGeom>
          <a:noFill/>
          <a:ln/>
        </p:spPr>
        <p:txBody>
          <a:bodyPr wrap="square" rtlCol="0" anchor="ctr"/>
          <a:lstStyle/>
          <a:p>
            <a:pPr marL="0" indent="0">
              <a:buNone/>
            </a:pPr>
            <a:r>
              <a:rPr lang="en-US" sz="900" dirty="0"/>
              <a:t>2815</a:t>
            </a:r>
          </a:p>
        </p:txBody>
      </p:sp>
      <p:sp>
        <p:nvSpPr>
          <p:cNvPr id="11" name="Text 9"/>
          <p:cNvSpPr/>
          <p:nvPr/>
        </p:nvSpPr>
        <p:spPr>
          <a:xfrm>
            <a:off x="438912" y="1737360"/>
            <a:ext cx="3858768" cy="182880"/>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ER+ Invasive Carcinoma (GATA3+)</a:t>
            </a:r>
            <a:endParaRPr lang="en-US" sz="850" dirty="0"/>
          </a:p>
        </p:txBody>
      </p:sp>
      <p:sp>
        <p:nvSpPr>
          <p:cNvPr id="12" name="Shape 10"/>
          <p:cNvSpPr/>
          <p:nvPr/>
        </p:nvSpPr>
        <p:spPr>
          <a:xfrm>
            <a:off x="347472" y="1993392"/>
            <a:ext cx="3986784" cy="493776"/>
          </a:xfrm>
          <a:prstGeom prst="rect">
            <a:avLst/>
          </a:prstGeom>
          <a:solidFill>
            <a:srgbClr val="FFFFFF"/>
          </a:solidFill>
          <a:ln w="3810">
            <a:solidFill>
              <a:srgbClr val="E2E8EF"/>
            </a:solidFill>
            <a:prstDash val="solid"/>
          </a:ln>
        </p:spPr>
        <p:txBody>
          <a:bodyPr/>
          <a:lstStyle/>
          <a:p>
            <a:endParaRPr lang="en-US"/>
          </a:p>
        </p:txBody>
      </p:sp>
      <p:sp>
        <p:nvSpPr>
          <p:cNvPr id="13" name="Text 11"/>
          <p:cNvSpPr/>
          <p:nvPr/>
        </p:nvSpPr>
        <p:spPr>
          <a:xfrm>
            <a:off x="438912" y="2029968"/>
            <a:ext cx="1371600" cy="237744"/>
          </a:xfrm>
          <a:prstGeom prst="rect">
            <a:avLst/>
          </a:prstGeom>
          <a:noFill/>
          <a:ln/>
        </p:spPr>
        <p:txBody>
          <a:bodyPr wrap="square" rtlCol="0" anchor="ctr"/>
          <a:lstStyle/>
          <a:p>
            <a:pPr marL="0" indent="0">
              <a:buNone/>
            </a:pPr>
            <a:r>
              <a:rPr lang="en-US" sz="1100" dirty="0">
                <a:solidFill>
                  <a:srgbClr val="3A4F65"/>
                </a:solidFill>
                <a:latin typeface="Calibri" pitchFamily="34" charset="0"/>
                <a:ea typeface="Calibri" pitchFamily="34" charset="-122"/>
                <a:cs typeface="Calibri" pitchFamily="34" charset="-120"/>
              </a:rPr>
              <a:t>Normal</a:t>
            </a:r>
            <a:endParaRPr lang="en-US" sz="1100" dirty="0"/>
          </a:p>
        </p:txBody>
      </p:sp>
      <p:sp>
        <p:nvSpPr>
          <p:cNvPr id="14" name="Shape 12"/>
          <p:cNvSpPr/>
          <p:nvPr/>
        </p:nvSpPr>
        <p:spPr>
          <a:xfrm>
            <a:off x="1828800" y="2103120"/>
            <a:ext cx="987552" cy="182880"/>
          </a:xfrm>
          <a:prstGeom prst="rect">
            <a:avLst/>
          </a:prstGeom>
          <a:solidFill>
            <a:srgbClr val="E2E8EF"/>
          </a:solidFill>
          <a:ln w="12700">
            <a:solidFill>
              <a:srgbClr val="E2E8EF"/>
            </a:solidFill>
            <a:prstDash val="solid"/>
          </a:ln>
        </p:spPr>
        <p:txBody>
          <a:bodyPr/>
          <a:lstStyle/>
          <a:p>
            <a:endParaRPr lang="en-US"/>
          </a:p>
        </p:txBody>
      </p:sp>
      <p:sp>
        <p:nvSpPr>
          <p:cNvPr id="15" name="Text 13"/>
          <p:cNvSpPr/>
          <p:nvPr/>
        </p:nvSpPr>
        <p:spPr>
          <a:xfrm>
            <a:off x="2871216" y="2084832"/>
            <a:ext cx="457200" cy="219456"/>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672</a:t>
            </a:r>
            <a:endParaRPr lang="en-US" sz="900" dirty="0"/>
          </a:p>
        </p:txBody>
      </p:sp>
      <p:sp>
        <p:nvSpPr>
          <p:cNvPr id="16" name="Text 14"/>
          <p:cNvSpPr/>
          <p:nvPr/>
        </p:nvSpPr>
        <p:spPr>
          <a:xfrm>
            <a:off x="438912" y="2286000"/>
            <a:ext cx="3858768" cy="182880"/>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Proliferating Luminal Tumour</a:t>
            </a:r>
            <a:endParaRPr lang="en-US" sz="850" dirty="0"/>
          </a:p>
        </p:txBody>
      </p:sp>
      <p:sp>
        <p:nvSpPr>
          <p:cNvPr id="17" name="Shape 15"/>
          <p:cNvSpPr/>
          <p:nvPr/>
        </p:nvSpPr>
        <p:spPr>
          <a:xfrm>
            <a:off x="347472" y="2542032"/>
            <a:ext cx="3986784" cy="493776"/>
          </a:xfrm>
          <a:prstGeom prst="rect">
            <a:avLst/>
          </a:prstGeom>
          <a:solidFill>
            <a:srgbClr val="F7F9FC"/>
          </a:solidFill>
          <a:ln w="3810">
            <a:solidFill>
              <a:srgbClr val="E2E8EF"/>
            </a:solidFill>
            <a:prstDash val="solid"/>
          </a:ln>
        </p:spPr>
        <p:txBody>
          <a:bodyPr/>
          <a:lstStyle/>
          <a:p>
            <a:endParaRPr lang="en-US"/>
          </a:p>
        </p:txBody>
      </p:sp>
      <p:sp>
        <p:nvSpPr>
          <p:cNvPr id="18" name="Text 16"/>
          <p:cNvSpPr/>
          <p:nvPr/>
        </p:nvSpPr>
        <p:spPr>
          <a:xfrm>
            <a:off x="438912" y="2578608"/>
            <a:ext cx="1371600" cy="237744"/>
          </a:xfrm>
          <a:prstGeom prst="rect">
            <a:avLst/>
          </a:prstGeom>
          <a:noFill/>
          <a:ln/>
        </p:spPr>
        <p:txBody>
          <a:bodyPr wrap="square" rtlCol="0" anchor="ctr"/>
          <a:lstStyle/>
          <a:p>
            <a:pPr marL="0" indent="0">
              <a:buNone/>
            </a:pPr>
            <a:r>
              <a:rPr lang="en-US" sz="1100" dirty="0">
                <a:solidFill>
                  <a:srgbClr val="3A4F65"/>
                </a:solidFill>
                <a:latin typeface="Calibri" pitchFamily="34" charset="0"/>
                <a:ea typeface="Calibri" pitchFamily="34" charset="-122"/>
                <a:cs typeface="Calibri" pitchFamily="34" charset="-120"/>
              </a:rPr>
              <a:t>Basal-like</a:t>
            </a:r>
            <a:endParaRPr lang="en-US" sz="1100" dirty="0"/>
          </a:p>
        </p:txBody>
      </p:sp>
      <p:sp>
        <p:nvSpPr>
          <p:cNvPr id="19" name="Shape 17"/>
          <p:cNvSpPr/>
          <p:nvPr/>
        </p:nvSpPr>
        <p:spPr>
          <a:xfrm>
            <a:off x="1828800" y="2651760"/>
            <a:ext cx="91440" cy="182880"/>
          </a:xfrm>
          <a:prstGeom prst="rect">
            <a:avLst/>
          </a:prstGeom>
          <a:solidFill>
            <a:srgbClr val="E2E8EF"/>
          </a:solidFill>
          <a:ln w="12700">
            <a:solidFill>
              <a:srgbClr val="E2E8EF"/>
            </a:solidFill>
            <a:prstDash val="solid"/>
          </a:ln>
        </p:spPr>
        <p:txBody>
          <a:bodyPr/>
          <a:lstStyle/>
          <a:p>
            <a:endParaRPr lang="en-US"/>
          </a:p>
        </p:txBody>
      </p:sp>
      <p:sp>
        <p:nvSpPr>
          <p:cNvPr id="20" name="Text 18"/>
          <p:cNvSpPr/>
          <p:nvPr/>
        </p:nvSpPr>
        <p:spPr>
          <a:xfrm>
            <a:off x="1975104" y="2633472"/>
            <a:ext cx="457200" cy="219456"/>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493</a:t>
            </a:r>
            <a:endParaRPr lang="en-US" sz="900" dirty="0"/>
          </a:p>
        </p:txBody>
      </p:sp>
      <p:sp>
        <p:nvSpPr>
          <p:cNvPr id="21" name="Text 19"/>
          <p:cNvSpPr/>
          <p:nvPr/>
        </p:nvSpPr>
        <p:spPr>
          <a:xfrm>
            <a:off x="438912" y="2834640"/>
            <a:ext cx="3858768" cy="182880"/>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Low — not a HER2+ tumour ✓</a:t>
            </a:r>
            <a:endParaRPr lang="en-US" sz="850" dirty="0"/>
          </a:p>
        </p:txBody>
      </p:sp>
      <p:sp>
        <p:nvSpPr>
          <p:cNvPr id="22" name="Shape 20"/>
          <p:cNvSpPr/>
          <p:nvPr/>
        </p:nvSpPr>
        <p:spPr>
          <a:xfrm>
            <a:off x="347472" y="3090672"/>
            <a:ext cx="3986784" cy="493776"/>
          </a:xfrm>
          <a:prstGeom prst="rect">
            <a:avLst/>
          </a:prstGeom>
          <a:solidFill>
            <a:srgbClr val="FFFFFF"/>
          </a:solidFill>
          <a:ln w="3810">
            <a:solidFill>
              <a:srgbClr val="E2E8EF"/>
            </a:solidFill>
            <a:prstDash val="solid"/>
          </a:ln>
        </p:spPr>
        <p:txBody>
          <a:bodyPr/>
          <a:lstStyle/>
          <a:p>
            <a:endParaRPr lang="en-US"/>
          </a:p>
        </p:txBody>
      </p:sp>
      <p:sp>
        <p:nvSpPr>
          <p:cNvPr id="23" name="Text 21"/>
          <p:cNvSpPr/>
          <p:nvPr/>
        </p:nvSpPr>
        <p:spPr>
          <a:xfrm>
            <a:off x="438912" y="3127248"/>
            <a:ext cx="1371600" cy="237744"/>
          </a:xfrm>
          <a:prstGeom prst="rect">
            <a:avLst/>
          </a:prstGeom>
          <a:noFill/>
          <a:ln/>
        </p:spPr>
        <p:txBody>
          <a:bodyPr wrap="square" rtlCol="0" anchor="ctr"/>
          <a:lstStyle/>
          <a:p>
            <a:pPr marL="0" indent="0">
              <a:buNone/>
            </a:pPr>
            <a:r>
              <a:rPr lang="en-US" sz="1100" dirty="0">
                <a:solidFill>
                  <a:srgbClr val="3A4F65"/>
                </a:solidFill>
                <a:latin typeface="Calibri" pitchFamily="34" charset="0"/>
                <a:ea typeface="Calibri" pitchFamily="34" charset="-122"/>
                <a:cs typeface="Calibri" pitchFamily="34" charset="-120"/>
              </a:rPr>
              <a:t>Luminal B</a:t>
            </a:r>
            <a:endParaRPr lang="en-US" sz="1100" dirty="0"/>
          </a:p>
        </p:txBody>
      </p:sp>
      <p:sp>
        <p:nvSpPr>
          <p:cNvPr id="24" name="Shape 22"/>
          <p:cNvSpPr/>
          <p:nvPr/>
        </p:nvSpPr>
        <p:spPr>
          <a:xfrm>
            <a:off x="1828800" y="3200400"/>
            <a:ext cx="219456" cy="182880"/>
          </a:xfrm>
          <a:prstGeom prst="rect">
            <a:avLst/>
          </a:prstGeom>
          <a:solidFill>
            <a:srgbClr val="E2E8EF"/>
          </a:solidFill>
          <a:ln w="12700">
            <a:solidFill>
              <a:srgbClr val="E2E8EF"/>
            </a:solidFill>
            <a:prstDash val="solid"/>
          </a:ln>
        </p:spPr>
        <p:txBody>
          <a:bodyPr/>
          <a:lstStyle/>
          <a:p>
            <a:endParaRPr lang="en-US"/>
          </a:p>
        </p:txBody>
      </p:sp>
      <p:sp>
        <p:nvSpPr>
          <p:cNvPr id="25" name="Text 23"/>
          <p:cNvSpPr/>
          <p:nvPr/>
        </p:nvSpPr>
        <p:spPr>
          <a:xfrm>
            <a:off x="2103120" y="3182112"/>
            <a:ext cx="457200" cy="219456"/>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468</a:t>
            </a:r>
            <a:endParaRPr lang="en-US" sz="900" dirty="0"/>
          </a:p>
        </p:txBody>
      </p:sp>
      <p:sp>
        <p:nvSpPr>
          <p:cNvPr id="26" name="Text 24"/>
          <p:cNvSpPr/>
          <p:nvPr/>
        </p:nvSpPr>
        <p:spPr>
          <a:xfrm>
            <a:off x="438912" y="3383280"/>
            <a:ext cx="3858768" cy="182880"/>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Essentially absent ✓</a:t>
            </a:r>
            <a:endParaRPr lang="en-US" sz="850" dirty="0"/>
          </a:p>
        </p:txBody>
      </p:sp>
      <p:sp>
        <p:nvSpPr>
          <p:cNvPr id="27" name="Shape 25"/>
          <p:cNvSpPr/>
          <p:nvPr/>
        </p:nvSpPr>
        <p:spPr>
          <a:xfrm>
            <a:off x="347472" y="3639312"/>
            <a:ext cx="3986784" cy="493776"/>
          </a:xfrm>
          <a:prstGeom prst="rect">
            <a:avLst/>
          </a:prstGeom>
          <a:solidFill>
            <a:srgbClr val="F7F9FC"/>
          </a:solidFill>
          <a:ln w="3810">
            <a:solidFill>
              <a:srgbClr val="E2E8EF"/>
            </a:solidFill>
            <a:prstDash val="solid"/>
          </a:ln>
        </p:spPr>
        <p:txBody>
          <a:bodyPr/>
          <a:lstStyle/>
          <a:p>
            <a:endParaRPr lang="en-US"/>
          </a:p>
        </p:txBody>
      </p:sp>
      <p:sp>
        <p:nvSpPr>
          <p:cNvPr id="28" name="Text 26"/>
          <p:cNvSpPr/>
          <p:nvPr/>
        </p:nvSpPr>
        <p:spPr>
          <a:xfrm>
            <a:off x="438912" y="3675888"/>
            <a:ext cx="1371600" cy="237744"/>
          </a:xfrm>
          <a:prstGeom prst="rect">
            <a:avLst/>
          </a:prstGeom>
          <a:noFill/>
          <a:ln/>
        </p:spPr>
        <p:txBody>
          <a:bodyPr wrap="square" rtlCol="0" anchor="ctr"/>
          <a:lstStyle/>
          <a:p>
            <a:pPr marL="0" indent="0">
              <a:buNone/>
            </a:pPr>
            <a:r>
              <a:rPr lang="en-US" sz="1100" dirty="0">
                <a:solidFill>
                  <a:srgbClr val="3A4F65"/>
                </a:solidFill>
                <a:latin typeface="Calibri" pitchFamily="34" charset="0"/>
                <a:ea typeface="Calibri" pitchFamily="34" charset="-122"/>
                <a:cs typeface="Calibri" pitchFamily="34" charset="-120"/>
              </a:rPr>
              <a:t>HER-2</a:t>
            </a:r>
            <a:endParaRPr lang="en-US" sz="1100" dirty="0"/>
          </a:p>
        </p:txBody>
      </p:sp>
      <p:sp>
        <p:nvSpPr>
          <p:cNvPr id="29" name="Shape 27"/>
          <p:cNvSpPr/>
          <p:nvPr/>
        </p:nvSpPr>
        <p:spPr>
          <a:xfrm>
            <a:off x="1828800" y="3749040"/>
            <a:ext cx="146304" cy="182880"/>
          </a:xfrm>
          <a:prstGeom prst="rect">
            <a:avLst/>
          </a:prstGeom>
          <a:solidFill>
            <a:srgbClr val="E2E8EF"/>
          </a:solidFill>
          <a:ln w="12700">
            <a:solidFill>
              <a:srgbClr val="E2E8EF"/>
            </a:solidFill>
            <a:prstDash val="solid"/>
          </a:ln>
        </p:spPr>
        <p:txBody>
          <a:bodyPr/>
          <a:lstStyle/>
          <a:p>
            <a:endParaRPr lang="en-US"/>
          </a:p>
        </p:txBody>
      </p:sp>
      <p:sp>
        <p:nvSpPr>
          <p:cNvPr id="30" name="Text 28"/>
          <p:cNvSpPr/>
          <p:nvPr/>
        </p:nvSpPr>
        <p:spPr>
          <a:xfrm>
            <a:off x="2029968" y="3730752"/>
            <a:ext cx="457200" cy="219456"/>
          </a:xfrm>
          <a:prstGeom prst="rect">
            <a:avLst/>
          </a:prstGeom>
          <a:noFill/>
          <a:ln/>
        </p:spPr>
        <p:txBody>
          <a:bodyPr wrap="square" rtlCol="0" anchor="ctr"/>
          <a:lstStyle/>
          <a:p>
            <a:pPr marL="0" indent="0">
              <a:buNone/>
            </a:pPr>
            <a:r>
              <a:rPr lang="en-US" sz="900" dirty="0">
                <a:solidFill>
                  <a:srgbClr val="8A9CB0"/>
                </a:solidFill>
                <a:latin typeface="Calibri" pitchFamily="34" charset="0"/>
                <a:ea typeface="Calibri" pitchFamily="34" charset="-122"/>
                <a:cs typeface="Calibri" pitchFamily="34" charset="-120"/>
              </a:rPr>
              <a:t>421</a:t>
            </a:r>
            <a:endParaRPr lang="en-US" sz="900" dirty="0"/>
          </a:p>
        </p:txBody>
      </p:sp>
      <p:sp>
        <p:nvSpPr>
          <p:cNvPr id="31" name="Text 29"/>
          <p:cNvSpPr/>
          <p:nvPr/>
        </p:nvSpPr>
        <p:spPr>
          <a:xfrm>
            <a:off x="438912" y="3931920"/>
            <a:ext cx="3858768" cy="182880"/>
          </a:xfrm>
          <a:prstGeom prst="rect">
            <a:avLst/>
          </a:prstGeom>
          <a:noFill/>
          <a:ln/>
        </p:spPr>
        <p:txBody>
          <a:bodyPr wrap="square" rtlCol="0" anchor="ctr"/>
          <a:lstStyle/>
          <a:p>
            <a:pPr marL="0" indent="0">
              <a:buNone/>
            </a:pPr>
            <a:r>
              <a:rPr lang="en-US" sz="850" dirty="0">
                <a:solidFill>
                  <a:srgbClr val="8A9CB0"/>
                </a:solidFill>
                <a:latin typeface="Calibri" pitchFamily="34" charset="0"/>
                <a:ea typeface="Calibri" pitchFamily="34" charset="-122"/>
                <a:cs typeface="Calibri" pitchFamily="34" charset="-120"/>
              </a:rPr>
              <a:t>Adipose region only</a:t>
            </a:r>
            <a:endParaRPr lang="en-US" sz="850" dirty="0"/>
          </a:p>
        </p:txBody>
      </p:sp>
      <p:sp>
        <p:nvSpPr>
          <p:cNvPr id="32" name="Shape 30"/>
          <p:cNvSpPr/>
          <p:nvPr/>
        </p:nvSpPr>
        <p:spPr>
          <a:xfrm>
            <a:off x="347472" y="4279392"/>
            <a:ext cx="3986784" cy="621792"/>
          </a:xfrm>
          <a:prstGeom prst="rect">
            <a:avLst/>
          </a:prstGeom>
          <a:solidFill>
            <a:srgbClr val="1A2B45"/>
          </a:solidFill>
          <a:ln w="12700">
            <a:solidFill>
              <a:srgbClr val="1A2B45"/>
            </a:solidFill>
            <a:prstDash val="solid"/>
          </a:ln>
        </p:spPr>
        <p:txBody>
          <a:bodyPr/>
          <a:lstStyle/>
          <a:p>
            <a:endParaRPr lang="en-US"/>
          </a:p>
        </p:txBody>
      </p:sp>
      <p:sp>
        <p:nvSpPr>
          <p:cNvPr id="33" name="Text 31"/>
          <p:cNvSpPr/>
          <p:nvPr/>
        </p:nvSpPr>
        <p:spPr>
          <a:xfrm>
            <a:off x="438912" y="4315968"/>
            <a:ext cx="3803904" cy="53035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ER+ Luminal A confirmed spatially</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Hormone therapy · Poor immunotherapy response explained</a:t>
            </a:r>
            <a:endParaRPr lang="en-US" sz="1000" dirty="0"/>
          </a:p>
        </p:txBody>
      </p:sp>
      <p:sp>
        <p:nvSpPr>
          <p:cNvPr id="34" name="Shape 32"/>
          <p:cNvSpPr/>
          <p:nvPr/>
        </p:nvSpPr>
        <p:spPr>
          <a:xfrm>
            <a:off x="4572000" y="749808"/>
            <a:ext cx="4297680" cy="4224528"/>
          </a:xfrm>
          <a:prstGeom prst="rect">
            <a:avLst/>
          </a:prstGeom>
          <a:solidFill>
            <a:srgbClr val="FFFFFF"/>
          </a:solidFill>
          <a:ln w="1270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35" name="Text 33"/>
          <p:cNvSpPr/>
          <p:nvPr/>
        </p:nvSpPr>
        <p:spPr>
          <a:xfrm>
            <a:off x="4681728" y="822960"/>
            <a:ext cx="4078224" cy="274320"/>
          </a:xfrm>
          <a:prstGeom prst="rect">
            <a:avLst/>
          </a:prstGeom>
          <a:noFill/>
          <a:ln/>
        </p:spPr>
        <p:txBody>
          <a:bodyPr wrap="square" rtlCol="0" anchor="ctr"/>
          <a:lstStyle/>
          <a:p>
            <a:pPr marL="0" indent="0">
              <a:buNone/>
            </a:pPr>
            <a:r>
              <a:rPr lang="en-US" sz="1100" b="1" dirty="0">
                <a:solidFill>
                  <a:srgbClr val="1A2B45"/>
                </a:solidFill>
                <a:latin typeface="Calibri" pitchFamily="34" charset="0"/>
                <a:ea typeface="Calibri" pitchFamily="34" charset="-122"/>
                <a:cs typeface="Calibri" pitchFamily="34" charset="-120"/>
              </a:rPr>
              <a:t>PROGENy PATHWAY ACTIVITY</a:t>
            </a:r>
            <a:endParaRPr lang="en-US" sz="1100" dirty="0"/>
          </a:p>
        </p:txBody>
      </p:sp>
      <p:sp>
        <p:nvSpPr>
          <p:cNvPr id="36" name="Text 34"/>
          <p:cNvSpPr/>
          <p:nvPr/>
        </p:nvSpPr>
        <p:spPr>
          <a:xfrm>
            <a:off x="4681728" y="1115568"/>
            <a:ext cx="4078224" cy="256032"/>
          </a:xfrm>
          <a:prstGeom prst="rect">
            <a:avLst/>
          </a:prstGeom>
          <a:noFill/>
          <a:ln/>
        </p:spPr>
        <p:txBody>
          <a:bodyPr wrap="square" rtlCol="0" anchor="ctr"/>
          <a:lstStyle/>
          <a:p>
            <a:pPr marL="0" indent="0">
              <a:buNone/>
            </a:pPr>
            <a:r>
              <a:rPr lang="en-US" sz="950" i="1" dirty="0">
                <a:solidFill>
                  <a:srgbClr val="8A9CB0"/>
                </a:solidFill>
                <a:latin typeface="Calibri" pitchFamily="34" charset="0"/>
                <a:ea typeface="Calibri" pitchFamily="34" charset="-122"/>
                <a:cs typeface="Calibri" pitchFamily="34" charset="-120"/>
              </a:rPr>
              <a:t>Downstream target gene footprints · More reliable than measuring pathway genes directly</a:t>
            </a:r>
            <a:endParaRPr lang="en-US" sz="950" dirty="0"/>
          </a:p>
        </p:txBody>
      </p:sp>
      <p:sp>
        <p:nvSpPr>
          <p:cNvPr id="37" name="Shape 35"/>
          <p:cNvSpPr/>
          <p:nvPr/>
        </p:nvSpPr>
        <p:spPr>
          <a:xfrm>
            <a:off x="4681728" y="1426464"/>
            <a:ext cx="4078224" cy="2029968"/>
          </a:xfrm>
          <a:prstGeom prst="rect">
            <a:avLst/>
          </a:prstGeom>
          <a:solidFill>
            <a:srgbClr val="E2E8EF"/>
          </a:solidFill>
          <a:ln w="15240">
            <a:solidFill>
              <a:srgbClr val="8A9CB0"/>
            </a:solidFill>
            <a:prstDash val="dash"/>
          </a:ln>
        </p:spPr>
        <p:txBody>
          <a:bodyPr/>
          <a:lstStyle/>
          <a:p>
            <a:endParaRPr lang="en-US"/>
          </a:p>
        </p:txBody>
      </p:sp>
      <p:sp>
        <p:nvSpPr>
          <p:cNvPr id="38" name="Text 36"/>
          <p:cNvSpPr/>
          <p:nvPr/>
        </p:nvSpPr>
        <p:spPr>
          <a:xfrm>
            <a:off x="4681728" y="2185416"/>
            <a:ext cx="4078224" cy="329184"/>
          </a:xfrm>
          <a:prstGeom prst="rect">
            <a:avLst/>
          </a:prstGeom>
          <a:noFill/>
          <a:ln/>
        </p:spPr>
        <p:txBody>
          <a:bodyPr wrap="square" rtlCol="0" anchor="ctr"/>
          <a:lstStyle/>
          <a:p>
            <a:pPr marL="0" indent="0" algn="ctr">
              <a:buNone/>
            </a:pPr>
            <a:r>
              <a:rPr lang="en-US" sz="950" i="1" dirty="0">
                <a:solidFill>
                  <a:srgbClr val="8A9CB0"/>
                </a:solidFill>
                <a:latin typeface="Calibri" pitchFamily="34" charset="0"/>
                <a:ea typeface="Calibri" pitchFamily="34" charset="-122"/>
                <a:cs typeface="Calibri" pitchFamily="34" charset="-120"/>
              </a:rPr>
              <a:t>INSERT: PROGENy heatmap (10 pathways × 11 clusters)</a:t>
            </a:r>
            <a:endParaRPr lang="en-US" sz="950" dirty="0"/>
          </a:p>
        </p:txBody>
      </p:sp>
      <p:sp>
        <p:nvSpPr>
          <p:cNvPr id="39" name="Text 37"/>
          <p:cNvSpPr/>
          <p:nvPr/>
        </p:nvSpPr>
        <p:spPr>
          <a:xfrm>
            <a:off x="4681728" y="2459736"/>
            <a:ext cx="4078224" cy="237744"/>
          </a:xfrm>
          <a:prstGeom prst="rect">
            <a:avLst/>
          </a:prstGeom>
          <a:noFill/>
          <a:ln/>
        </p:spPr>
        <p:txBody>
          <a:bodyPr wrap="square" rtlCol="0" anchor="ctr"/>
          <a:lstStyle/>
          <a:p>
            <a:pPr marL="0" indent="0" algn="ctr">
              <a:buNone/>
            </a:pPr>
            <a:r>
              <a:rPr lang="en-US" sz="800" dirty="0">
                <a:solidFill>
                  <a:srgbClr val="8A9CB0"/>
                </a:solidFill>
                <a:latin typeface="Calibri" pitchFamily="34" charset="0"/>
                <a:ea typeface="Calibri" pitchFamily="34" charset="-122"/>
                <a:cs typeface="Calibri" pitchFamily="34" charset="-120"/>
              </a:rPr>
              <a:t>figures/advanced/04_progeny_heatmap_pub.png</a:t>
            </a:r>
            <a:endParaRPr lang="en-US" sz="800" dirty="0"/>
          </a:p>
          <a:p>
            <a:pPr marL="0" indent="0" algn="ctr">
              <a:buNone/>
            </a:pPr>
            <a:r>
              <a:rPr lang="en-US" sz="800" dirty="0">
                <a:solidFill>
                  <a:srgbClr val="8A9CB0"/>
                </a:solidFill>
                <a:latin typeface="Calibri" pitchFamily="34" charset="0"/>
                <a:ea typeface="Calibri" pitchFamily="34" charset="-122"/>
                <a:cs typeface="Calibri" pitchFamily="34" charset="-120"/>
              </a:rPr>
              <a:t>Key: TGF-β and Hypoxia peak in stromal/tumour clusters</a:t>
            </a:r>
            <a:endParaRPr lang="en-US" sz="800" dirty="0"/>
          </a:p>
        </p:txBody>
      </p:sp>
      <p:sp>
        <p:nvSpPr>
          <p:cNvPr id="40" name="Shape 38"/>
          <p:cNvSpPr/>
          <p:nvPr/>
        </p:nvSpPr>
        <p:spPr>
          <a:xfrm>
            <a:off x="4681728" y="3529584"/>
            <a:ext cx="4078224" cy="256032"/>
          </a:xfrm>
          <a:prstGeom prst="rect">
            <a:avLst/>
          </a:prstGeom>
          <a:solidFill>
            <a:srgbClr val="F7F9FC"/>
          </a:solidFill>
          <a:ln w="3810">
            <a:solidFill>
              <a:srgbClr val="E2E8EF"/>
            </a:solidFill>
            <a:prstDash val="solid"/>
          </a:ln>
        </p:spPr>
        <p:txBody>
          <a:bodyPr/>
          <a:lstStyle/>
          <a:p>
            <a:endParaRPr lang="en-US"/>
          </a:p>
        </p:txBody>
      </p:sp>
      <p:sp>
        <p:nvSpPr>
          <p:cNvPr id="41" name="Shape 39"/>
          <p:cNvSpPr/>
          <p:nvPr/>
        </p:nvSpPr>
        <p:spPr>
          <a:xfrm>
            <a:off x="4681728" y="3529584"/>
            <a:ext cx="36576" cy="256032"/>
          </a:xfrm>
          <a:prstGeom prst="rect">
            <a:avLst/>
          </a:prstGeom>
          <a:solidFill>
            <a:srgbClr val="A63010"/>
          </a:solidFill>
          <a:ln w="12700">
            <a:solidFill>
              <a:srgbClr val="A63010"/>
            </a:solidFill>
            <a:prstDash val="solid"/>
          </a:ln>
        </p:spPr>
        <p:txBody>
          <a:bodyPr/>
          <a:lstStyle/>
          <a:p>
            <a:endParaRPr lang="en-US"/>
          </a:p>
        </p:txBody>
      </p:sp>
      <p:sp>
        <p:nvSpPr>
          <p:cNvPr id="42" name="Text 40"/>
          <p:cNvSpPr/>
          <p:nvPr/>
        </p:nvSpPr>
        <p:spPr>
          <a:xfrm>
            <a:off x="4773168" y="3566160"/>
            <a:ext cx="822960" cy="182880"/>
          </a:xfrm>
          <a:prstGeom prst="rect">
            <a:avLst/>
          </a:prstGeom>
          <a:noFill/>
          <a:ln/>
        </p:spPr>
        <p:txBody>
          <a:bodyPr wrap="square" rtlCol="0" anchor="ctr"/>
          <a:lstStyle/>
          <a:p>
            <a:pPr marL="0" indent="0">
              <a:buNone/>
            </a:pPr>
            <a:r>
              <a:rPr lang="en-US" sz="900" b="1" dirty="0">
                <a:solidFill>
                  <a:srgbClr val="A63010"/>
                </a:solidFill>
                <a:latin typeface="Calibri" pitchFamily="34" charset="0"/>
                <a:ea typeface="Calibri" pitchFamily="34" charset="-122"/>
                <a:cs typeface="Calibri" pitchFamily="34" charset="-120"/>
              </a:rPr>
              <a:t>TGF-β</a:t>
            </a:r>
            <a:endParaRPr lang="en-US" sz="900" dirty="0"/>
          </a:p>
        </p:txBody>
      </p:sp>
      <p:sp>
        <p:nvSpPr>
          <p:cNvPr id="43" name="Shape 41"/>
          <p:cNvSpPr/>
          <p:nvPr/>
        </p:nvSpPr>
        <p:spPr>
          <a:xfrm>
            <a:off x="5632705" y="3602736"/>
            <a:ext cx="1122632" cy="109728"/>
          </a:xfrm>
          <a:prstGeom prst="rect">
            <a:avLst/>
          </a:prstGeom>
          <a:solidFill>
            <a:srgbClr val="A63010"/>
          </a:solidFill>
          <a:ln w="12700">
            <a:solidFill>
              <a:srgbClr val="A63010"/>
            </a:solidFill>
            <a:prstDash val="solid"/>
          </a:ln>
        </p:spPr>
        <p:txBody>
          <a:bodyPr/>
          <a:lstStyle/>
          <a:p>
            <a:endParaRPr lang="en-US"/>
          </a:p>
        </p:txBody>
      </p:sp>
      <p:sp>
        <p:nvSpPr>
          <p:cNvPr id="44" name="Text 42"/>
          <p:cNvSpPr/>
          <p:nvPr/>
        </p:nvSpPr>
        <p:spPr>
          <a:xfrm>
            <a:off x="6755336" y="3551545"/>
            <a:ext cx="2041191" cy="210312"/>
          </a:xfrm>
          <a:prstGeom prst="rect">
            <a:avLst/>
          </a:prstGeom>
          <a:noFill/>
          <a:ln/>
        </p:spPr>
        <p:txBody>
          <a:bodyPr wrap="square" rtlCol="0" anchor="ctr"/>
          <a:lstStyle/>
          <a:p>
            <a:r>
              <a:rPr lang="en-US" sz="700" b="1" dirty="0"/>
              <a:t>Master Architect of fibrotic tissue and stiff stroma</a:t>
            </a:r>
          </a:p>
        </p:txBody>
      </p:sp>
      <p:sp>
        <p:nvSpPr>
          <p:cNvPr id="45" name="Shape 43"/>
          <p:cNvSpPr/>
          <p:nvPr/>
        </p:nvSpPr>
        <p:spPr>
          <a:xfrm>
            <a:off x="4681728" y="3803904"/>
            <a:ext cx="4078224" cy="256032"/>
          </a:xfrm>
          <a:prstGeom prst="rect">
            <a:avLst/>
          </a:prstGeom>
          <a:solidFill>
            <a:srgbClr val="FFFFFF"/>
          </a:solidFill>
          <a:ln w="3810">
            <a:solidFill>
              <a:srgbClr val="E2E8EF"/>
            </a:solidFill>
            <a:prstDash val="solid"/>
          </a:ln>
        </p:spPr>
        <p:txBody>
          <a:bodyPr/>
          <a:lstStyle/>
          <a:p>
            <a:endParaRPr lang="en-US"/>
          </a:p>
        </p:txBody>
      </p:sp>
      <p:sp>
        <p:nvSpPr>
          <p:cNvPr id="46" name="Shape 44"/>
          <p:cNvSpPr/>
          <p:nvPr/>
        </p:nvSpPr>
        <p:spPr>
          <a:xfrm>
            <a:off x="4681728" y="3803904"/>
            <a:ext cx="36576" cy="256032"/>
          </a:xfrm>
          <a:prstGeom prst="rect">
            <a:avLst/>
          </a:prstGeom>
          <a:solidFill>
            <a:srgbClr val="B8860B"/>
          </a:solidFill>
          <a:ln w="12700">
            <a:solidFill>
              <a:srgbClr val="B8860B"/>
            </a:solidFill>
            <a:prstDash val="solid"/>
          </a:ln>
        </p:spPr>
        <p:txBody>
          <a:bodyPr/>
          <a:lstStyle/>
          <a:p>
            <a:endParaRPr lang="en-US"/>
          </a:p>
        </p:txBody>
      </p:sp>
      <p:sp>
        <p:nvSpPr>
          <p:cNvPr id="47" name="Text 45"/>
          <p:cNvSpPr/>
          <p:nvPr/>
        </p:nvSpPr>
        <p:spPr>
          <a:xfrm>
            <a:off x="4773168" y="3840480"/>
            <a:ext cx="822960" cy="182880"/>
          </a:xfrm>
          <a:prstGeom prst="rect">
            <a:avLst/>
          </a:prstGeom>
          <a:noFill/>
          <a:ln/>
        </p:spPr>
        <p:txBody>
          <a:bodyPr wrap="square" rtlCol="0" anchor="ctr"/>
          <a:lstStyle/>
          <a:p>
            <a:pPr marL="0" indent="0">
              <a:buNone/>
            </a:pPr>
            <a:r>
              <a:rPr lang="en-US" sz="900" b="1" dirty="0">
                <a:solidFill>
                  <a:srgbClr val="B8860B"/>
                </a:solidFill>
                <a:latin typeface="Calibri" pitchFamily="34" charset="0"/>
                <a:ea typeface="Calibri" pitchFamily="34" charset="-122"/>
                <a:cs typeface="Calibri" pitchFamily="34" charset="-120"/>
              </a:rPr>
              <a:t>Hypoxia</a:t>
            </a:r>
            <a:endParaRPr lang="en-US" sz="900" dirty="0"/>
          </a:p>
        </p:txBody>
      </p:sp>
      <p:sp>
        <p:nvSpPr>
          <p:cNvPr id="48" name="Shape 46"/>
          <p:cNvSpPr/>
          <p:nvPr/>
        </p:nvSpPr>
        <p:spPr>
          <a:xfrm>
            <a:off x="5632704" y="3877056"/>
            <a:ext cx="1126541" cy="128016"/>
          </a:xfrm>
          <a:prstGeom prst="rect">
            <a:avLst/>
          </a:prstGeom>
          <a:solidFill>
            <a:srgbClr val="B8860B"/>
          </a:solidFill>
          <a:ln w="12700">
            <a:solidFill>
              <a:srgbClr val="B8860B"/>
            </a:solidFill>
            <a:prstDash val="solid"/>
          </a:ln>
        </p:spPr>
        <p:txBody>
          <a:bodyPr/>
          <a:lstStyle/>
          <a:p>
            <a:endParaRPr lang="en-US"/>
          </a:p>
        </p:txBody>
      </p:sp>
      <p:sp>
        <p:nvSpPr>
          <p:cNvPr id="49" name="Text 47"/>
          <p:cNvSpPr/>
          <p:nvPr/>
        </p:nvSpPr>
        <p:spPr>
          <a:xfrm>
            <a:off x="6718761" y="3822192"/>
            <a:ext cx="2150919" cy="228600"/>
          </a:xfrm>
          <a:prstGeom prst="rect">
            <a:avLst/>
          </a:prstGeom>
          <a:noFill/>
          <a:ln/>
        </p:spPr>
        <p:txBody>
          <a:bodyPr wrap="square" rtlCol="0" anchor="ctr"/>
          <a:lstStyle/>
          <a:p>
            <a:r>
              <a:rPr lang="en-US" sz="700" b="1" dirty="0"/>
              <a:t>Communication Hub for immune-to-tumor signaling</a:t>
            </a:r>
          </a:p>
        </p:txBody>
      </p:sp>
      <p:sp>
        <p:nvSpPr>
          <p:cNvPr id="50" name="Shape 48"/>
          <p:cNvSpPr/>
          <p:nvPr/>
        </p:nvSpPr>
        <p:spPr>
          <a:xfrm>
            <a:off x="4681728" y="4078224"/>
            <a:ext cx="4078224" cy="256032"/>
          </a:xfrm>
          <a:prstGeom prst="rect">
            <a:avLst/>
          </a:prstGeom>
          <a:solidFill>
            <a:srgbClr val="F7F9FC"/>
          </a:solidFill>
          <a:ln w="3810">
            <a:solidFill>
              <a:srgbClr val="E2E8EF"/>
            </a:solidFill>
            <a:prstDash val="solid"/>
          </a:ln>
        </p:spPr>
        <p:txBody>
          <a:bodyPr/>
          <a:lstStyle/>
          <a:p>
            <a:endParaRPr lang="en-US"/>
          </a:p>
        </p:txBody>
      </p:sp>
      <p:sp>
        <p:nvSpPr>
          <p:cNvPr id="51" name="Shape 49"/>
          <p:cNvSpPr/>
          <p:nvPr/>
        </p:nvSpPr>
        <p:spPr>
          <a:xfrm>
            <a:off x="4681728" y="4078224"/>
            <a:ext cx="36576" cy="256032"/>
          </a:xfrm>
          <a:prstGeom prst="rect">
            <a:avLst/>
          </a:prstGeom>
          <a:solidFill>
            <a:srgbClr val="1A2B45"/>
          </a:solidFill>
          <a:ln w="12700">
            <a:solidFill>
              <a:srgbClr val="1A2B45"/>
            </a:solidFill>
            <a:prstDash val="solid"/>
          </a:ln>
        </p:spPr>
        <p:txBody>
          <a:bodyPr/>
          <a:lstStyle/>
          <a:p>
            <a:endParaRPr lang="en-US"/>
          </a:p>
        </p:txBody>
      </p:sp>
      <p:sp>
        <p:nvSpPr>
          <p:cNvPr id="52" name="Text 50"/>
          <p:cNvSpPr/>
          <p:nvPr/>
        </p:nvSpPr>
        <p:spPr>
          <a:xfrm>
            <a:off x="4773168" y="4114800"/>
            <a:ext cx="822960" cy="182880"/>
          </a:xfrm>
          <a:prstGeom prst="rect">
            <a:avLst/>
          </a:prstGeom>
          <a:noFill/>
          <a:ln/>
        </p:spPr>
        <p:txBody>
          <a:bodyPr wrap="square" rtlCol="0" anchor="ctr"/>
          <a:lstStyle/>
          <a:p>
            <a:pPr marL="0" indent="0">
              <a:buNone/>
            </a:pPr>
            <a:r>
              <a:rPr lang="en-US" sz="900" b="1" dirty="0">
                <a:solidFill>
                  <a:srgbClr val="1A2B45"/>
                </a:solidFill>
                <a:latin typeface="Calibri" pitchFamily="34" charset="0"/>
                <a:ea typeface="Calibri" pitchFamily="34" charset="-122"/>
                <a:cs typeface="Calibri" pitchFamily="34" charset="-120"/>
              </a:rPr>
              <a:t>EGFR</a:t>
            </a:r>
            <a:endParaRPr lang="en-US" sz="900" dirty="0"/>
          </a:p>
        </p:txBody>
      </p:sp>
      <p:sp>
        <p:nvSpPr>
          <p:cNvPr id="53" name="Shape 51"/>
          <p:cNvSpPr/>
          <p:nvPr/>
        </p:nvSpPr>
        <p:spPr>
          <a:xfrm>
            <a:off x="5632703" y="4151376"/>
            <a:ext cx="1126542" cy="128016"/>
          </a:xfrm>
          <a:prstGeom prst="rect">
            <a:avLst/>
          </a:prstGeom>
          <a:solidFill>
            <a:srgbClr val="1A2B45"/>
          </a:solidFill>
          <a:ln w="12700">
            <a:solidFill>
              <a:srgbClr val="1A2B45"/>
            </a:solidFill>
            <a:prstDash val="solid"/>
          </a:ln>
        </p:spPr>
        <p:txBody>
          <a:bodyPr/>
          <a:lstStyle/>
          <a:p>
            <a:endParaRPr lang="en-US"/>
          </a:p>
        </p:txBody>
      </p:sp>
      <p:sp>
        <p:nvSpPr>
          <p:cNvPr id="54" name="Text 52"/>
          <p:cNvSpPr/>
          <p:nvPr/>
        </p:nvSpPr>
        <p:spPr>
          <a:xfrm>
            <a:off x="6759245" y="4114800"/>
            <a:ext cx="2011680" cy="182880"/>
          </a:xfrm>
          <a:prstGeom prst="rect">
            <a:avLst/>
          </a:prstGeom>
          <a:noFill/>
          <a:ln/>
        </p:spPr>
        <p:txBody>
          <a:bodyPr wrap="square" rtlCol="0" anchor="ctr"/>
          <a:lstStyle/>
          <a:p>
            <a:pPr marL="0" indent="0">
              <a:buNone/>
            </a:pPr>
            <a:r>
              <a:rPr lang="en-US" sz="700" b="1" dirty="0">
                <a:latin typeface="Calibri" pitchFamily="34" charset="0"/>
                <a:ea typeface="Calibri" pitchFamily="34" charset="-122"/>
                <a:cs typeface="Calibri" pitchFamily="34" charset="-120"/>
              </a:rPr>
              <a:t>Growth factor signalling active</a:t>
            </a:r>
            <a:endParaRPr lang="en-US" sz="700" b="1" dirty="0"/>
          </a:p>
        </p:txBody>
      </p:sp>
      <p:sp>
        <p:nvSpPr>
          <p:cNvPr id="55" name="Shape 53"/>
          <p:cNvSpPr/>
          <p:nvPr/>
        </p:nvSpPr>
        <p:spPr>
          <a:xfrm>
            <a:off x="4720133" y="4352544"/>
            <a:ext cx="4078224" cy="256032"/>
          </a:xfrm>
          <a:prstGeom prst="rect">
            <a:avLst/>
          </a:prstGeom>
          <a:solidFill>
            <a:srgbClr val="FFFFFF"/>
          </a:solidFill>
          <a:ln w="3810">
            <a:solidFill>
              <a:srgbClr val="E2E8EF"/>
            </a:solidFill>
            <a:prstDash val="solid"/>
          </a:ln>
        </p:spPr>
        <p:txBody>
          <a:bodyPr/>
          <a:lstStyle/>
          <a:p>
            <a:endParaRPr lang="en-US"/>
          </a:p>
        </p:txBody>
      </p:sp>
      <p:sp>
        <p:nvSpPr>
          <p:cNvPr id="56" name="Shape 54"/>
          <p:cNvSpPr/>
          <p:nvPr/>
        </p:nvSpPr>
        <p:spPr>
          <a:xfrm>
            <a:off x="4681728" y="4352544"/>
            <a:ext cx="36576" cy="256032"/>
          </a:xfrm>
          <a:prstGeom prst="rect">
            <a:avLst/>
          </a:prstGeom>
          <a:solidFill>
            <a:srgbClr val="0B6E63"/>
          </a:solidFill>
          <a:ln w="12700">
            <a:solidFill>
              <a:srgbClr val="0B6E63"/>
            </a:solidFill>
            <a:prstDash val="solid"/>
          </a:ln>
        </p:spPr>
        <p:txBody>
          <a:bodyPr/>
          <a:lstStyle/>
          <a:p>
            <a:endParaRPr lang="en-US"/>
          </a:p>
        </p:txBody>
      </p:sp>
      <p:sp>
        <p:nvSpPr>
          <p:cNvPr id="57" name="Text 55"/>
          <p:cNvSpPr/>
          <p:nvPr/>
        </p:nvSpPr>
        <p:spPr>
          <a:xfrm>
            <a:off x="4773168" y="4389120"/>
            <a:ext cx="822960" cy="182880"/>
          </a:xfrm>
          <a:prstGeom prst="rect">
            <a:avLst/>
          </a:prstGeom>
          <a:noFill/>
          <a:ln/>
        </p:spPr>
        <p:txBody>
          <a:bodyPr wrap="square" rtlCol="0" anchor="ctr"/>
          <a:lstStyle/>
          <a:p>
            <a:pPr marL="0" indent="0">
              <a:buNone/>
            </a:pPr>
            <a:r>
              <a:rPr lang="en-US" sz="900" b="1" dirty="0">
                <a:solidFill>
                  <a:srgbClr val="0B6E63"/>
                </a:solidFill>
                <a:latin typeface="Calibri" pitchFamily="34" charset="0"/>
                <a:ea typeface="Calibri" pitchFamily="34" charset="-122"/>
                <a:cs typeface="Calibri" pitchFamily="34" charset="-120"/>
              </a:rPr>
              <a:t>JAK-STAT</a:t>
            </a:r>
            <a:endParaRPr lang="en-US" sz="900" dirty="0"/>
          </a:p>
        </p:txBody>
      </p:sp>
      <p:sp>
        <p:nvSpPr>
          <p:cNvPr id="58" name="Shape 56"/>
          <p:cNvSpPr/>
          <p:nvPr/>
        </p:nvSpPr>
        <p:spPr>
          <a:xfrm>
            <a:off x="5632704" y="4425696"/>
            <a:ext cx="1122632" cy="128016"/>
          </a:xfrm>
          <a:prstGeom prst="rect">
            <a:avLst/>
          </a:prstGeom>
          <a:solidFill>
            <a:srgbClr val="0B6E63"/>
          </a:solidFill>
          <a:ln w="12700">
            <a:solidFill>
              <a:srgbClr val="0B6E63"/>
            </a:solidFill>
            <a:prstDash val="solid"/>
          </a:ln>
        </p:spPr>
        <p:txBody>
          <a:bodyPr/>
          <a:lstStyle/>
          <a:p>
            <a:endParaRPr lang="en-US"/>
          </a:p>
        </p:txBody>
      </p:sp>
      <p:sp>
        <p:nvSpPr>
          <p:cNvPr id="59" name="Text 57"/>
          <p:cNvSpPr/>
          <p:nvPr/>
        </p:nvSpPr>
        <p:spPr>
          <a:xfrm>
            <a:off x="6810451" y="4379976"/>
            <a:ext cx="2011680" cy="182880"/>
          </a:xfrm>
          <a:prstGeom prst="rect">
            <a:avLst/>
          </a:prstGeom>
          <a:noFill/>
          <a:ln/>
        </p:spPr>
        <p:txBody>
          <a:bodyPr wrap="square" rtlCol="0" anchor="ctr"/>
          <a:lstStyle/>
          <a:p>
            <a:pPr marL="0" indent="0">
              <a:buNone/>
            </a:pPr>
            <a:r>
              <a:rPr lang="en-US" sz="700" b="1" dirty="0">
                <a:latin typeface="Calibri" pitchFamily="34" charset="0"/>
                <a:ea typeface="Calibri" pitchFamily="34" charset="-122"/>
                <a:cs typeface="Calibri" pitchFamily="34" charset="-120"/>
              </a:rPr>
              <a:t>IFN response in immune clusters</a:t>
            </a:r>
            <a:endParaRPr lang="en-US" sz="700" b="1" dirty="0"/>
          </a:p>
        </p:txBody>
      </p:sp>
      <p:sp>
        <p:nvSpPr>
          <p:cNvPr id="60" name="Shape 58"/>
          <p:cNvSpPr/>
          <p:nvPr/>
        </p:nvSpPr>
        <p:spPr>
          <a:xfrm>
            <a:off x="4681728" y="4626864"/>
            <a:ext cx="4078224" cy="256032"/>
          </a:xfrm>
          <a:prstGeom prst="rect">
            <a:avLst/>
          </a:prstGeom>
          <a:solidFill>
            <a:srgbClr val="F7F9FC"/>
          </a:solidFill>
          <a:ln w="3810">
            <a:solidFill>
              <a:srgbClr val="E2E8EF"/>
            </a:solidFill>
            <a:prstDash val="solid"/>
          </a:ln>
        </p:spPr>
        <p:txBody>
          <a:bodyPr/>
          <a:lstStyle/>
          <a:p>
            <a:endParaRPr lang="en-US"/>
          </a:p>
        </p:txBody>
      </p:sp>
      <p:sp>
        <p:nvSpPr>
          <p:cNvPr id="61" name="Shape 59"/>
          <p:cNvSpPr/>
          <p:nvPr/>
        </p:nvSpPr>
        <p:spPr>
          <a:xfrm>
            <a:off x="4681728" y="4626864"/>
            <a:ext cx="36576" cy="256032"/>
          </a:xfrm>
          <a:prstGeom prst="rect">
            <a:avLst/>
          </a:prstGeom>
          <a:solidFill>
            <a:srgbClr val="2D3F55"/>
          </a:solidFill>
          <a:ln w="12700">
            <a:solidFill>
              <a:srgbClr val="2D3F55"/>
            </a:solidFill>
            <a:prstDash val="solid"/>
          </a:ln>
        </p:spPr>
        <p:txBody>
          <a:bodyPr/>
          <a:lstStyle/>
          <a:p>
            <a:endParaRPr lang="en-US"/>
          </a:p>
        </p:txBody>
      </p:sp>
      <p:sp>
        <p:nvSpPr>
          <p:cNvPr id="62" name="Text 60"/>
          <p:cNvSpPr/>
          <p:nvPr/>
        </p:nvSpPr>
        <p:spPr>
          <a:xfrm>
            <a:off x="4773168" y="4663440"/>
            <a:ext cx="822960" cy="182880"/>
          </a:xfrm>
          <a:prstGeom prst="rect">
            <a:avLst/>
          </a:prstGeom>
          <a:noFill/>
          <a:ln/>
        </p:spPr>
        <p:txBody>
          <a:bodyPr wrap="square" rtlCol="0" anchor="ctr"/>
          <a:lstStyle/>
          <a:p>
            <a:pPr marL="0" indent="0">
              <a:buNone/>
            </a:pPr>
            <a:r>
              <a:rPr lang="en-US" sz="900" b="1" dirty="0">
                <a:solidFill>
                  <a:srgbClr val="2D3F55"/>
                </a:solidFill>
                <a:latin typeface="Calibri" pitchFamily="34" charset="0"/>
                <a:ea typeface="Calibri" pitchFamily="34" charset="-122"/>
                <a:cs typeface="Calibri" pitchFamily="34" charset="-120"/>
              </a:rPr>
              <a:t>p53</a:t>
            </a:r>
            <a:endParaRPr lang="en-US" sz="900" dirty="0"/>
          </a:p>
        </p:txBody>
      </p:sp>
      <p:sp>
        <p:nvSpPr>
          <p:cNvPr id="63" name="Shape 61"/>
          <p:cNvSpPr/>
          <p:nvPr/>
        </p:nvSpPr>
        <p:spPr>
          <a:xfrm>
            <a:off x="5632703" y="4700015"/>
            <a:ext cx="1110083" cy="140833"/>
          </a:xfrm>
          <a:prstGeom prst="rect">
            <a:avLst/>
          </a:prstGeom>
          <a:solidFill>
            <a:srgbClr val="2D3F55"/>
          </a:solidFill>
          <a:ln w="12700">
            <a:solidFill>
              <a:srgbClr val="2D3F55"/>
            </a:solidFill>
            <a:prstDash val="solid"/>
          </a:ln>
        </p:spPr>
        <p:txBody>
          <a:bodyPr/>
          <a:lstStyle/>
          <a:p>
            <a:endParaRPr lang="en-US"/>
          </a:p>
        </p:txBody>
      </p:sp>
      <p:sp>
        <p:nvSpPr>
          <p:cNvPr id="64" name="Text 62"/>
          <p:cNvSpPr/>
          <p:nvPr/>
        </p:nvSpPr>
        <p:spPr>
          <a:xfrm>
            <a:off x="6852514" y="4657969"/>
            <a:ext cx="2011680" cy="182880"/>
          </a:xfrm>
          <a:prstGeom prst="rect">
            <a:avLst/>
          </a:prstGeom>
          <a:noFill/>
          <a:ln/>
        </p:spPr>
        <p:txBody>
          <a:bodyPr wrap="square" rtlCol="0" anchor="ctr"/>
          <a:lstStyle/>
          <a:p>
            <a:pPr marL="0" indent="0">
              <a:buNone/>
            </a:pPr>
            <a:r>
              <a:rPr lang="en-US" sz="700" b="1" dirty="0">
                <a:latin typeface="Calibri" pitchFamily="34" charset="0"/>
                <a:ea typeface="Calibri" pitchFamily="34" charset="-122"/>
                <a:cs typeface="Calibri" pitchFamily="34" charset="-120"/>
              </a:rPr>
              <a:t>DNA damage response</a:t>
            </a:r>
            <a:endParaRPr lang="en-US" sz="700" b="1" dirty="0"/>
          </a:p>
        </p:txBody>
      </p:sp>
      <p:pic>
        <p:nvPicPr>
          <p:cNvPr id="68" name="Picture 67">
            <a:extLst>
              <a:ext uri="{FF2B5EF4-FFF2-40B4-BE49-F238E27FC236}">
                <a16:creationId xmlns:a16="http://schemas.microsoft.com/office/drawing/2014/main" id="{97B0969F-A0EA-C11B-5BA7-D32A0D0A8DEB}"/>
              </a:ext>
            </a:extLst>
          </p:cNvPr>
          <p:cNvPicPr>
            <a:picLocks noChangeAspect="1"/>
          </p:cNvPicPr>
          <p:nvPr/>
        </p:nvPicPr>
        <p:blipFill>
          <a:blip r:embed="rId3"/>
          <a:stretch>
            <a:fillRect/>
          </a:stretch>
        </p:blipFill>
        <p:spPr>
          <a:xfrm>
            <a:off x="4755193" y="1493271"/>
            <a:ext cx="3931607" cy="18817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CHALLENGES &amp; SOLUTIONS</a:t>
            </a:r>
            <a:endParaRPr lang="en-US" sz="1700" dirty="0"/>
          </a:p>
        </p:txBody>
      </p:sp>
      <p:sp>
        <p:nvSpPr>
          <p:cNvPr id="4" name="Shape 2"/>
          <p:cNvSpPr/>
          <p:nvPr/>
        </p:nvSpPr>
        <p:spPr>
          <a:xfrm>
            <a:off x="274320" y="804672"/>
            <a:ext cx="4251960" cy="1993392"/>
          </a:xfrm>
          <a:prstGeom prst="rect">
            <a:avLst/>
          </a:prstGeom>
          <a:solidFill>
            <a:srgbClr val="FFFFFF"/>
          </a:solidFill>
          <a:ln w="1524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5" name="Shape 3"/>
          <p:cNvSpPr/>
          <p:nvPr/>
        </p:nvSpPr>
        <p:spPr>
          <a:xfrm>
            <a:off x="274320" y="804672"/>
            <a:ext cx="4251960" cy="54864"/>
          </a:xfrm>
          <a:prstGeom prst="rect">
            <a:avLst/>
          </a:prstGeom>
          <a:solidFill>
            <a:srgbClr val="A63010"/>
          </a:solidFill>
          <a:ln w="12700">
            <a:solidFill>
              <a:srgbClr val="A63010"/>
            </a:solidFill>
            <a:prstDash val="solid"/>
          </a:ln>
        </p:spPr>
        <p:txBody>
          <a:bodyPr/>
          <a:lstStyle/>
          <a:p>
            <a:endParaRPr lang="en-US"/>
          </a:p>
        </p:txBody>
      </p:sp>
      <p:sp>
        <p:nvSpPr>
          <p:cNvPr id="6" name="Shape 4"/>
          <p:cNvSpPr/>
          <p:nvPr/>
        </p:nvSpPr>
        <p:spPr>
          <a:xfrm>
            <a:off x="365760" y="896112"/>
            <a:ext cx="329184" cy="329184"/>
          </a:xfrm>
          <a:prstGeom prst="ellipse">
            <a:avLst/>
          </a:prstGeom>
          <a:solidFill>
            <a:srgbClr val="A63010"/>
          </a:solidFill>
          <a:ln w="12700">
            <a:solidFill>
              <a:srgbClr val="A63010"/>
            </a:solidFill>
            <a:prstDash val="solid"/>
          </a:ln>
        </p:spPr>
        <p:txBody>
          <a:bodyPr/>
          <a:lstStyle/>
          <a:p>
            <a:endParaRPr lang="en-US"/>
          </a:p>
        </p:txBody>
      </p:sp>
      <p:sp>
        <p:nvSpPr>
          <p:cNvPr id="7" name="Text 5"/>
          <p:cNvSpPr/>
          <p:nvPr/>
        </p:nvSpPr>
        <p:spPr>
          <a:xfrm>
            <a:off x="365760" y="914400"/>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768096" y="896112"/>
            <a:ext cx="3657600" cy="274320"/>
          </a:xfrm>
          <a:prstGeom prst="rect">
            <a:avLst/>
          </a:prstGeom>
          <a:noFill/>
          <a:ln/>
        </p:spPr>
        <p:txBody>
          <a:bodyPr wrap="square" rtlCol="0" anchor="ctr"/>
          <a:lstStyle/>
          <a:p>
            <a:pPr marL="0" indent="0">
              <a:buNone/>
            </a:pPr>
            <a:r>
              <a:rPr lang="en-US" sz="1000" b="1" dirty="0">
                <a:solidFill>
                  <a:srgbClr val="A63010"/>
                </a:solidFill>
                <a:latin typeface="Calibri" pitchFamily="34" charset="0"/>
                <a:ea typeface="Calibri" pitchFamily="34" charset="-122"/>
                <a:cs typeface="Calibri" pitchFamily="34" charset="-120"/>
              </a:rPr>
              <a:t>Cluster Annotation Completeness</a:t>
            </a:r>
            <a:endParaRPr lang="en-US" sz="1000" dirty="0"/>
          </a:p>
        </p:txBody>
      </p:sp>
      <p:sp>
        <p:nvSpPr>
          <p:cNvPr id="9" name="Text 7"/>
          <p:cNvSpPr/>
          <p:nvPr/>
        </p:nvSpPr>
        <p:spPr>
          <a:xfrm>
            <a:off x="384048" y="1261872"/>
            <a:ext cx="4059936" cy="65836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All 11 Leiden clusters must be explicitly annotated. Any NaN propagates — crashing neighborhood enrichment and LR analysis in downstream notebooks.</a:t>
            </a:r>
            <a:endParaRPr lang="en-US" sz="900" dirty="0"/>
          </a:p>
        </p:txBody>
      </p:sp>
      <p:sp>
        <p:nvSpPr>
          <p:cNvPr id="10" name="Shape 8"/>
          <p:cNvSpPr/>
          <p:nvPr/>
        </p:nvSpPr>
        <p:spPr>
          <a:xfrm>
            <a:off x="384048" y="1993392"/>
            <a:ext cx="4059936" cy="731520"/>
          </a:xfrm>
          <a:prstGeom prst="rect">
            <a:avLst/>
          </a:prstGeom>
          <a:solidFill>
            <a:srgbClr val="F7F9FC"/>
          </a:solidFill>
          <a:ln w="12700">
            <a:solidFill>
              <a:srgbClr val="E2E8EF"/>
            </a:solidFill>
            <a:prstDash val="solid"/>
          </a:ln>
        </p:spPr>
        <p:txBody>
          <a:bodyPr/>
          <a:lstStyle/>
          <a:p>
            <a:endParaRPr lang="en-US"/>
          </a:p>
        </p:txBody>
      </p:sp>
      <p:sp>
        <p:nvSpPr>
          <p:cNvPr id="11" name="Text 9"/>
          <p:cNvSpPr/>
          <p:nvPr/>
        </p:nvSpPr>
        <p:spPr>
          <a:xfrm>
            <a:off x="438912" y="2029968"/>
            <a:ext cx="3950208" cy="658368"/>
          </a:xfrm>
          <a:prstGeom prst="rect">
            <a:avLst/>
          </a:prstGeom>
          <a:noFill/>
          <a:ln/>
        </p:spPr>
        <p:txBody>
          <a:bodyPr wrap="square" rtlCol="0" anchor="ctr"/>
          <a:lstStyle/>
          <a:p>
            <a:pPr marL="0" indent="0">
              <a:buNone/>
            </a:pPr>
            <a:r>
              <a:rPr lang="en-US" sz="850" i="1" dirty="0">
                <a:solidFill>
                  <a:srgbClr val="A63010"/>
                </a:solidFill>
                <a:latin typeface="Calibri" pitchFamily="34" charset="0"/>
                <a:ea typeface="Calibri" pitchFamily="34" charset="-122"/>
                <a:cs typeface="Calibri" pitchFamily="34" charset="-120"/>
              </a:rPr>
              <a:t>FIX: Added all 11 clusters to annotation dictionary. Added cluster_labels = cluster_annotations.copy(). Deleted stale cell_type_colors before each plot.</a:t>
            </a:r>
            <a:endParaRPr lang="en-US" sz="850" dirty="0"/>
          </a:p>
        </p:txBody>
      </p:sp>
      <p:sp>
        <p:nvSpPr>
          <p:cNvPr id="12" name="Shape 10"/>
          <p:cNvSpPr/>
          <p:nvPr/>
        </p:nvSpPr>
        <p:spPr>
          <a:xfrm>
            <a:off x="4709160" y="804672"/>
            <a:ext cx="4251960" cy="1993392"/>
          </a:xfrm>
          <a:prstGeom prst="rect">
            <a:avLst/>
          </a:prstGeom>
          <a:solidFill>
            <a:srgbClr val="FFFFFF"/>
          </a:solidFill>
          <a:ln w="15240">
            <a:solidFill>
              <a:srgbClr val="1A2B45"/>
            </a:solidFill>
            <a:prstDash val="solid"/>
          </a:ln>
          <a:effectLst>
            <a:outerShdw blurRad="76200" dist="38100" dir="8100000" algn="bl" rotWithShape="0">
              <a:srgbClr val="000000">
                <a:alpha val="10000"/>
              </a:srgbClr>
            </a:outerShdw>
          </a:effectLst>
        </p:spPr>
        <p:txBody>
          <a:bodyPr/>
          <a:lstStyle/>
          <a:p>
            <a:endParaRPr lang="en-US"/>
          </a:p>
        </p:txBody>
      </p:sp>
      <p:sp>
        <p:nvSpPr>
          <p:cNvPr id="13" name="Shape 11"/>
          <p:cNvSpPr/>
          <p:nvPr/>
        </p:nvSpPr>
        <p:spPr>
          <a:xfrm>
            <a:off x="4709160" y="804672"/>
            <a:ext cx="4251960" cy="54864"/>
          </a:xfrm>
          <a:prstGeom prst="rect">
            <a:avLst/>
          </a:prstGeom>
          <a:solidFill>
            <a:srgbClr val="1A2B45"/>
          </a:solidFill>
          <a:ln w="12700">
            <a:solidFill>
              <a:srgbClr val="1A2B45"/>
            </a:solidFill>
            <a:prstDash val="solid"/>
          </a:ln>
        </p:spPr>
        <p:txBody>
          <a:bodyPr/>
          <a:lstStyle/>
          <a:p>
            <a:endParaRPr lang="en-US"/>
          </a:p>
        </p:txBody>
      </p:sp>
      <p:sp>
        <p:nvSpPr>
          <p:cNvPr id="14" name="Shape 12"/>
          <p:cNvSpPr/>
          <p:nvPr/>
        </p:nvSpPr>
        <p:spPr>
          <a:xfrm>
            <a:off x="4800600" y="896112"/>
            <a:ext cx="329184" cy="329184"/>
          </a:xfrm>
          <a:prstGeom prst="ellipse">
            <a:avLst/>
          </a:prstGeom>
          <a:solidFill>
            <a:srgbClr val="1A2B45"/>
          </a:solidFill>
          <a:ln w="12700">
            <a:solidFill>
              <a:srgbClr val="1A2B45"/>
            </a:solidFill>
            <a:prstDash val="solid"/>
          </a:ln>
        </p:spPr>
        <p:txBody>
          <a:bodyPr/>
          <a:lstStyle/>
          <a:p>
            <a:endParaRPr lang="en-US"/>
          </a:p>
        </p:txBody>
      </p:sp>
      <p:sp>
        <p:nvSpPr>
          <p:cNvPr id="15" name="Text 13"/>
          <p:cNvSpPr/>
          <p:nvPr/>
        </p:nvSpPr>
        <p:spPr>
          <a:xfrm>
            <a:off x="4800600" y="914400"/>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5202936" y="896112"/>
            <a:ext cx="3657600" cy="274320"/>
          </a:xfrm>
          <a:prstGeom prst="rect">
            <a:avLst/>
          </a:prstGeom>
          <a:noFill/>
          <a:ln/>
        </p:spPr>
        <p:txBody>
          <a:bodyPr wrap="square" rtlCol="0" anchor="ctr"/>
          <a:lstStyle/>
          <a:p>
            <a:pPr marL="0" indent="0">
              <a:buNone/>
            </a:pPr>
            <a:r>
              <a:rPr lang="en-US" sz="1000" b="1" dirty="0">
                <a:solidFill>
                  <a:srgbClr val="1A2B45"/>
                </a:solidFill>
                <a:latin typeface="Calibri" pitchFamily="34" charset="0"/>
                <a:ea typeface="Calibri" pitchFamily="34" charset="-122"/>
                <a:cs typeface="Calibri" pitchFamily="34" charset="-120"/>
              </a:rPr>
              <a:t>Hardcoded Cluster Names Across Notebooks</a:t>
            </a:r>
            <a:endParaRPr lang="en-US" sz="1000" dirty="0"/>
          </a:p>
        </p:txBody>
      </p:sp>
      <p:sp>
        <p:nvSpPr>
          <p:cNvPr id="17" name="Text 15"/>
          <p:cNvSpPr/>
          <p:nvPr/>
        </p:nvSpPr>
        <p:spPr>
          <a:xfrm>
            <a:off x="4818888" y="1261872"/>
            <a:ext cx="4059936" cy="65836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After re-annotating clusters, old names (e.g. 'Invasive Carcinoma Core EPCAM+ ESR1+') persisted in NB04 co-occurrence and NB06 ligrec plot, causing KeyError at runtime.</a:t>
            </a:r>
            <a:endParaRPr lang="en-US" sz="900" dirty="0"/>
          </a:p>
        </p:txBody>
      </p:sp>
      <p:sp>
        <p:nvSpPr>
          <p:cNvPr id="18" name="Shape 16"/>
          <p:cNvSpPr/>
          <p:nvPr/>
        </p:nvSpPr>
        <p:spPr>
          <a:xfrm>
            <a:off x="4818888" y="1993392"/>
            <a:ext cx="4059936" cy="731520"/>
          </a:xfrm>
          <a:prstGeom prst="rect">
            <a:avLst/>
          </a:prstGeom>
          <a:solidFill>
            <a:srgbClr val="F7F9FC"/>
          </a:solidFill>
          <a:ln w="12700">
            <a:solidFill>
              <a:srgbClr val="E2E8EF"/>
            </a:solidFill>
            <a:prstDash val="solid"/>
          </a:ln>
        </p:spPr>
        <p:txBody>
          <a:bodyPr/>
          <a:lstStyle/>
          <a:p>
            <a:endParaRPr lang="en-US"/>
          </a:p>
        </p:txBody>
      </p:sp>
      <p:sp>
        <p:nvSpPr>
          <p:cNvPr id="19" name="Text 17"/>
          <p:cNvSpPr/>
          <p:nvPr/>
        </p:nvSpPr>
        <p:spPr>
          <a:xfrm>
            <a:off x="4873752" y="2029968"/>
            <a:ext cx="3950208" cy="658368"/>
          </a:xfrm>
          <a:prstGeom prst="rect">
            <a:avLst/>
          </a:prstGeom>
          <a:noFill/>
          <a:ln/>
        </p:spPr>
        <p:txBody>
          <a:bodyPr wrap="square" rtlCol="0" anchor="ctr"/>
          <a:lstStyle/>
          <a:p>
            <a:pPr marL="0" indent="0">
              <a:buNone/>
            </a:pPr>
            <a:r>
              <a:rPr lang="en-US" sz="850" i="1" dirty="0">
                <a:solidFill>
                  <a:srgbClr val="1A2B45"/>
                </a:solidFill>
                <a:latin typeface="Calibri" pitchFamily="34" charset="0"/>
                <a:ea typeface="Calibri" pitchFamily="34" charset="-122"/>
                <a:cs typeface="Calibri" pitchFamily="34" charset="-120"/>
              </a:rPr>
              <a:t>FIX: Systematic audit of all 7 notebooks. Replaced every hardcoded cluster name. Added cluster existence check before each plot to catch future mismatches.</a:t>
            </a:r>
            <a:endParaRPr lang="en-US" sz="850" dirty="0"/>
          </a:p>
        </p:txBody>
      </p:sp>
      <p:sp>
        <p:nvSpPr>
          <p:cNvPr id="20" name="Shape 18"/>
          <p:cNvSpPr/>
          <p:nvPr/>
        </p:nvSpPr>
        <p:spPr>
          <a:xfrm>
            <a:off x="274320" y="2889504"/>
            <a:ext cx="4251960" cy="1993392"/>
          </a:xfrm>
          <a:prstGeom prst="rect">
            <a:avLst/>
          </a:prstGeom>
          <a:solidFill>
            <a:srgbClr val="FFFFFF"/>
          </a:solidFill>
          <a:ln w="1524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21" name="Shape 19"/>
          <p:cNvSpPr/>
          <p:nvPr/>
        </p:nvSpPr>
        <p:spPr>
          <a:xfrm>
            <a:off x="274320" y="2889504"/>
            <a:ext cx="4251960" cy="54864"/>
          </a:xfrm>
          <a:prstGeom prst="rect">
            <a:avLst/>
          </a:prstGeom>
          <a:solidFill>
            <a:srgbClr val="0B6E63"/>
          </a:solidFill>
          <a:ln w="12700">
            <a:solidFill>
              <a:srgbClr val="0B6E63"/>
            </a:solidFill>
            <a:prstDash val="solid"/>
          </a:ln>
        </p:spPr>
        <p:txBody>
          <a:bodyPr/>
          <a:lstStyle/>
          <a:p>
            <a:endParaRPr lang="en-US"/>
          </a:p>
        </p:txBody>
      </p:sp>
      <p:sp>
        <p:nvSpPr>
          <p:cNvPr id="22" name="Shape 20"/>
          <p:cNvSpPr/>
          <p:nvPr/>
        </p:nvSpPr>
        <p:spPr>
          <a:xfrm>
            <a:off x="365760" y="2980944"/>
            <a:ext cx="329184" cy="329184"/>
          </a:xfrm>
          <a:prstGeom prst="ellipse">
            <a:avLst/>
          </a:prstGeom>
          <a:solidFill>
            <a:srgbClr val="0B6E63"/>
          </a:solidFill>
          <a:ln w="12700">
            <a:solidFill>
              <a:srgbClr val="0B6E63"/>
            </a:solidFill>
            <a:prstDash val="solid"/>
          </a:ln>
        </p:spPr>
        <p:txBody>
          <a:bodyPr/>
          <a:lstStyle/>
          <a:p>
            <a:endParaRPr lang="en-US"/>
          </a:p>
        </p:txBody>
      </p:sp>
      <p:sp>
        <p:nvSpPr>
          <p:cNvPr id="23" name="Text 21"/>
          <p:cNvSpPr/>
          <p:nvPr/>
        </p:nvSpPr>
        <p:spPr>
          <a:xfrm>
            <a:off x="365760" y="2999232"/>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4" name="Text 22"/>
          <p:cNvSpPr/>
          <p:nvPr/>
        </p:nvSpPr>
        <p:spPr>
          <a:xfrm>
            <a:off x="768096" y="2980944"/>
            <a:ext cx="3657600" cy="274320"/>
          </a:xfrm>
          <a:prstGeom prst="rect">
            <a:avLst/>
          </a:prstGeom>
          <a:noFill/>
          <a:ln/>
        </p:spPr>
        <p:txBody>
          <a:bodyPr wrap="square" rtlCol="0" anchor="ctr"/>
          <a:lstStyle/>
          <a:p>
            <a:pPr marL="0" indent="0">
              <a:buNone/>
            </a:pPr>
            <a:r>
              <a:rPr lang="en-US" sz="1000" b="1" dirty="0">
                <a:solidFill>
                  <a:srgbClr val="0B6E63"/>
                </a:solidFill>
                <a:latin typeface="Calibri" pitchFamily="34" charset="0"/>
                <a:ea typeface="Calibri" pitchFamily="34" charset="-122"/>
                <a:cs typeface="Calibri" pitchFamily="34" charset="-120"/>
              </a:rPr>
              <a:t>Max vs Mean Score in Summary Table</a:t>
            </a:r>
            <a:endParaRPr lang="en-US" sz="1000" dirty="0"/>
          </a:p>
        </p:txBody>
      </p:sp>
      <p:sp>
        <p:nvSpPr>
          <p:cNvPr id="25" name="Text 23"/>
          <p:cNvSpPr/>
          <p:nvPr/>
        </p:nvSpPr>
        <p:spPr>
          <a:xfrm>
            <a:off x="384048" y="3346704"/>
            <a:ext cx="4059936" cy="65836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Max score per cluster inflated by outlier spots at boundaries. Plasma cell max score (4.23) incorrectly attributed to Adipose cluster — one adjacent spot skewing the result.</a:t>
            </a:r>
            <a:endParaRPr lang="en-US" sz="900" dirty="0"/>
          </a:p>
        </p:txBody>
      </p:sp>
      <p:sp>
        <p:nvSpPr>
          <p:cNvPr id="26" name="Shape 24"/>
          <p:cNvSpPr/>
          <p:nvPr/>
        </p:nvSpPr>
        <p:spPr>
          <a:xfrm>
            <a:off x="384048" y="4078224"/>
            <a:ext cx="4059936" cy="731520"/>
          </a:xfrm>
          <a:prstGeom prst="rect">
            <a:avLst/>
          </a:prstGeom>
          <a:solidFill>
            <a:srgbClr val="F7F9FC"/>
          </a:solidFill>
          <a:ln w="12700">
            <a:solidFill>
              <a:srgbClr val="E2E8EF"/>
            </a:solidFill>
            <a:prstDash val="solid"/>
          </a:ln>
        </p:spPr>
        <p:txBody>
          <a:bodyPr/>
          <a:lstStyle/>
          <a:p>
            <a:endParaRPr lang="en-US"/>
          </a:p>
        </p:txBody>
      </p:sp>
      <p:sp>
        <p:nvSpPr>
          <p:cNvPr id="27" name="Text 25"/>
          <p:cNvSpPr/>
          <p:nvPr/>
        </p:nvSpPr>
        <p:spPr>
          <a:xfrm>
            <a:off x="438912" y="4114800"/>
            <a:ext cx="3950208" cy="658368"/>
          </a:xfrm>
          <a:prstGeom prst="rect">
            <a:avLst/>
          </a:prstGeom>
          <a:noFill/>
          <a:ln/>
        </p:spPr>
        <p:txBody>
          <a:bodyPr wrap="square" rtlCol="0" anchor="ctr"/>
          <a:lstStyle/>
          <a:p>
            <a:pPr marL="0" indent="0">
              <a:buNone/>
            </a:pPr>
            <a:r>
              <a:rPr lang="en-US" sz="850" i="1" dirty="0">
                <a:solidFill>
                  <a:srgbClr val="0B6E63"/>
                </a:solidFill>
                <a:latin typeface="Calibri" pitchFamily="34" charset="0"/>
                <a:ea typeface="Calibri" pitchFamily="34" charset="-122"/>
                <a:cs typeface="Calibri" pitchFamily="34" charset="-120"/>
              </a:rPr>
              <a:t>FIX: Switched summary to groupby('cell_type').mean().idxmax() — cluster-level mean is biologically representative. Max score kept as secondary statistic only.</a:t>
            </a:r>
            <a:endParaRPr lang="en-US" sz="850" dirty="0"/>
          </a:p>
        </p:txBody>
      </p:sp>
      <p:sp>
        <p:nvSpPr>
          <p:cNvPr id="28" name="Shape 26"/>
          <p:cNvSpPr/>
          <p:nvPr/>
        </p:nvSpPr>
        <p:spPr>
          <a:xfrm>
            <a:off x="4709160" y="2889504"/>
            <a:ext cx="4251960" cy="1993392"/>
          </a:xfrm>
          <a:prstGeom prst="rect">
            <a:avLst/>
          </a:prstGeom>
          <a:solidFill>
            <a:srgbClr val="FFFFFF"/>
          </a:solidFill>
          <a:ln w="15240">
            <a:solidFill>
              <a:srgbClr val="B8860B"/>
            </a:solidFill>
            <a:prstDash val="solid"/>
          </a:ln>
          <a:effectLst>
            <a:outerShdw blurRad="76200" dist="38100" dir="8100000" algn="bl" rotWithShape="0">
              <a:srgbClr val="000000">
                <a:alpha val="10000"/>
              </a:srgbClr>
            </a:outerShdw>
          </a:effectLst>
        </p:spPr>
        <p:txBody>
          <a:bodyPr/>
          <a:lstStyle/>
          <a:p>
            <a:endParaRPr lang="en-US"/>
          </a:p>
        </p:txBody>
      </p:sp>
      <p:sp>
        <p:nvSpPr>
          <p:cNvPr id="29" name="Shape 27"/>
          <p:cNvSpPr/>
          <p:nvPr/>
        </p:nvSpPr>
        <p:spPr>
          <a:xfrm>
            <a:off x="4709160" y="2889504"/>
            <a:ext cx="4251960" cy="54864"/>
          </a:xfrm>
          <a:prstGeom prst="rect">
            <a:avLst/>
          </a:prstGeom>
          <a:solidFill>
            <a:srgbClr val="B8860B"/>
          </a:solidFill>
          <a:ln w="12700">
            <a:solidFill>
              <a:srgbClr val="B8860B"/>
            </a:solidFill>
            <a:prstDash val="solid"/>
          </a:ln>
        </p:spPr>
        <p:txBody>
          <a:bodyPr/>
          <a:lstStyle/>
          <a:p>
            <a:endParaRPr lang="en-US"/>
          </a:p>
        </p:txBody>
      </p:sp>
      <p:sp>
        <p:nvSpPr>
          <p:cNvPr id="30" name="Shape 28"/>
          <p:cNvSpPr/>
          <p:nvPr/>
        </p:nvSpPr>
        <p:spPr>
          <a:xfrm>
            <a:off x="4800600" y="2980944"/>
            <a:ext cx="329184" cy="329184"/>
          </a:xfrm>
          <a:prstGeom prst="ellipse">
            <a:avLst/>
          </a:prstGeom>
          <a:solidFill>
            <a:srgbClr val="B8860B"/>
          </a:solidFill>
          <a:ln w="12700">
            <a:solidFill>
              <a:srgbClr val="B8860B"/>
            </a:solidFill>
            <a:prstDash val="solid"/>
          </a:ln>
        </p:spPr>
        <p:txBody>
          <a:bodyPr/>
          <a:lstStyle/>
          <a:p>
            <a:endParaRPr lang="en-US"/>
          </a:p>
        </p:txBody>
      </p:sp>
      <p:sp>
        <p:nvSpPr>
          <p:cNvPr id="31" name="Text 29"/>
          <p:cNvSpPr/>
          <p:nvPr/>
        </p:nvSpPr>
        <p:spPr>
          <a:xfrm>
            <a:off x="4800600" y="2999232"/>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2" name="Text 30"/>
          <p:cNvSpPr/>
          <p:nvPr/>
        </p:nvSpPr>
        <p:spPr>
          <a:xfrm>
            <a:off x="5202936" y="2980944"/>
            <a:ext cx="3657600" cy="274320"/>
          </a:xfrm>
          <a:prstGeom prst="rect">
            <a:avLst/>
          </a:prstGeom>
          <a:noFill/>
          <a:ln/>
        </p:spPr>
        <p:txBody>
          <a:bodyPr wrap="square" rtlCol="0" anchor="ctr"/>
          <a:lstStyle/>
          <a:p>
            <a:pPr marL="0" indent="0">
              <a:buNone/>
            </a:pPr>
            <a:r>
              <a:rPr lang="en-US" sz="1000" b="1" dirty="0">
                <a:solidFill>
                  <a:srgbClr val="B8860B"/>
                </a:solidFill>
                <a:latin typeface="Calibri" pitchFamily="34" charset="0"/>
                <a:ea typeface="Calibri" pitchFamily="34" charset="-122"/>
                <a:cs typeface="Calibri" pitchFamily="34" charset="-120"/>
              </a:rPr>
              <a:t>55 μm Resolution Limitation</a:t>
            </a:r>
            <a:endParaRPr lang="en-US" sz="1000" dirty="0"/>
          </a:p>
        </p:txBody>
      </p:sp>
      <p:sp>
        <p:nvSpPr>
          <p:cNvPr id="33" name="Text 31"/>
          <p:cNvSpPr/>
          <p:nvPr/>
        </p:nvSpPr>
        <p:spPr>
          <a:xfrm>
            <a:off x="4818888" y="3346704"/>
            <a:ext cx="4059936" cy="65836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Each Visium spot captures ~8 cells. Cell type scores reflect relative enrichment not absolute counts. A spot scoring high for carcinoma still contains stromal cells.</a:t>
            </a:r>
            <a:endParaRPr lang="en-US" sz="900" dirty="0"/>
          </a:p>
        </p:txBody>
      </p:sp>
      <p:sp>
        <p:nvSpPr>
          <p:cNvPr id="34" name="Shape 32"/>
          <p:cNvSpPr/>
          <p:nvPr/>
        </p:nvSpPr>
        <p:spPr>
          <a:xfrm>
            <a:off x="4818888" y="4078224"/>
            <a:ext cx="4059936" cy="731520"/>
          </a:xfrm>
          <a:prstGeom prst="rect">
            <a:avLst/>
          </a:prstGeom>
          <a:solidFill>
            <a:srgbClr val="F7F9FC"/>
          </a:solidFill>
          <a:ln w="12700">
            <a:solidFill>
              <a:srgbClr val="E2E8EF"/>
            </a:solidFill>
            <a:prstDash val="solid"/>
          </a:ln>
        </p:spPr>
        <p:txBody>
          <a:bodyPr/>
          <a:lstStyle/>
          <a:p>
            <a:endParaRPr lang="en-US"/>
          </a:p>
        </p:txBody>
      </p:sp>
      <p:sp>
        <p:nvSpPr>
          <p:cNvPr id="35" name="Text 33"/>
          <p:cNvSpPr/>
          <p:nvPr/>
        </p:nvSpPr>
        <p:spPr>
          <a:xfrm>
            <a:off x="4873752" y="4114800"/>
            <a:ext cx="3950208" cy="658368"/>
          </a:xfrm>
          <a:prstGeom prst="rect">
            <a:avLst/>
          </a:prstGeom>
          <a:noFill/>
          <a:ln/>
        </p:spPr>
        <p:txBody>
          <a:bodyPr wrap="square" rtlCol="0" anchor="ctr"/>
          <a:lstStyle/>
          <a:p>
            <a:pPr marL="0" indent="0">
              <a:buNone/>
            </a:pPr>
            <a:r>
              <a:rPr lang="en-US" sz="850" i="1" dirty="0">
                <a:solidFill>
                  <a:srgbClr val="B8860B"/>
                </a:solidFill>
                <a:latin typeface="Calibri" pitchFamily="34" charset="0"/>
                <a:ea typeface="Calibri" pitchFamily="34" charset="-122"/>
                <a:cs typeface="Calibri" pitchFamily="34" charset="-120"/>
              </a:rPr>
              <a:t>FIX: Acknowledged in methods. sc.tl.score_genes returns relative enrichment per spot. Cell2Location probabilistic deconvolution planned as next step for absolute counts.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FUTURE DIRECTIONS</a:t>
            </a:r>
            <a:endParaRPr lang="en-US" sz="1700" dirty="0"/>
          </a:p>
        </p:txBody>
      </p:sp>
      <p:sp>
        <p:nvSpPr>
          <p:cNvPr id="4" name="Shape 2"/>
          <p:cNvSpPr/>
          <p:nvPr/>
        </p:nvSpPr>
        <p:spPr>
          <a:xfrm>
            <a:off x="274320" y="804672"/>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5" name="Shape 3"/>
          <p:cNvSpPr/>
          <p:nvPr/>
        </p:nvSpPr>
        <p:spPr>
          <a:xfrm>
            <a:off x="365760" y="896112"/>
            <a:ext cx="329184" cy="329184"/>
          </a:xfrm>
          <a:prstGeom prst="ellipse">
            <a:avLst/>
          </a:prstGeom>
          <a:solidFill>
            <a:srgbClr val="0B6E63"/>
          </a:solidFill>
          <a:ln w="12700">
            <a:solidFill>
              <a:srgbClr val="0B6E63"/>
            </a:solidFill>
            <a:prstDash val="solid"/>
          </a:ln>
        </p:spPr>
        <p:txBody>
          <a:bodyPr/>
          <a:lstStyle/>
          <a:p>
            <a:endParaRPr lang="en-US"/>
          </a:p>
        </p:txBody>
      </p:sp>
      <p:sp>
        <p:nvSpPr>
          <p:cNvPr id="6" name="Text 4"/>
          <p:cNvSpPr/>
          <p:nvPr/>
        </p:nvSpPr>
        <p:spPr>
          <a:xfrm>
            <a:off x="365760" y="914400"/>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7" name="Shape 5"/>
          <p:cNvSpPr/>
          <p:nvPr/>
        </p:nvSpPr>
        <p:spPr>
          <a:xfrm>
            <a:off x="3749040" y="896112"/>
            <a:ext cx="713232" cy="219456"/>
          </a:xfrm>
          <a:prstGeom prst="rect">
            <a:avLst/>
          </a:prstGeom>
          <a:solidFill>
            <a:srgbClr val="0B6E63">
              <a:alpha val="22000"/>
            </a:srgbClr>
          </a:solidFill>
          <a:ln w="12700">
            <a:solidFill>
              <a:srgbClr val="0B6E63"/>
            </a:solidFill>
            <a:prstDash val="solid"/>
          </a:ln>
        </p:spPr>
        <p:txBody>
          <a:bodyPr/>
          <a:lstStyle/>
          <a:p>
            <a:endParaRPr lang="en-US"/>
          </a:p>
        </p:txBody>
      </p:sp>
      <p:sp>
        <p:nvSpPr>
          <p:cNvPr id="8" name="Text 6"/>
          <p:cNvSpPr/>
          <p:nvPr/>
        </p:nvSpPr>
        <p:spPr>
          <a:xfrm>
            <a:off x="3749040" y="896112"/>
            <a:ext cx="713232" cy="219456"/>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Near-term</a:t>
            </a:r>
            <a:endParaRPr lang="en-US" sz="800" dirty="0"/>
          </a:p>
        </p:txBody>
      </p:sp>
      <p:sp>
        <p:nvSpPr>
          <p:cNvPr id="9" name="Text 7"/>
          <p:cNvSpPr/>
          <p:nvPr/>
        </p:nvSpPr>
        <p:spPr>
          <a:xfrm>
            <a:off x="768096" y="896112"/>
            <a:ext cx="2907792" cy="274320"/>
          </a:xfrm>
          <a:prstGeom prst="rect">
            <a:avLst/>
          </a:prstGeom>
          <a:noFill/>
          <a:ln/>
        </p:spPr>
        <p:txBody>
          <a:bodyPr wrap="square" rtlCol="0" anchor="ctr"/>
          <a:lstStyle/>
          <a:p>
            <a:pPr marL="0" indent="0">
              <a:buNone/>
            </a:pPr>
            <a:r>
              <a:rPr lang="en-US" sz="1050" b="1" dirty="0">
                <a:solidFill>
                  <a:srgbClr val="0B6E63"/>
                </a:solidFill>
                <a:latin typeface="Calibri" pitchFamily="34" charset="0"/>
                <a:ea typeface="Calibri" pitchFamily="34" charset="-122"/>
                <a:cs typeface="Calibri" pitchFamily="34" charset="-120"/>
              </a:rPr>
              <a:t>Cell2Location Deconvolution</a:t>
            </a:r>
            <a:endParaRPr lang="en-US" sz="1050" dirty="0"/>
          </a:p>
        </p:txBody>
      </p:sp>
      <p:sp>
        <p:nvSpPr>
          <p:cNvPr id="10" name="Text 8"/>
          <p:cNvSpPr/>
          <p:nvPr/>
        </p:nvSpPr>
        <p:spPr>
          <a:xfrm>
            <a:off x="384048" y="1261872"/>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Replace signature scoring with probabilistic cell type deconvolution. Produces absolute cell counts per spot. Essential for quantifying TLS cellular composition precisely.</a:t>
            </a:r>
            <a:endParaRPr lang="en-US" sz="900" dirty="0"/>
          </a:p>
        </p:txBody>
      </p:sp>
      <p:sp>
        <p:nvSpPr>
          <p:cNvPr id="11" name="Shape 9"/>
          <p:cNvSpPr/>
          <p:nvPr/>
        </p:nvSpPr>
        <p:spPr>
          <a:xfrm>
            <a:off x="4709160" y="804672"/>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12" name="Shape 10"/>
          <p:cNvSpPr/>
          <p:nvPr/>
        </p:nvSpPr>
        <p:spPr>
          <a:xfrm>
            <a:off x="4800600" y="896112"/>
            <a:ext cx="329184" cy="329184"/>
          </a:xfrm>
          <a:prstGeom prst="ellipse">
            <a:avLst/>
          </a:prstGeom>
          <a:solidFill>
            <a:srgbClr val="0B6E63"/>
          </a:solidFill>
          <a:ln w="12700">
            <a:solidFill>
              <a:srgbClr val="0B6E63"/>
            </a:solidFill>
            <a:prstDash val="solid"/>
          </a:ln>
        </p:spPr>
        <p:txBody>
          <a:bodyPr/>
          <a:lstStyle/>
          <a:p>
            <a:endParaRPr lang="en-US"/>
          </a:p>
        </p:txBody>
      </p:sp>
      <p:sp>
        <p:nvSpPr>
          <p:cNvPr id="13" name="Text 11"/>
          <p:cNvSpPr/>
          <p:nvPr/>
        </p:nvSpPr>
        <p:spPr>
          <a:xfrm>
            <a:off x="4800600" y="914400"/>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4" name="Shape 12"/>
          <p:cNvSpPr/>
          <p:nvPr/>
        </p:nvSpPr>
        <p:spPr>
          <a:xfrm>
            <a:off x="8183880" y="896112"/>
            <a:ext cx="713232" cy="219456"/>
          </a:xfrm>
          <a:prstGeom prst="rect">
            <a:avLst/>
          </a:prstGeom>
          <a:solidFill>
            <a:srgbClr val="0B6E63">
              <a:alpha val="22000"/>
            </a:srgbClr>
          </a:solidFill>
          <a:ln w="12700">
            <a:solidFill>
              <a:srgbClr val="0B6E63"/>
            </a:solidFill>
            <a:prstDash val="solid"/>
          </a:ln>
        </p:spPr>
        <p:txBody>
          <a:bodyPr/>
          <a:lstStyle/>
          <a:p>
            <a:endParaRPr lang="en-US"/>
          </a:p>
        </p:txBody>
      </p:sp>
      <p:sp>
        <p:nvSpPr>
          <p:cNvPr id="15" name="Text 13"/>
          <p:cNvSpPr/>
          <p:nvPr/>
        </p:nvSpPr>
        <p:spPr>
          <a:xfrm>
            <a:off x="8183880" y="896112"/>
            <a:ext cx="713232" cy="219456"/>
          </a:xfrm>
          <a:prstGeom prst="rect">
            <a:avLst/>
          </a:prstGeom>
          <a:noFill/>
          <a:ln/>
        </p:spPr>
        <p:txBody>
          <a:bodyPr wrap="square" rtlCol="0" anchor="ctr"/>
          <a:lstStyle/>
          <a:p>
            <a:pPr marL="0" indent="0" algn="ctr">
              <a:buNone/>
            </a:pPr>
            <a:r>
              <a:rPr lang="en-US" sz="800" b="1" dirty="0">
                <a:solidFill>
                  <a:srgbClr val="0B6E63"/>
                </a:solidFill>
                <a:latin typeface="Calibri" pitchFamily="34" charset="0"/>
                <a:ea typeface="Calibri" pitchFamily="34" charset="-122"/>
                <a:cs typeface="Calibri" pitchFamily="34" charset="-120"/>
              </a:rPr>
              <a:t>Near-term</a:t>
            </a:r>
            <a:endParaRPr lang="en-US" sz="800" dirty="0"/>
          </a:p>
        </p:txBody>
      </p:sp>
      <p:sp>
        <p:nvSpPr>
          <p:cNvPr id="16" name="Text 14"/>
          <p:cNvSpPr/>
          <p:nvPr/>
        </p:nvSpPr>
        <p:spPr>
          <a:xfrm>
            <a:off x="5202936" y="896112"/>
            <a:ext cx="2907792" cy="274320"/>
          </a:xfrm>
          <a:prstGeom prst="rect">
            <a:avLst/>
          </a:prstGeom>
          <a:noFill/>
          <a:ln/>
        </p:spPr>
        <p:txBody>
          <a:bodyPr wrap="square" rtlCol="0" anchor="ctr"/>
          <a:lstStyle/>
          <a:p>
            <a:pPr marL="0" indent="0">
              <a:buNone/>
            </a:pPr>
            <a:r>
              <a:rPr lang="en-US" sz="1050" b="1" dirty="0">
                <a:solidFill>
                  <a:srgbClr val="0B6E63"/>
                </a:solidFill>
                <a:latin typeface="Calibri" pitchFamily="34" charset="0"/>
                <a:ea typeface="Calibri" pitchFamily="34" charset="-122"/>
                <a:cs typeface="Calibri" pitchFamily="34" charset="-120"/>
              </a:rPr>
              <a:t>Multi-patient Cohort Validation</a:t>
            </a:r>
            <a:endParaRPr lang="en-US" sz="1050" dirty="0"/>
          </a:p>
        </p:txBody>
      </p:sp>
      <p:sp>
        <p:nvSpPr>
          <p:cNvPr id="17" name="Text 15"/>
          <p:cNvSpPr/>
          <p:nvPr/>
        </p:nvSpPr>
        <p:spPr>
          <a:xfrm>
            <a:off x="4818888" y="1261872"/>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Apply pipeline to 10+ ER+ IDC patients with Harmony batch correction. Test whether Dual Barrier Score predicts immunotherapy resistance across patients.</a:t>
            </a:r>
            <a:endParaRPr lang="en-US" sz="900" dirty="0"/>
          </a:p>
        </p:txBody>
      </p:sp>
      <p:sp>
        <p:nvSpPr>
          <p:cNvPr id="18" name="Shape 16"/>
          <p:cNvSpPr/>
          <p:nvPr/>
        </p:nvSpPr>
        <p:spPr>
          <a:xfrm>
            <a:off x="274320" y="2194560"/>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19" name="Shape 17"/>
          <p:cNvSpPr/>
          <p:nvPr/>
        </p:nvSpPr>
        <p:spPr>
          <a:xfrm>
            <a:off x="365760" y="2286000"/>
            <a:ext cx="329184" cy="329184"/>
          </a:xfrm>
          <a:prstGeom prst="ellipse">
            <a:avLst/>
          </a:prstGeom>
          <a:solidFill>
            <a:srgbClr val="1A2B45"/>
          </a:solidFill>
          <a:ln w="12700">
            <a:solidFill>
              <a:srgbClr val="1A2B45"/>
            </a:solidFill>
            <a:prstDash val="solid"/>
          </a:ln>
        </p:spPr>
        <p:txBody>
          <a:bodyPr/>
          <a:lstStyle/>
          <a:p>
            <a:endParaRPr lang="en-US"/>
          </a:p>
        </p:txBody>
      </p:sp>
      <p:sp>
        <p:nvSpPr>
          <p:cNvPr id="20" name="Text 18"/>
          <p:cNvSpPr/>
          <p:nvPr/>
        </p:nvSpPr>
        <p:spPr>
          <a:xfrm>
            <a:off x="365760" y="2304288"/>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1" name="Shape 19"/>
          <p:cNvSpPr/>
          <p:nvPr/>
        </p:nvSpPr>
        <p:spPr>
          <a:xfrm>
            <a:off x="3749040" y="2286000"/>
            <a:ext cx="713232" cy="219456"/>
          </a:xfrm>
          <a:prstGeom prst="rect">
            <a:avLst/>
          </a:prstGeom>
          <a:solidFill>
            <a:srgbClr val="1A2B45">
              <a:alpha val="22000"/>
            </a:srgbClr>
          </a:solidFill>
          <a:ln w="12700">
            <a:solidFill>
              <a:srgbClr val="1A2B45"/>
            </a:solidFill>
            <a:prstDash val="solid"/>
          </a:ln>
        </p:spPr>
        <p:txBody>
          <a:bodyPr/>
          <a:lstStyle/>
          <a:p>
            <a:endParaRPr lang="en-US"/>
          </a:p>
        </p:txBody>
      </p:sp>
      <p:sp>
        <p:nvSpPr>
          <p:cNvPr id="22" name="Text 20"/>
          <p:cNvSpPr/>
          <p:nvPr/>
        </p:nvSpPr>
        <p:spPr>
          <a:xfrm>
            <a:off x="3749040" y="2286000"/>
            <a:ext cx="713232" cy="219456"/>
          </a:xfrm>
          <a:prstGeom prst="rect">
            <a:avLst/>
          </a:prstGeom>
          <a:noFill/>
          <a:ln/>
        </p:spPr>
        <p:txBody>
          <a:bodyPr wrap="square" rtlCol="0" anchor="ctr"/>
          <a:lstStyle/>
          <a:p>
            <a:pPr marL="0" indent="0" algn="ctr">
              <a:buNone/>
            </a:pPr>
            <a:r>
              <a:rPr lang="en-US" sz="800" b="1" dirty="0">
                <a:solidFill>
                  <a:srgbClr val="1A2B45"/>
                </a:solidFill>
                <a:latin typeface="Calibri" pitchFamily="34" charset="0"/>
                <a:ea typeface="Calibri" pitchFamily="34" charset="-122"/>
                <a:cs typeface="Calibri" pitchFamily="34" charset="-120"/>
              </a:rPr>
              <a:t>Mid-term</a:t>
            </a:r>
            <a:endParaRPr lang="en-US" sz="800" dirty="0"/>
          </a:p>
        </p:txBody>
      </p:sp>
      <p:sp>
        <p:nvSpPr>
          <p:cNvPr id="23" name="Text 21"/>
          <p:cNvSpPr/>
          <p:nvPr/>
        </p:nvSpPr>
        <p:spPr>
          <a:xfrm>
            <a:off x="768096" y="2286000"/>
            <a:ext cx="2907792" cy="274320"/>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Sub-cellular Resolution (Xenium / Visium HD)</a:t>
            </a:r>
            <a:endParaRPr lang="en-US" sz="1050" dirty="0"/>
          </a:p>
        </p:txBody>
      </p:sp>
      <p:sp>
        <p:nvSpPr>
          <p:cNvPr id="24" name="Text 22"/>
          <p:cNvSpPr/>
          <p:nvPr/>
        </p:nvSpPr>
        <p:spPr>
          <a:xfrm>
            <a:off x="384048" y="2651760"/>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Upgrade to 2 μm resolution. Resolve TLS internal architecture — germinal centres, HEVs, T cell zones — at single-cell level within the tissue.</a:t>
            </a:r>
            <a:endParaRPr lang="en-US" sz="900" dirty="0"/>
          </a:p>
        </p:txBody>
      </p:sp>
      <p:sp>
        <p:nvSpPr>
          <p:cNvPr id="25" name="Shape 23"/>
          <p:cNvSpPr/>
          <p:nvPr/>
        </p:nvSpPr>
        <p:spPr>
          <a:xfrm>
            <a:off x="4709160" y="2194560"/>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26" name="Shape 24"/>
          <p:cNvSpPr/>
          <p:nvPr/>
        </p:nvSpPr>
        <p:spPr>
          <a:xfrm>
            <a:off x="4800600" y="2286000"/>
            <a:ext cx="329184" cy="329184"/>
          </a:xfrm>
          <a:prstGeom prst="ellipse">
            <a:avLst/>
          </a:prstGeom>
          <a:solidFill>
            <a:srgbClr val="1A2B45"/>
          </a:solidFill>
          <a:ln w="12700">
            <a:solidFill>
              <a:srgbClr val="1A2B45"/>
            </a:solidFill>
            <a:prstDash val="solid"/>
          </a:ln>
        </p:spPr>
        <p:txBody>
          <a:bodyPr/>
          <a:lstStyle/>
          <a:p>
            <a:endParaRPr lang="en-US"/>
          </a:p>
        </p:txBody>
      </p:sp>
      <p:sp>
        <p:nvSpPr>
          <p:cNvPr id="27" name="Text 25"/>
          <p:cNvSpPr/>
          <p:nvPr/>
        </p:nvSpPr>
        <p:spPr>
          <a:xfrm>
            <a:off x="4800600" y="2304288"/>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8" name="Shape 26"/>
          <p:cNvSpPr/>
          <p:nvPr/>
        </p:nvSpPr>
        <p:spPr>
          <a:xfrm>
            <a:off x="8183880" y="2286000"/>
            <a:ext cx="713232" cy="219456"/>
          </a:xfrm>
          <a:prstGeom prst="rect">
            <a:avLst/>
          </a:prstGeom>
          <a:solidFill>
            <a:srgbClr val="1A2B45">
              <a:alpha val="22000"/>
            </a:srgbClr>
          </a:solidFill>
          <a:ln w="12700">
            <a:solidFill>
              <a:srgbClr val="1A2B45"/>
            </a:solidFill>
            <a:prstDash val="solid"/>
          </a:ln>
        </p:spPr>
        <p:txBody>
          <a:bodyPr/>
          <a:lstStyle/>
          <a:p>
            <a:endParaRPr lang="en-US"/>
          </a:p>
        </p:txBody>
      </p:sp>
      <p:sp>
        <p:nvSpPr>
          <p:cNvPr id="29" name="Text 27"/>
          <p:cNvSpPr/>
          <p:nvPr/>
        </p:nvSpPr>
        <p:spPr>
          <a:xfrm>
            <a:off x="8183880" y="2286000"/>
            <a:ext cx="713232" cy="219456"/>
          </a:xfrm>
          <a:prstGeom prst="rect">
            <a:avLst/>
          </a:prstGeom>
          <a:noFill/>
          <a:ln/>
        </p:spPr>
        <p:txBody>
          <a:bodyPr wrap="square" rtlCol="0" anchor="ctr"/>
          <a:lstStyle/>
          <a:p>
            <a:pPr marL="0" indent="0" algn="ctr">
              <a:buNone/>
            </a:pPr>
            <a:r>
              <a:rPr lang="en-US" sz="800" b="1" dirty="0">
                <a:solidFill>
                  <a:srgbClr val="1A2B45"/>
                </a:solidFill>
                <a:latin typeface="Calibri" pitchFamily="34" charset="0"/>
                <a:ea typeface="Calibri" pitchFamily="34" charset="-122"/>
                <a:cs typeface="Calibri" pitchFamily="34" charset="-120"/>
              </a:rPr>
              <a:t>Mid-term</a:t>
            </a:r>
            <a:endParaRPr lang="en-US" sz="800" dirty="0"/>
          </a:p>
        </p:txBody>
      </p:sp>
      <p:sp>
        <p:nvSpPr>
          <p:cNvPr id="30" name="Text 28"/>
          <p:cNvSpPr/>
          <p:nvPr/>
        </p:nvSpPr>
        <p:spPr>
          <a:xfrm>
            <a:off x="5202936" y="2286000"/>
            <a:ext cx="2907792" cy="274320"/>
          </a:xfrm>
          <a:prstGeom prst="rect">
            <a:avLst/>
          </a:prstGeom>
          <a:noFill/>
          <a:ln/>
        </p:spPr>
        <p:txBody>
          <a:bodyPr wrap="square" rtlCol="0" anchor="ctr"/>
          <a:lstStyle/>
          <a:p>
            <a:pPr marL="0" indent="0">
              <a:buNone/>
            </a:pPr>
            <a:r>
              <a:rPr lang="en-US" sz="1050" b="1" dirty="0">
                <a:solidFill>
                  <a:srgbClr val="1A2B45"/>
                </a:solidFill>
                <a:latin typeface="Calibri" pitchFamily="34" charset="0"/>
                <a:ea typeface="Calibri" pitchFamily="34" charset="-122"/>
                <a:cs typeface="Calibri" pitchFamily="34" charset="-120"/>
              </a:rPr>
              <a:t>CODEX Multiplexed Protein Imaging</a:t>
            </a:r>
            <a:endParaRPr lang="en-US" sz="1050" dirty="0"/>
          </a:p>
        </p:txBody>
      </p:sp>
      <p:sp>
        <p:nvSpPr>
          <p:cNvPr id="31" name="Text 29"/>
          <p:cNvSpPr/>
          <p:nvPr/>
        </p:nvSpPr>
        <p:spPr>
          <a:xfrm>
            <a:off x="4818888" y="2651760"/>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Validate PD-L1, TGF-β, and immune markers at protein level. Required for clinical translation — drugs target proteins, not transcripts.</a:t>
            </a:r>
            <a:endParaRPr lang="en-US" sz="900" dirty="0"/>
          </a:p>
        </p:txBody>
      </p:sp>
      <p:sp>
        <p:nvSpPr>
          <p:cNvPr id="32" name="Shape 30"/>
          <p:cNvSpPr/>
          <p:nvPr/>
        </p:nvSpPr>
        <p:spPr>
          <a:xfrm>
            <a:off x="274320" y="3584448"/>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33" name="Shape 31"/>
          <p:cNvSpPr/>
          <p:nvPr/>
        </p:nvSpPr>
        <p:spPr>
          <a:xfrm>
            <a:off x="365760" y="3675888"/>
            <a:ext cx="329184" cy="329184"/>
          </a:xfrm>
          <a:prstGeom prst="ellipse">
            <a:avLst/>
          </a:prstGeom>
          <a:solidFill>
            <a:srgbClr val="B8860B"/>
          </a:solidFill>
          <a:ln w="12700">
            <a:solidFill>
              <a:srgbClr val="B8860B"/>
            </a:solidFill>
            <a:prstDash val="solid"/>
          </a:ln>
        </p:spPr>
        <p:txBody>
          <a:bodyPr/>
          <a:lstStyle/>
          <a:p>
            <a:endParaRPr lang="en-US"/>
          </a:p>
        </p:txBody>
      </p:sp>
      <p:sp>
        <p:nvSpPr>
          <p:cNvPr id="34" name="Text 32"/>
          <p:cNvSpPr/>
          <p:nvPr/>
        </p:nvSpPr>
        <p:spPr>
          <a:xfrm>
            <a:off x="365760" y="3694176"/>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35" name="Shape 33"/>
          <p:cNvSpPr/>
          <p:nvPr/>
        </p:nvSpPr>
        <p:spPr>
          <a:xfrm>
            <a:off x="3749040" y="3675888"/>
            <a:ext cx="713232" cy="219456"/>
          </a:xfrm>
          <a:prstGeom prst="rect">
            <a:avLst/>
          </a:prstGeom>
          <a:solidFill>
            <a:srgbClr val="1A2B45">
              <a:alpha val="22000"/>
            </a:srgbClr>
          </a:solidFill>
          <a:ln w="12700">
            <a:solidFill>
              <a:srgbClr val="1A2B45"/>
            </a:solidFill>
            <a:prstDash val="solid"/>
          </a:ln>
        </p:spPr>
        <p:txBody>
          <a:bodyPr/>
          <a:lstStyle/>
          <a:p>
            <a:endParaRPr lang="en-US"/>
          </a:p>
        </p:txBody>
      </p:sp>
      <p:sp>
        <p:nvSpPr>
          <p:cNvPr id="36" name="Text 34"/>
          <p:cNvSpPr/>
          <p:nvPr/>
        </p:nvSpPr>
        <p:spPr>
          <a:xfrm>
            <a:off x="3749040" y="3675888"/>
            <a:ext cx="713232" cy="219456"/>
          </a:xfrm>
          <a:prstGeom prst="rect">
            <a:avLst/>
          </a:prstGeom>
          <a:noFill/>
          <a:ln/>
        </p:spPr>
        <p:txBody>
          <a:bodyPr wrap="square" rtlCol="0" anchor="ctr"/>
          <a:lstStyle/>
          <a:p>
            <a:pPr marL="0" indent="0" algn="ctr">
              <a:buNone/>
            </a:pPr>
            <a:r>
              <a:rPr lang="en-US" sz="800" b="1" dirty="0">
                <a:solidFill>
                  <a:srgbClr val="1A2B45"/>
                </a:solidFill>
                <a:latin typeface="Calibri" pitchFamily="34" charset="0"/>
                <a:ea typeface="Calibri" pitchFamily="34" charset="-122"/>
                <a:cs typeface="Calibri" pitchFamily="34" charset="-120"/>
              </a:rPr>
              <a:t>Mid-term</a:t>
            </a:r>
            <a:endParaRPr lang="en-US" sz="800" dirty="0"/>
          </a:p>
        </p:txBody>
      </p:sp>
      <p:sp>
        <p:nvSpPr>
          <p:cNvPr id="37" name="Text 35"/>
          <p:cNvSpPr/>
          <p:nvPr/>
        </p:nvSpPr>
        <p:spPr>
          <a:xfrm>
            <a:off x="768096" y="3675888"/>
            <a:ext cx="2907792" cy="274320"/>
          </a:xfrm>
          <a:prstGeom prst="rect">
            <a:avLst/>
          </a:prstGeom>
          <a:noFill/>
          <a:ln/>
        </p:spPr>
        <p:txBody>
          <a:bodyPr wrap="square" rtlCol="0" anchor="ctr"/>
          <a:lstStyle/>
          <a:p>
            <a:pPr marL="0" indent="0">
              <a:buNone/>
            </a:pPr>
            <a:r>
              <a:rPr lang="en-US" sz="1050" b="1" dirty="0">
                <a:solidFill>
                  <a:srgbClr val="B8860B"/>
                </a:solidFill>
                <a:latin typeface="Calibri" pitchFamily="34" charset="0"/>
                <a:ea typeface="Calibri" pitchFamily="34" charset="-122"/>
                <a:cs typeface="Calibri" pitchFamily="34" charset="-120"/>
              </a:rPr>
              <a:t>TCGA-BRCA Survival Correlation</a:t>
            </a:r>
            <a:endParaRPr lang="en-US" sz="1050" dirty="0"/>
          </a:p>
        </p:txBody>
      </p:sp>
      <p:sp>
        <p:nvSpPr>
          <p:cNvPr id="38" name="Text 36"/>
          <p:cNvSpPr/>
          <p:nvPr/>
        </p:nvSpPr>
        <p:spPr>
          <a:xfrm>
            <a:off x="384048" y="4041648"/>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Extract spatial immune exclusion score. Correlate with overall survival in TCGA breast cancer cohort. Test whether dual barrier score is an independent prognostic biomarker.</a:t>
            </a:r>
            <a:endParaRPr lang="en-US" sz="900" dirty="0"/>
          </a:p>
        </p:txBody>
      </p:sp>
      <p:sp>
        <p:nvSpPr>
          <p:cNvPr id="39" name="Shape 37"/>
          <p:cNvSpPr/>
          <p:nvPr/>
        </p:nvSpPr>
        <p:spPr>
          <a:xfrm>
            <a:off x="4709160" y="3584448"/>
            <a:ext cx="4251960" cy="1280160"/>
          </a:xfrm>
          <a:prstGeom prst="rect">
            <a:avLst/>
          </a:prstGeom>
          <a:solidFill>
            <a:srgbClr val="FFFFFF"/>
          </a:solidFill>
          <a:ln w="6350">
            <a:solidFill>
              <a:srgbClr val="E2E8EF"/>
            </a:solidFill>
            <a:prstDash val="solid"/>
          </a:ln>
          <a:effectLst>
            <a:outerShdw blurRad="76200" dist="38100" dir="8100000" algn="bl" rotWithShape="0">
              <a:srgbClr val="000000">
                <a:alpha val="10000"/>
              </a:srgbClr>
            </a:outerShdw>
          </a:effectLst>
        </p:spPr>
        <p:txBody>
          <a:bodyPr/>
          <a:lstStyle/>
          <a:p>
            <a:endParaRPr lang="en-US"/>
          </a:p>
        </p:txBody>
      </p:sp>
      <p:sp>
        <p:nvSpPr>
          <p:cNvPr id="40" name="Shape 38"/>
          <p:cNvSpPr/>
          <p:nvPr/>
        </p:nvSpPr>
        <p:spPr>
          <a:xfrm>
            <a:off x="4800600" y="3675888"/>
            <a:ext cx="329184" cy="329184"/>
          </a:xfrm>
          <a:prstGeom prst="ellipse">
            <a:avLst/>
          </a:prstGeom>
          <a:solidFill>
            <a:srgbClr val="A63010"/>
          </a:solidFill>
          <a:ln w="12700">
            <a:solidFill>
              <a:srgbClr val="A63010"/>
            </a:solidFill>
            <a:prstDash val="solid"/>
          </a:ln>
        </p:spPr>
        <p:txBody>
          <a:bodyPr/>
          <a:lstStyle/>
          <a:p>
            <a:endParaRPr lang="en-US"/>
          </a:p>
        </p:txBody>
      </p:sp>
      <p:sp>
        <p:nvSpPr>
          <p:cNvPr id="41" name="Text 39"/>
          <p:cNvSpPr/>
          <p:nvPr/>
        </p:nvSpPr>
        <p:spPr>
          <a:xfrm>
            <a:off x="4800600" y="3694176"/>
            <a:ext cx="329184"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42" name="Shape 40"/>
          <p:cNvSpPr/>
          <p:nvPr/>
        </p:nvSpPr>
        <p:spPr>
          <a:xfrm>
            <a:off x="8183880" y="3675888"/>
            <a:ext cx="713232" cy="219456"/>
          </a:xfrm>
          <a:prstGeom prst="rect">
            <a:avLst/>
          </a:prstGeom>
          <a:solidFill>
            <a:srgbClr val="A63010">
              <a:alpha val="22000"/>
            </a:srgbClr>
          </a:solidFill>
          <a:ln w="12700">
            <a:solidFill>
              <a:srgbClr val="A63010"/>
            </a:solidFill>
            <a:prstDash val="solid"/>
          </a:ln>
        </p:spPr>
        <p:txBody>
          <a:bodyPr/>
          <a:lstStyle/>
          <a:p>
            <a:endParaRPr lang="en-US"/>
          </a:p>
        </p:txBody>
      </p:sp>
      <p:sp>
        <p:nvSpPr>
          <p:cNvPr id="43" name="Text 41"/>
          <p:cNvSpPr/>
          <p:nvPr/>
        </p:nvSpPr>
        <p:spPr>
          <a:xfrm>
            <a:off x="8183880" y="3675888"/>
            <a:ext cx="713232" cy="219456"/>
          </a:xfrm>
          <a:prstGeom prst="rect">
            <a:avLst/>
          </a:prstGeom>
          <a:noFill/>
          <a:ln/>
        </p:spPr>
        <p:txBody>
          <a:bodyPr wrap="square" rtlCol="0" anchor="ctr"/>
          <a:lstStyle/>
          <a:p>
            <a:pPr marL="0" indent="0" algn="ctr">
              <a:buNone/>
            </a:pPr>
            <a:r>
              <a:rPr lang="en-US" sz="800" b="1" dirty="0">
                <a:solidFill>
                  <a:srgbClr val="A63010"/>
                </a:solidFill>
                <a:latin typeface="Calibri" pitchFamily="34" charset="0"/>
                <a:ea typeface="Calibri" pitchFamily="34" charset="-122"/>
                <a:cs typeface="Calibri" pitchFamily="34" charset="-120"/>
              </a:rPr>
              <a:t>Long-term</a:t>
            </a:r>
            <a:endParaRPr lang="en-US" sz="800" dirty="0"/>
          </a:p>
        </p:txBody>
      </p:sp>
      <p:sp>
        <p:nvSpPr>
          <p:cNvPr id="44" name="Text 42"/>
          <p:cNvSpPr/>
          <p:nvPr/>
        </p:nvSpPr>
        <p:spPr>
          <a:xfrm>
            <a:off x="5202936" y="3675888"/>
            <a:ext cx="2907792" cy="274320"/>
          </a:xfrm>
          <a:prstGeom prst="rect">
            <a:avLst/>
          </a:prstGeom>
          <a:noFill/>
          <a:ln/>
        </p:spPr>
        <p:txBody>
          <a:bodyPr wrap="square" rtlCol="0" anchor="ctr"/>
          <a:lstStyle/>
          <a:p>
            <a:pPr marL="0" indent="0">
              <a:buNone/>
            </a:pPr>
            <a:r>
              <a:rPr lang="en-US" sz="1050" b="1" dirty="0">
                <a:solidFill>
                  <a:srgbClr val="A63010"/>
                </a:solidFill>
                <a:latin typeface="Calibri" pitchFamily="34" charset="0"/>
                <a:ea typeface="Calibri" pitchFamily="34" charset="-122"/>
                <a:cs typeface="Calibri" pitchFamily="34" charset="-120"/>
              </a:rPr>
              <a:t>RNA Velocity — T Cell Exhaustion Trajectory</a:t>
            </a:r>
            <a:endParaRPr lang="en-US" sz="1050" dirty="0"/>
          </a:p>
        </p:txBody>
      </p:sp>
      <p:sp>
        <p:nvSpPr>
          <p:cNvPr id="45" name="Text 43"/>
          <p:cNvSpPr/>
          <p:nvPr/>
        </p:nvSpPr>
        <p:spPr>
          <a:xfrm>
            <a:off x="4818888" y="4041648"/>
            <a:ext cx="4059936" cy="749808"/>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Add scVelo trajectory inference to map T cell exhaustion dynamics across the spatial gradient. Identify optimal intervention timing window before full exhaustion.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B6E63"/>
          </a:solidFill>
          <a:ln w="12700">
            <a:solidFill>
              <a:srgbClr val="0B6E63"/>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CONCLUSION</a:t>
            </a:r>
            <a:endParaRPr lang="en-US" sz="1700" dirty="0"/>
          </a:p>
        </p:txBody>
      </p:sp>
      <p:sp>
        <p:nvSpPr>
          <p:cNvPr id="4" name="Shape 2"/>
          <p:cNvSpPr/>
          <p:nvPr/>
        </p:nvSpPr>
        <p:spPr>
          <a:xfrm>
            <a:off x="274320" y="749808"/>
            <a:ext cx="8595360" cy="1261872"/>
          </a:xfrm>
          <a:prstGeom prst="rect">
            <a:avLst/>
          </a:prstGeom>
          <a:solidFill>
            <a:srgbClr val="132236"/>
          </a:solidFill>
          <a:ln w="19050">
            <a:solidFill>
              <a:srgbClr val="0B6E63"/>
            </a:solidFill>
            <a:prstDash val="solid"/>
          </a:ln>
          <a:effectLst>
            <a:outerShdw blurRad="76200" dist="38100" dir="8100000" algn="bl" rotWithShape="0">
              <a:srgbClr val="000000">
                <a:alpha val="10000"/>
              </a:srgbClr>
            </a:outerShdw>
          </a:effectLst>
        </p:spPr>
        <p:txBody>
          <a:bodyPr/>
          <a:lstStyle/>
          <a:p>
            <a:endParaRPr lang="en-US"/>
          </a:p>
        </p:txBody>
      </p:sp>
      <p:sp>
        <p:nvSpPr>
          <p:cNvPr id="5" name="Shape 3"/>
          <p:cNvSpPr/>
          <p:nvPr/>
        </p:nvSpPr>
        <p:spPr>
          <a:xfrm>
            <a:off x="274320" y="749808"/>
            <a:ext cx="457200" cy="1261872"/>
          </a:xfrm>
          <a:prstGeom prst="rect">
            <a:avLst/>
          </a:prstGeom>
          <a:solidFill>
            <a:srgbClr val="0B6E63"/>
          </a:solidFill>
          <a:ln w="12700">
            <a:solidFill>
              <a:srgbClr val="0B6E63"/>
            </a:solidFill>
            <a:prstDash val="solid"/>
          </a:ln>
        </p:spPr>
        <p:txBody>
          <a:bodyPr/>
          <a:lstStyle/>
          <a:p>
            <a:endParaRPr lang="en-US"/>
          </a:p>
        </p:txBody>
      </p:sp>
      <p:sp>
        <p:nvSpPr>
          <p:cNvPr id="6" name="Text 4"/>
          <p:cNvSpPr/>
          <p:nvPr/>
        </p:nvSpPr>
        <p:spPr>
          <a:xfrm>
            <a:off x="274320" y="914400"/>
            <a:ext cx="457200" cy="64008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804672" y="804672"/>
            <a:ext cx="7991856" cy="292608"/>
          </a:xfrm>
          <a:prstGeom prst="rect">
            <a:avLst/>
          </a:prstGeom>
          <a:noFill/>
          <a:ln/>
        </p:spPr>
        <p:txBody>
          <a:bodyPr wrap="square" rtlCol="0" anchor="ctr"/>
          <a:lstStyle/>
          <a:p>
            <a:pPr marL="0" indent="0">
              <a:buNone/>
            </a:pPr>
            <a:r>
              <a:rPr lang="en-US" sz="1200" b="1" dirty="0">
                <a:solidFill>
                  <a:srgbClr val="0B6E63"/>
                </a:solidFill>
                <a:latin typeface="Georgia" pitchFamily="34" charset="0"/>
                <a:ea typeface="Georgia" pitchFamily="34" charset="-122"/>
                <a:cs typeface="Georgia" pitchFamily="34" charset="-120"/>
              </a:rPr>
              <a:t>Tertiary Lymphoid Structure Detected — 3 Independent Confirmations</a:t>
            </a:r>
            <a:endParaRPr lang="en-US" sz="1200" dirty="0"/>
          </a:p>
        </p:txBody>
      </p:sp>
      <p:sp>
        <p:nvSpPr>
          <p:cNvPr id="8" name="Text 6"/>
          <p:cNvSpPr/>
          <p:nvPr/>
        </p:nvSpPr>
        <p:spPr>
          <a:xfrm>
            <a:off x="804672" y="1115568"/>
            <a:ext cx="7991856" cy="804672"/>
          </a:xfrm>
          <a:prstGeom prst="rect">
            <a:avLst/>
          </a:prstGeom>
          <a:noFill/>
          <a:ln/>
        </p:spPr>
        <p:txBody>
          <a:bodyPr wrap="square" rtlCol="0" anchor="ctr"/>
          <a:lstStyle/>
          <a:p>
            <a:pPr marL="0" indent="0">
              <a:buNone/>
            </a:pPr>
            <a:r>
              <a:rPr lang="en-US" sz="1000" dirty="0">
                <a:solidFill>
                  <a:srgbClr val="8A9CB0"/>
                </a:solidFill>
                <a:latin typeface="Calibri" pitchFamily="34" charset="0"/>
                <a:ea typeface="Calibri" pitchFamily="34" charset="-122"/>
                <a:cs typeface="Calibri" pitchFamily="34" charset="-120"/>
              </a:rPr>
              <a:t>Moran's I (immunoglobulins rank 2/4/6) + cell scoring (plasma cells = 20.9, 5× others) + CXCL13→CXCR5 LR communication — all three converge on the same perivascular upper-left tissue zone. Convergent evidence eliminates method-specific noise. TLS is associated with 3-5× improved survival in breast cancer.</a:t>
            </a:r>
            <a:endParaRPr lang="en-US" sz="1000" dirty="0"/>
          </a:p>
        </p:txBody>
      </p:sp>
      <p:sp>
        <p:nvSpPr>
          <p:cNvPr id="9" name="Shape 7"/>
          <p:cNvSpPr/>
          <p:nvPr/>
        </p:nvSpPr>
        <p:spPr>
          <a:xfrm>
            <a:off x="274320" y="2121408"/>
            <a:ext cx="8595360" cy="1261872"/>
          </a:xfrm>
          <a:prstGeom prst="rect">
            <a:avLst/>
          </a:prstGeom>
          <a:solidFill>
            <a:srgbClr val="132236"/>
          </a:solidFill>
          <a:ln w="19050">
            <a:solidFill>
              <a:srgbClr val="A63010"/>
            </a:solidFill>
            <a:prstDash val="solid"/>
          </a:ln>
          <a:effectLst>
            <a:outerShdw blurRad="76200" dist="38100" dir="8100000" algn="bl" rotWithShape="0">
              <a:srgbClr val="000000">
                <a:alpha val="10000"/>
              </a:srgbClr>
            </a:outerShdw>
          </a:effectLst>
        </p:spPr>
        <p:txBody>
          <a:bodyPr/>
          <a:lstStyle/>
          <a:p>
            <a:endParaRPr lang="en-US"/>
          </a:p>
        </p:txBody>
      </p:sp>
      <p:sp>
        <p:nvSpPr>
          <p:cNvPr id="10" name="Shape 8"/>
          <p:cNvSpPr/>
          <p:nvPr/>
        </p:nvSpPr>
        <p:spPr>
          <a:xfrm>
            <a:off x="274320" y="2121408"/>
            <a:ext cx="457200" cy="1261872"/>
          </a:xfrm>
          <a:prstGeom prst="rect">
            <a:avLst/>
          </a:prstGeom>
          <a:solidFill>
            <a:srgbClr val="A63010"/>
          </a:solidFill>
          <a:ln w="12700">
            <a:solidFill>
              <a:srgbClr val="A63010"/>
            </a:solidFill>
            <a:prstDash val="solid"/>
          </a:ln>
        </p:spPr>
        <p:txBody>
          <a:bodyPr/>
          <a:lstStyle/>
          <a:p>
            <a:endParaRPr lang="en-US"/>
          </a:p>
        </p:txBody>
      </p:sp>
      <p:sp>
        <p:nvSpPr>
          <p:cNvPr id="11" name="Text 9"/>
          <p:cNvSpPr/>
          <p:nvPr/>
        </p:nvSpPr>
        <p:spPr>
          <a:xfrm>
            <a:off x="274320" y="2286000"/>
            <a:ext cx="457200" cy="64008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2" name="Text 10"/>
          <p:cNvSpPr/>
          <p:nvPr/>
        </p:nvSpPr>
        <p:spPr>
          <a:xfrm>
            <a:off x="804672" y="2176272"/>
            <a:ext cx="7991856" cy="292608"/>
          </a:xfrm>
          <a:prstGeom prst="rect">
            <a:avLst/>
          </a:prstGeom>
          <a:noFill/>
          <a:ln/>
        </p:spPr>
        <p:txBody>
          <a:bodyPr wrap="square" rtlCol="0" anchor="ctr"/>
          <a:lstStyle/>
          <a:p>
            <a:pPr marL="0" indent="0">
              <a:buNone/>
            </a:pPr>
            <a:r>
              <a:rPr lang="en-US" sz="1200" b="1" dirty="0">
                <a:solidFill>
                  <a:srgbClr val="A63010"/>
                </a:solidFill>
                <a:latin typeface="Georgia" pitchFamily="34" charset="0"/>
                <a:ea typeface="Georgia" pitchFamily="34" charset="-122"/>
                <a:cs typeface="Georgia" pitchFamily="34" charset="-120"/>
              </a:rPr>
              <a:t>Dual Immunosuppressive Barrier Identified — Mechanism of Resistance</a:t>
            </a:r>
            <a:endParaRPr lang="en-US" sz="1200" dirty="0"/>
          </a:p>
        </p:txBody>
      </p:sp>
      <p:sp>
        <p:nvSpPr>
          <p:cNvPr id="13" name="Text 11"/>
          <p:cNvSpPr/>
          <p:nvPr/>
        </p:nvSpPr>
        <p:spPr>
          <a:xfrm>
            <a:off x="804672" y="2487168"/>
            <a:ext cx="7991856" cy="804672"/>
          </a:xfrm>
          <a:prstGeom prst="rect">
            <a:avLst/>
          </a:prstGeom>
          <a:noFill/>
          <a:ln/>
        </p:spPr>
        <p:txBody>
          <a:bodyPr wrap="square" rtlCol="0" anchor="ctr"/>
          <a:lstStyle/>
          <a:p>
            <a:pPr marL="0" indent="0">
              <a:buNone/>
            </a:pPr>
            <a:r>
              <a:rPr lang="en-US" sz="1000" dirty="0">
                <a:solidFill>
                  <a:srgbClr val="8A9CB0"/>
                </a:solidFill>
                <a:latin typeface="Calibri" pitchFamily="34" charset="0"/>
                <a:ea typeface="Calibri" pitchFamily="34" charset="-122"/>
                <a:cs typeface="Calibri" pitchFamily="34" charset="-120"/>
              </a:rPr>
              <a:t>PD-L1/PD-1 checkpoint (Lock 1) and TGF-β stromal barrier (Lock 2) are BOTH maximally active simultaneously at the tumour-stroma boundary. Every immune cell scores zero in the tumour core. This mechanistically explains the 5-20% PD-1 monotherapy response rate in ER+ breast cancer and directly supports combination anti-PD-1 + TGF-β inhibitor therapy.</a:t>
            </a:r>
            <a:endParaRPr lang="en-US" sz="1000" dirty="0"/>
          </a:p>
        </p:txBody>
      </p:sp>
      <p:sp>
        <p:nvSpPr>
          <p:cNvPr id="14" name="Shape 12"/>
          <p:cNvSpPr/>
          <p:nvPr/>
        </p:nvSpPr>
        <p:spPr>
          <a:xfrm>
            <a:off x="274320" y="3493008"/>
            <a:ext cx="8595360" cy="1261872"/>
          </a:xfrm>
          <a:prstGeom prst="rect">
            <a:avLst/>
          </a:prstGeom>
          <a:solidFill>
            <a:srgbClr val="132236"/>
          </a:solidFill>
          <a:ln w="19050">
            <a:solidFill>
              <a:srgbClr val="B8860B"/>
            </a:solidFill>
            <a:prstDash val="solid"/>
          </a:ln>
          <a:effectLst>
            <a:outerShdw blurRad="76200" dist="38100" dir="8100000" algn="bl" rotWithShape="0">
              <a:srgbClr val="000000">
                <a:alpha val="10000"/>
              </a:srgbClr>
            </a:outerShdw>
          </a:effectLst>
        </p:spPr>
        <p:txBody>
          <a:bodyPr/>
          <a:lstStyle/>
          <a:p>
            <a:endParaRPr lang="en-US"/>
          </a:p>
        </p:txBody>
      </p:sp>
      <p:sp>
        <p:nvSpPr>
          <p:cNvPr id="15" name="Shape 13"/>
          <p:cNvSpPr/>
          <p:nvPr/>
        </p:nvSpPr>
        <p:spPr>
          <a:xfrm>
            <a:off x="274320" y="3493008"/>
            <a:ext cx="457200" cy="1261872"/>
          </a:xfrm>
          <a:prstGeom prst="rect">
            <a:avLst/>
          </a:prstGeom>
          <a:solidFill>
            <a:srgbClr val="B8860B"/>
          </a:solidFill>
          <a:ln w="12700">
            <a:solidFill>
              <a:srgbClr val="B8860B"/>
            </a:solidFill>
            <a:prstDash val="solid"/>
          </a:ln>
        </p:spPr>
        <p:txBody>
          <a:bodyPr/>
          <a:lstStyle/>
          <a:p>
            <a:endParaRPr lang="en-US"/>
          </a:p>
        </p:txBody>
      </p:sp>
      <p:sp>
        <p:nvSpPr>
          <p:cNvPr id="16" name="Text 14"/>
          <p:cNvSpPr/>
          <p:nvPr/>
        </p:nvSpPr>
        <p:spPr>
          <a:xfrm>
            <a:off x="274320" y="3657600"/>
            <a:ext cx="457200" cy="640080"/>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7" name="Text 15"/>
          <p:cNvSpPr/>
          <p:nvPr/>
        </p:nvSpPr>
        <p:spPr>
          <a:xfrm>
            <a:off x="804672" y="3547872"/>
            <a:ext cx="7991856" cy="292608"/>
          </a:xfrm>
          <a:prstGeom prst="rect">
            <a:avLst/>
          </a:prstGeom>
          <a:noFill/>
          <a:ln/>
        </p:spPr>
        <p:txBody>
          <a:bodyPr wrap="square" rtlCol="0" anchor="ctr"/>
          <a:lstStyle/>
          <a:p>
            <a:pPr marL="0" indent="0">
              <a:buNone/>
            </a:pPr>
            <a:r>
              <a:rPr lang="en-US" sz="1200" b="1" dirty="0">
                <a:solidFill>
                  <a:srgbClr val="B8860B"/>
                </a:solidFill>
                <a:latin typeface="Georgia" pitchFamily="34" charset="0"/>
                <a:ea typeface="Georgia" pitchFamily="34" charset="-122"/>
                <a:cs typeface="Georgia" pitchFamily="34" charset="-120"/>
              </a:rPr>
              <a:t>ER+ Luminal A Confirmed Spatially — Cross-Validated by Two Methods</a:t>
            </a:r>
            <a:endParaRPr lang="en-US" sz="1200" dirty="0"/>
          </a:p>
        </p:txBody>
      </p:sp>
      <p:sp>
        <p:nvSpPr>
          <p:cNvPr id="18" name="Text 16"/>
          <p:cNvSpPr/>
          <p:nvPr/>
        </p:nvSpPr>
        <p:spPr>
          <a:xfrm>
            <a:off x="804672" y="3858768"/>
            <a:ext cx="7991856" cy="804672"/>
          </a:xfrm>
          <a:prstGeom prst="rect">
            <a:avLst/>
          </a:prstGeom>
          <a:noFill/>
          <a:ln/>
        </p:spPr>
        <p:txBody>
          <a:bodyPr wrap="square" rtlCol="0" anchor="ctr"/>
          <a:lstStyle/>
          <a:p>
            <a:pPr marL="0" indent="0">
              <a:buNone/>
            </a:pPr>
            <a:r>
              <a:rPr lang="en-US" sz="1000" dirty="0">
                <a:solidFill>
                  <a:srgbClr val="8A9CB0"/>
                </a:solidFill>
                <a:latin typeface="Calibri" pitchFamily="34" charset="0"/>
                <a:ea typeface="Calibri" pitchFamily="34" charset="-122"/>
                <a:cs typeface="Calibri" pitchFamily="34" charset="-120"/>
              </a:rPr>
              <a:t>PAM50 Luminal A = 1.00 in the GATA3+ Invasive Carcinoma cluster. HER2-enriched and Basal-like are essentially absent. PROGENy TGF-β and Hypoxia pathway activity independently cross-validates the LR communication dual barrier finding — demonstrating internal consistency across the full 7-notebook pipeline.</a:t>
            </a:r>
            <a:endParaRPr lang="en-US" sz="1000" dirty="0"/>
          </a:p>
        </p:txBody>
      </p:sp>
      <p:sp>
        <p:nvSpPr>
          <p:cNvPr id="19" name="Shape 17"/>
          <p:cNvSpPr/>
          <p:nvPr/>
        </p:nvSpPr>
        <p:spPr>
          <a:xfrm>
            <a:off x="0" y="4809744"/>
            <a:ext cx="9144000" cy="333756"/>
          </a:xfrm>
          <a:prstGeom prst="rect">
            <a:avLst/>
          </a:prstGeom>
          <a:solidFill>
            <a:srgbClr val="243553"/>
          </a:solidFill>
          <a:ln w="12700">
            <a:solidFill>
              <a:srgbClr val="243553"/>
            </a:solidFill>
            <a:prstDash val="solid"/>
          </a:ln>
        </p:spPr>
        <p:txBody>
          <a:bodyPr/>
          <a:lstStyle/>
          <a:p>
            <a:endParaRPr lang="en-US"/>
          </a:p>
        </p:txBody>
      </p:sp>
      <p:sp>
        <p:nvSpPr>
          <p:cNvPr id="20" name="Text 18"/>
          <p:cNvSpPr/>
          <p:nvPr/>
        </p:nvSpPr>
        <p:spPr>
          <a:xfrm>
            <a:off x="274320" y="4837176"/>
            <a:ext cx="8595360" cy="274320"/>
          </a:xfrm>
          <a:prstGeom prst="rect">
            <a:avLst/>
          </a:prstGeom>
          <a:noFill/>
          <a:ln/>
        </p:spPr>
        <p:txBody>
          <a:bodyPr wrap="square" rtlCol="0" anchor="ctr"/>
          <a:lstStyle/>
          <a:p>
            <a:pPr marL="0" indent="0" algn="ctr">
              <a:buNone/>
            </a:pPr>
            <a:r>
              <a:rPr lang="en-US" sz="900" dirty="0">
                <a:solidFill>
                  <a:srgbClr val="8A9CB0"/>
                </a:solidFill>
                <a:latin typeface="Calibri" pitchFamily="34" charset="0"/>
                <a:ea typeface="Calibri" pitchFamily="34" charset="-122"/>
                <a:cs typeface="Calibri" pitchFamily="34" charset="-120"/>
              </a:rPr>
              <a:t>Mahima Mahabaleshwar Siddheshwar  ·  MS Bioinformatics · Indiana University Indianapolis  ·  Scanpy v1.12 · Squidpy v1.8.1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2B45"/>
          </a:solidFill>
          <a:ln w="12700">
            <a:solidFill>
              <a:srgbClr val="1A2B45"/>
            </a:solidFill>
            <a:prstDash val="solid"/>
          </a:ln>
        </p:spPr>
        <p:txBody>
          <a:bodyPr/>
          <a:lstStyle/>
          <a:p>
            <a:endParaRPr lang="en-US"/>
          </a:p>
        </p:txBody>
      </p:sp>
      <p:sp>
        <p:nvSpPr>
          <p:cNvPr id="3" name="Text 1"/>
          <p:cNvSpPr/>
          <p:nvPr/>
        </p:nvSpPr>
        <p:spPr>
          <a:xfrm>
            <a:off x="347472" y="109728"/>
            <a:ext cx="8449056" cy="374904"/>
          </a:xfrm>
          <a:prstGeom prst="rect">
            <a:avLst/>
          </a:prstGeom>
          <a:noFill/>
          <a:ln/>
        </p:spPr>
        <p:txBody>
          <a:bodyPr wrap="square"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TRANSCRIPTOMICS ANALYSIS — COMPARISON OVERVIEW</a:t>
            </a:r>
            <a:endParaRPr lang="en-US" sz="1700" dirty="0"/>
          </a:p>
        </p:txBody>
      </p:sp>
      <p:sp>
        <p:nvSpPr>
          <p:cNvPr id="4" name="Shape 2"/>
          <p:cNvSpPr/>
          <p:nvPr/>
        </p:nvSpPr>
        <p:spPr>
          <a:xfrm>
            <a:off x="274320" y="713232"/>
            <a:ext cx="1956816" cy="292608"/>
          </a:xfrm>
          <a:prstGeom prst="rect">
            <a:avLst/>
          </a:prstGeom>
          <a:solidFill>
            <a:srgbClr val="1A2B45"/>
          </a:solidFill>
          <a:ln w="12700">
            <a:solidFill>
              <a:srgbClr val="1A2B45"/>
            </a:solidFill>
            <a:prstDash val="solid"/>
          </a:ln>
        </p:spPr>
        <p:txBody>
          <a:bodyPr/>
          <a:lstStyle/>
          <a:p>
            <a:endParaRPr lang="en-US"/>
          </a:p>
        </p:txBody>
      </p:sp>
      <p:sp>
        <p:nvSpPr>
          <p:cNvPr id="5" name="Text 3"/>
          <p:cNvSpPr/>
          <p:nvPr/>
        </p:nvSpPr>
        <p:spPr>
          <a:xfrm>
            <a:off x="274320" y="731520"/>
            <a:ext cx="1956816"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Feature</a:t>
            </a:r>
            <a:endParaRPr lang="en-US" sz="950" dirty="0"/>
          </a:p>
        </p:txBody>
      </p:sp>
      <p:sp>
        <p:nvSpPr>
          <p:cNvPr id="6" name="Shape 4"/>
          <p:cNvSpPr/>
          <p:nvPr/>
        </p:nvSpPr>
        <p:spPr>
          <a:xfrm>
            <a:off x="2267712" y="713232"/>
            <a:ext cx="2267712" cy="292608"/>
          </a:xfrm>
          <a:prstGeom prst="rect">
            <a:avLst/>
          </a:prstGeom>
          <a:solidFill>
            <a:srgbClr val="0B6E63"/>
          </a:solidFill>
          <a:ln w="12700">
            <a:solidFill>
              <a:srgbClr val="0B6E63"/>
            </a:solidFill>
            <a:prstDash val="solid"/>
          </a:ln>
        </p:spPr>
        <p:txBody>
          <a:bodyPr/>
          <a:lstStyle/>
          <a:p>
            <a:endParaRPr lang="en-US"/>
          </a:p>
        </p:txBody>
      </p:sp>
      <p:sp>
        <p:nvSpPr>
          <p:cNvPr id="7" name="Text 5"/>
          <p:cNvSpPr/>
          <p:nvPr/>
        </p:nvSpPr>
        <p:spPr>
          <a:xfrm>
            <a:off x="2267712" y="731520"/>
            <a:ext cx="2267712"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Bulk RNA-seq</a:t>
            </a:r>
            <a:endParaRPr lang="en-US" sz="950" dirty="0"/>
          </a:p>
        </p:txBody>
      </p:sp>
      <p:sp>
        <p:nvSpPr>
          <p:cNvPr id="8" name="Shape 6"/>
          <p:cNvSpPr/>
          <p:nvPr/>
        </p:nvSpPr>
        <p:spPr>
          <a:xfrm>
            <a:off x="4572000" y="713232"/>
            <a:ext cx="2267712" cy="292608"/>
          </a:xfrm>
          <a:prstGeom prst="rect">
            <a:avLst/>
          </a:prstGeom>
          <a:solidFill>
            <a:srgbClr val="4A2070"/>
          </a:solidFill>
          <a:ln w="12700">
            <a:solidFill>
              <a:srgbClr val="4A2070"/>
            </a:solidFill>
            <a:prstDash val="solid"/>
          </a:ln>
        </p:spPr>
        <p:txBody>
          <a:bodyPr/>
          <a:lstStyle/>
          <a:p>
            <a:endParaRPr lang="en-US"/>
          </a:p>
        </p:txBody>
      </p:sp>
      <p:sp>
        <p:nvSpPr>
          <p:cNvPr id="9" name="Text 7"/>
          <p:cNvSpPr/>
          <p:nvPr/>
        </p:nvSpPr>
        <p:spPr>
          <a:xfrm>
            <a:off x="4572000" y="731520"/>
            <a:ext cx="2267712"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scRNA-seq</a:t>
            </a:r>
            <a:endParaRPr lang="en-US" sz="950" dirty="0"/>
          </a:p>
        </p:txBody>
      </p:sp>
      <p:sp>
        <p:nvSpPr>
          <p:cNvPr id="10" name="Shape 8"/>
          <p:cNvSpPr/>
          <p:nvPr/>
        </p:nvSpPr>
        <p:spPr>
          <a:xfrm>
            <a:off x="6876288" y="713232"/>
            <a:ext cx="2139696" cy="292608"/>
          </a:xfrm>
          <a:prstGeom prst="rect">
            <a:avLst/>
          </a:prstGeom>
          <a:solidFill>
            <a:srgbClr val="A63010"/>
          </a:solidFill>
          <a:ln w="12700">
            <a:solidFill>
              <a:srgbClr val="A63010"/>
            </a:solidFill>
            <a:prstDash val="solid"/>
          </a:ln>
        </p:spPr>
        <p:txBody>
          <a:bodyPr/>
          <a:lstStyle/>
          <a:p>
            <a:endParaRPr lang="en-US"/>
          </a:p>
        </p:txBody>
      </p:sp>
      <p:sp>
        <p:nvSpPr>
          <p:cNvPr id="11" name="Text 9"/>
          <p:cNvSpPr/>
          <p:nvPr/>
        </p:nvSpPr>
        <p:spPr>
          <a:xfrm>
            <a:off x="6876288" y="731520"/>
            <a:ext cx="2139696" cy="25603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Spatial Transcriptomics</a:t>
            </a:r>
            <a:endParaRPr lang="en-US" sz="950" dirty="0"/>
          </a:p>
        </p:txBody>
      </p:sp>
      <p:sp>
        <p:nvSpPr>
          <p:cNvPr id="12" name="Shape 10"/>
          <p:cNvSpPr/>
          <p:nvPr/>
        </p:nvSpPr>
        <p:spPr>
          <a:xfrm>
            <a:off x="274320" y="1042416"/>
            <a:ext cx="1956816" cy="365760"/>
          </a:xfrm>
          <a:prstGeom prst="rect">
            <a:avLst/>
          </a:prstGeom>
          <a:solidFill>
            <a:srgbClr val="F7F9FC"/>
          </a:solidFill>
          <a:ln w="3810">
            <a:solidFill>
              <a:srgbClr val="E2E8EF"/>
            </a:solidFill>
            <a:prstDash val="solid"/>
          </a:ln>
        </p:spPr>
        <p:txBody>
          <a:bodyPr/>
          <a:lstStyle/>
          <a:p>
            <a:endParaRPr lang="en-US"/>
          </a:p>
        </p:txBody>
      </p:sp>
      <p:sp>
        <p:nvSpPr>
          <p:cNvPr id="13" name="Text 11"/>
          <p:cNvSpPr/>
          <p:nvPr/>
        </p:nvSpPr>
        <p:spPr>
          <a:xfrm>
            <a:off x="329184" y="1097280"/>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Resolution</a:t>
            </a:r>
            <a:endParaRPr lang="en-US" sz="950" dirty="0"/>
          </a:p>
        </p:txBody>
      </p:sp>
      <p:sp>
        <p:nvSpPr>
          <p:cNvPr id="14" name="Shape 12"/>
          <p:cNvSpPr/>
          <p:nvPr/>
        </p:nvSpPr>
        <p:spPr>
          <a:xfrm>
            <a:off x="2267712" y="1042416"/>
            <a:ext cx="2267712" cy="365760"/>
          </a:xfrm>
          <a:prstGeom prst="rect">
            <a:avLst/>
          </a:prstGeom>
          <a:solidFill>
            <a:srgbClr val="F7F9FC"/>
          </a:solidFill>
          <a:ln w="3810">
            <a:solidFill>
              <a:srgbClr val="E2E8EF"/>
            </a:solidFill>
            <a:prstDash val="solid"/>
          </a:ln>
        </p:spPr>
        <p:txBody>
          <a:bodyPr/>
          <a:lstStyle/>
          <a:p>
            <a:endParaRPr lang="en-US"/>
          </a:p>
        </p:txBody>
      </p:sp>
      <p:sp>
        <p:nvSpPr>
          <p:cNvPr id="15" name="Text 13"/>
          <p:cNvSpPr/>
          <p:nvPr/>
        </p:nvSpPr>
        <p:spPr>
          <a:xfrm>
            <a:off x="2322576" y="1097280"/>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Tissue average</a:t>
            </a:r>
            <a:endParaRPr lang="en-US" sz="900" dirty="0"/>
          </a:p>
        </p:txBody>
      </p:sp>
      <p:sp>
        <p:nvSpPr>
          <p:cNvPr id="16" name="Shape 14"/>
          <p:cNvSpPr/>
          <p:nvPr/>
        </p:nvSpPr>
        <p:spPr>
          <a:xfrm>
            <a:off x="4572000" y="1042416"/>
            <a:ext cx="2267712" cy="365760"/>
          </a:xfrm>
          <a:prstGeom prst="rect">
            <a:avLst/>
          </a:prstGeom>
          <a:solidFill>
            <a:srgbClr val="F7F9FC"/>
          </a:solidFill>
          <a:ln w="3810">
            <a:solidFill>
              <a:srgbClr val="E2E8EF"/>
            </a:solidFill>
            <a:prstDash val="solid"/>
          </a:ln>
        </p:spPr>
        <p:txBody>
          <a:bodyPr/>
          <a:lstStyle/>
          <a:p>
            <a:endParaRPr lang="en-US"/>
          </a:p>
        </p:txBody>
      </p:sp>
      <p:sp>
        <p:nvSpPr>
          <p:cNvPr id="17" name="Text 15"/>
          <p:cNvSpPr/>
          <p:nvPr/>
        </p:nvSpPr>
        <p:spPr>
          <a:xfrm>
            <a:off x="4626864" y="1097280"/>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Single cell</a:t>
            </a:r>
            <a:endParaRPr lang="en-US" sz="900" dirty="0"/>
          </a:p>
        </p:txBody>
      </p:sp>
      <p:sp>
        <p:nvSpPr>
          <p:cNvPr id="18" name="Shape 16"/>
          <p:cNvSpPr/>
          <p:nvPr/>
        </p:nvSpPr>
        <p:spPr>
          <a:xfrm>
            <a:off x="6876288" y="1042416"/>
            <a:ext cx="2139696" cy="365760"/>
          </a:xfrm>
          <a:prstGeom prst="rect">
            <a:avLst/>
          </a:prstGeom>
          <a:solidFill>
            <a:srgbClr val="F7F9FC"/>
          </a:solidFill>
          <a:ln w="3810">
            <a:solidFill>
              <a:srgbClr val="E2E8EF"/>
            </a:solidFill>
            <a:prstDash val="solid"/>
          </a:ln>
        </p:spPr>
        <p:txBody>
          <a:bodyPr/>
          <a:lstStyle/>
          <a:p>
            <a:endParaRPr lang="en-US"/>
          </a:p>
        </p:txBody>
      </p:sp>
      <p:sp>
        <p:nvSpPr>
          <p:cNvPr id="19" name="Text 17"/>
          <p:cNvSpPr/>
          <p:nvPr/>
        </p:nvSpPr>
        <p:spPr>
          <a:xfrm>
            <a:off x="6931152" y="1097280"/>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~8 cells per spot</a:t>
            </a:r>
            <a:endParaRPr lang="en-US" sz="900" dirty="0"/>
          </a:p>
        </p:txBody>
      </p:sp>
      <p:sp>
        <p:nvSpPr>
          <p:cNvPr id="20" name="Shape 18"/>
          <p:cNvSpPr/>
          <p:nvPr/>
        </p:nvSpPr>
        <p:spPr>
          <a:xfrm>
            <a:off x="274320" y="1426464"/>
            <a:ext cx="1956816" cy="365760"/>
          </a:xfrm>
          <a:prstGeom prst="rect">
            <a:avLst/>
          </a:prstGeom>
          <a:solidFill>
            <a:srgbClr val="FFFFFF"/>
          </a:solidFill>
          <a:ln w="3810">
            <a:solidFill>
              <a:srgbClr val="E2E8EF"/>
            </a:solidFill>
            <a:prstDash val="solid"/>
          </a:ln>
        </p:spPr>
        <p:txBody>
          <a:bodyPr/>
          <a:lstStyle/>
          <a:p>
            <a:endParaRPr lang="en-US"/>
          </a:p>
        </p:txBody>
      </p:sp>
      <p:sp>
        <p:nvSpPr>
          <p:cNvPr id="21" name="Text 19"/>
          <p:cNvSpPr/>
          <p:nvPr/>
        </p:nvSpPr>
        <p:spPr>
          <a:xfrm>
            <a:off x="329184" y="1481328"/>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Spatial info</a:t>
            </a:r>
            <a:endParaRPr lang="en-US" sz="950" dirty="0"/>
          </a:p>
        </p:txBody>
      </p:sp>
      <p:sp>
        <p:nvSpPr>
          <p:cNvPr id="22" name="Shape 20"/>
          <p:cNvSpPr/>
          <p:nvPr/>
        </p:nvSpPr>
        <p:spPr>
          <a:xfrm>
            <a:off x="2267712" y="1426464"/>
            <a:ext cx="2267712" cy="365760"/>
          </a:xfrm>
          <a:prstGeom prst="rect">
            <a:avLst/>
          </a:prstGeom>
          <a:solidFill>
            <a:srgbClr val="FFFFFF"/>
          </a:solidFill>
          <a:ln w="3810">
            <a:solidFill>
              <a:srgbClr val="E2E8EF"/>
            </a:solidFill>
            <a:prstDash val="solid"/>
          </a:ln>
        </p:spPr>
        <p:txBody>
          <a:bodyPr/>
          <a:lstStyle/>
          <a:p>
            <a:endParaRPr lang="en-US"/>
          </a:p>
        </p:txBody>
      </p:sp>
      <p:sp>
        <p:nvSpPr>
          <p:cNvPr id="23" name="Text 21"/>
          <p:cNvSpPr/>
          <p:nvPr/>
        </p:nvSpPr>
        <p:spPr>
          <a:xfrm>
            <a:off x="2322576" y="1481328"/>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None</a:t>
            </a:r>
            <a:endParaRPr lang="en-US" sz="900" dirty="0"/>
          </a:p>
        </p:txBody>
      </p:sp>
      <p:sp>
        <p:nvSpPr>
          <p:cNvPr id="24" name="Shape 22"/>
          <p:cNvSpPr/>
          <p:nvPr/>
        </p:nvSpPr>
        <p:spPr>
          <a:xfrm>
            <a:off x="4572000" y="1426464"/>
            <a:ext cx="2267712" cy="365760"/>
          </a:xfrm>
          <a:prstGeom prst="rect">
            <a:avLst/>
          </a:prstGeom>
          <a:solidFill>
            <a:srgbClr val="FFFFFF"/>
          </a:solidFill>
          <a:ln w="3810">
            <a:solidFill>
              <a:srgbClr val="E2E8EF"/>
            </a:solidFill>
            <a:prstDash val="solid"/>
          </a:ln>
        </p:spPr>
        <p:txBody>
          <a:bodyPr/>
          <a:lstStyle/>
          <a:p>
            <a:endParaRPr lang="en-US"/>
          </a:p>
        </p:txBody>
      </p:sp>
      <p:sp>
        <p:nvSpPr>
          <p:cNvPr id="25" name="Text 23"/>
          <p:cNvSpPr/>
          <p:nvPr/>
        </p:nvSpPr>
        <p:spPr>
          <a:xfrm>
            <a:off x="4626864" y="1481328"/>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None (lost during dissociation)</a:t>
            </a:r>
            <a:endParaRPr lang="en-US" sz="900" dirty="0"/>
          </a:p>
        </p:txBody>
      </p:sp>
      <p:sp>
        <p:nvSpPr>
          <p:cNvPr id="26" name="Shape 24"/>
          <p:cNvSpPr/>
          <p:nvPr/>
        </p:nvSpPr>
        <p:spPr>
          <a:xfrm>
            <a:off x="6876288" y="1426464"/>
            <a:ext cx="2139696" cy="365760"/>
          </a:xfrm>
          <a:prstGeom prst="rect">
            <a:avLst/>
          </a:prstGeom>
          <a:solidFill>
            <a:srgbClr val="FFFFFF"/>
          </a:solidFill>
          <a:ln w="3810">
            <a:solidFill>
              <a:srgbClr val="E2E8EF"/>
            </a:solidFill>
            <a:prstDash val="solid"/>
          </a:ln>
        </p:spPr>
        <p:txBody>
          <a:bodyPr/>
          <a:lstStyle/>
          <a:p>
            <a:endParaRPr lang="en-US"/>
          </a:p>
        </p:txBody>
      </p:sp>
      <p:sp>
        <p:nvSpPr>
          <p:cNvPr id="27" name="Text 25"/>
          <p:cNvSpPr/>
          <p:nvPr/>
        </p:nvSpPr>
        <p:spPr>
          <a:xfrm>
            <a:off x="6931152" y="1481328"/>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Preserved — XY coordinates</a:t>
            </a:r>
            <a:endParaRPr lang="en-US" sz="900" dirty="0"/>
          </a:p>
        </p:txBody>
      </p:sp>
      <p:sp>
        <p:nvSpPr>
          <p:cNvPr id="28" name="Shape 26"/>
          <p:cNvSpPr/>
          <p:nvPr/>
        </p:nvSpPr>
        <p:spPr>
          <a:xfrm>
            <a:off x="274320" y="1810512"/>
            <a:ext cx="1956816" cy="365760"/>
          </a:xfrm>
          <a:prstGeom prst="rect">
            <a:avLst/>
          </a:prstGeom>
          <a:solidFill>
            <a:srgbClr val="F7F9FC"/>
          </a:solidFill>
          <a:ln w="3810">
            <a:solidFill>
              <a:srgbClr val="E2E8EF"/>
            </a:solidFill>
            <a:prstDash val="solid"/>
          </a:ln>
        </p:spPr>
        <p:txBody>
          <a:bodyPr/>
          <a:lstStyle/>
          <a:p>
            <a:endParaRPr lang="en-US"/>
          </a:p>
        </p:txBody>
      </p:sp>
      <p:sp>
        <p:nvSpPr>
          <p:cNvPr id="29" name="Text 27"/>
          <p:cNvSpPr/>
          <p:nvPr/>
        </p:nvSpPr>
        <p:spPr>
          <a:xfrm>
            <a:off x="329184" y="1865376"/>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Throughput</a:t>
            </a:r>
            <a:endParaRPr lang="en-US" sz="950" dirty="0"/>
          </a:p>
        </p:txBody>
      </p:sp>
      <p:sp>
        <p:nvSpPr>
          <p:cNvPr id="30" name="Shape 28"/>
          <p:cNvSpPr/>
          <p:nvPr/>
        </p:nvSpPr>
        <p:spPr>
          <a:xfrm>
            <a:off x="2267712" y="1810512"/>
            <a:ext cx="2267712" cy="365760"/>
          </a:xfrm>
          <a:prstGeom prst="rect">
            <a:avLst/>
          </a:prstGeom>
          <a:solidFill>
            <a:srgbClr val="F7F9FC"/>
          </a:solidFill>
          <a:ln w="3810">
            <a:solidFill>
              <a:srgbClr val="E2E8EF"/>
            </a:solidFill>
            <a:prstDash val="solid"/>
          </a:ln>
        </p:spPr>
        <p:txBody>
          <a:bodyPr/>
          <a:lstStyle/>
          <a:p>
            <a:endParaRPr lang="en-US"/>
          </a:p>
        </p:txBody>
      </p:sp>
      <p:sp>
        <p:nvSpPr>
          <p:cNvPr id="31" name="Text 29"/>
          <p:cNvSpPr/>
          <p:nvPr/>
        </p:nvSpPr>
        <p:spPr>
          <a:xfrm>
            <a:off x="2322576" y="1865376"/>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Low cost per sample</a:t>
            </a:r>
            <a:endParaRPr lang="en-US" sz="900" dirty="0"/>
          </a:p>
        </p:txBody>
      </p:sp>
      <p:sp>
        <p:nvSpPr>
          <p:cNvPr id="32" name="Shape 30"/>
          <p:cNvSpPr/>
          <p:nvPr/>
        </p:nvSpPr>
        <p:spPr>
          <a:xfrm>
            <a:off x="4572000" y="1810512"/>
            <a:ext cx="2267712" cy="365760"/>
          </a:xfrm>
          <a:prstGeom prst="rect">
            <a:avLst/>
          </a:prstGeom>
          <a:solidFill>
            <a:srgbClr val="F7F9FC"/>
          </a:solidFill>
          <a:ln w="3810">
            <a:solidFill>
              <a:srgbClr val="E2E8EF"/>
            </a:solidFill>
            <a:prstDash val="solid"/>
          </a:ln>
        </p:spPr>
        <p:txBody>
          <a:bodyPr/>
          <a:lstStyle/>
          <a:p>
            <a:endParaRPr lang="en-US"/>
          </a:p>
        </p:txBody>
      </p:sp>
      <p:sp>
        <p:nvSpPr>
          <p:cNvPr id="33" name="Text 31"/>
          <p:cNvSpPr/>
          <p:nvPr/>
        </p:nvSpPr>
        <p:spPr>
          <a:xfrm>
            <a:off x="4626864" y="1865376"/>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Medium</a:t>
            </a:r>
            <a:endParaRPr lang="en-US" sz="900" dirty="0"/>
          </a:p>
        </p:txBody>
      </p:sp>
      <p:sp>
        <p:nvSpPr>
          <p:cNvPr id="34" name="Shape 32"/>
          <p:cNvSpPr/>
          <p:nvPr/>
        </p:nvSpPr>
        <p:spPr>
          <a:xfrm>
            <a:off x="6876288" y="1810512"/>
            <a:ext cx="2139696" cy="365760"/>
          </a:xfrm>
          <a:prstGeom prst="rect">
            <a:avLst/>
          </a:prstGeom>
          <a:solidFill>
            <a:srgbClr val="F7F9FC"/>
          </a:solidFill>
          <a:ln w="3810">
            <a:solidFill>
              <a:srgbClr val="E2E8EF"/>
            </a:solidFill>
            <a:prstDash val="solid"/>
          </a:ln>
        </p:spPr>
        <p:txBody>
          <a:bodyPr/>
          <a:lstStyle/>
          <a:p>
            <a:endParaRPr lang="en-US"/>
          </a:p>
        </p:txBody>
      </p:sp>
      <p:sp>
        <p:nvSpPr>
          <p:cNvPr id="35" name="Text 33"/>
          <p:cNvSpPr/>
          <p:nvPr/>
        </p:nvSpPr>
        <p:spPr>
          <a:xfrm>
            <a:off x="6931152" y="1865376"/>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High cost per section</a:t>
            </a:r>
            <a:endParaRPr lang="en-US" sz="900" dirty="0"/>
          </a:p>
        </p:txBody>
      </p:sp>
      <p:sp>
        <p:nvSpPr>
          <p:cNvPr id="36" name="Shape 34"/>
          <p:cNvSpPr/>
          <p:nvPr/>
        </p:nvSpPr>
        <p:spPr>
          <a:xfrm>
            <a:off x="274320" y="2194560"/>
            <a:ext cx="1956816" cy="365760"/>
          </a:xfrm>
          <a:prstGeom prst="rect">
            <a:avLst/>
          </a:prstGeom>
          <a:solidFill>
            <a:srgbClr val="FFFFFF"/>
          </a:solidFill>
          <a:ln w="3810">
            <a:solidFill>
              <a:srgbClr val="E2E8EF"/>
            </a:solidFill>
            <a:prstDash val="solid"/>
          </a:ln>
        </p:spPr>
        <p:txBody>
          <a:bodyPr/>
          <a:lstStyle/>
          <a:p>
            <a:endParaRPr lang="en-US"/>
          </a:p>
        </p:txBody>
      </p:sp>
      <p:sp>
        <p:nvSpPr>
          <p:cNvPr id="37" name="Text 35"/>
          <p:cNvSpPr/>
          <p:nvPr/>
        </p:nvSpPr>
        <p:spPr>
          <a:xfrm>
            <a:off x="329184" y="2249424"/>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Cell types</a:t>
            </a:r>
            <a:endParaRPr lang="en-US" sz="950" dirty="0"/>
          </a:p>
        </p:txBody>
      </p:sp>
      <p:sp>
        <p:nvSpPr>
          <p:cNvPr id="38" name="Shape 36"/>
          <p:cNvSpPr/>
          <p:nvPr/>
        </p:nvSpPr>
        <p:spPr>
          <a:xfrm>
            <a:off x="2267712" y="2194560"/>
            <a:ext cx="2267712" cy="365760"/>
          </a:xfrm>
          <a:prstGeom prst="rect">
            <a:avLst/>
          </a:prstGeom>
          <a:solidFill>
            <a:srgbClr val="FFFFFF"/>
          </a:solidFill>
          <a:ln w="3810">
            <a:solidFill>
              <a:srgbClr val="E2E8EF"/>
            </a:solidFill>
            <a:prstDash val="solid"/>
          </a:ln>
        </p:spPr>
        <p:txBody>
          <a:bodyPr/>
          <a:lstStyle/>
          <a:p>
            <a:endParaRPr lang="en-US"/>
          </a:p>
        </p:txBody>
      </p:sp>
      <p:sp>
        <p:nvSpPr>
          <p:cNvPr id="39" name="Text 37"/>
          <p:cNvSpPr/>
          <p:nvPr/>
        </p:nvSpPr>
        <p:spPr>
          <a:xfrm>
            <a:off x="2322576" y="2249424"/>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Mixed signal</a:t>
            </a:r>
            <a:endParaRPr lang="en-US" sz="900" dirty="0"/>
          </a:p>
        </p:txBody>
      </p:sp>
      <p:sp>
        <p:nvSpPr>
          <p:cNvPr id="40" name="Shape 38"/>
          <p:cNvSpPr/>
          <p:nvPr/>
        </p:nvSpPr>
        <p:spPr>
          <a:xfrm>
            <a:off x="4572000" y="2194560"/>
            <a:ext cx="2267712" cy="365760"/>
          </a:xfrm>
          <a:prstGeom prst="rect">
            <a:avLst/>
          </a:prstGeom>
          <a:solidFill>
            <a:srgbClr val="FFFFFF"/>
          </a:solidFill>
          <a:ln w="3810">
            <a:solidFill>
              <a:srgbClr val="E2E8EF"/>
            </a:solidFill>
            <a:prstDash val="solid"/>
          </a:ln>
        </p:spPr>
        <p:txBody>
          <a:bodyPr/>
          <a:lstStyle/>
          <a:p>
            <a:endParaRPr lang="en-US"/>
          </a:p>
        </p:txBody>
      </p:sp>
      <p:sp>
        <p:nvSpPr>
          <p:cNvPr id="41" name="Text 39"/>
          <p:cNvSpPr/>
          <p:nvPr/>
        </p:nvSpPr>
        <p:spPr>
          <a:xfrm>
            <a:off x="4626864" y="2249424"/>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Individual cells</a:t>
            </a:r>
            <a:endParaRPr lang="en-US" sz="900" dirty="0"/>
          </a:p>
        </p:txBody>
      </p:sp>
      <p:sp>
        <p:nvSpPr>
          <p:cNvPr id="42" name="Shape 40"/>
          <p:cNvSpPr/>
          <p:nvPr/>
        </p:nvSpPr>
        <p:spPr>
          <a:xfrm>
            <a:off x="6876288" y="2194560"/>
            <a:ext cx="2139696" cy="365760"/>
          </a:xfrm>
          <a:prstGeom prst="rect">
            <a:avLst/>
          </a:prstGeom>
          <a:solidFill>
            <a:srgbClr val="FFFFFF"/>
          </a:solidFill>
          <a:ln w="3810">
            <a:solidFill>
              <a:srgbClr val="E2E8EF"/>
            </a:solidFill>
            <a:prstDash val="solid"/>
          </a:ln>
        </p:spPr>
        <p:txBody>
          <a:bodyPr/>
          <a:lstStyle/>
          <a:p>
            <a:endParaRPr lang="en-US"/>
          </a:p>
        </p:txBody>
      </p:sp>
      <p:sp>
        <p:nvSpPr>
          <p:cNvPr id="43" name="Text 41"/>
          <p:cNvSpPr/>
          <p:nvPr/>
        </p:nvSpPr>
        <p:spPr>
          <a:xfrm>
            <a:off x="6931152" y="2249424"/>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Inferred from signatures</a:t>
            </a:r>
            <a:endParaRPr lang="en-US" sz="900" dirty="0"/>
          </a:p>
        </p:txBody>
      </p:sp>
      <p:sp>
        <p:nvSpPr>
          <p:cNvPr id="44" name="Shape 42"/>
          <p:cNvSpPr/>
          <p:nvPr/>
        </p:nvSpPr>
        <p:spPr>
          <a:xfrm>
            <a:off x="274320" y="2578608"/>
            <a:ext cx="1956816" cy="365760"/>
          </a:xfrm>
          <a:prstGeom prst="rect">
            <a:avLst/>
          </a:prstGeom>
          <a:solidFill>
            <a:srgbClr val="F7F9FC"/>
          </a:solidFill>
          <a:ln w="3810">
            <a:solidFill>
              <a:srgbClr val="E2E8EF"/>
            </a:solidFill>
            <a:prstDash val="solid"/>
          </a:ln>
        </p:spPr>
        <p:txBody>
          <a:bodyPr/>
          <a:lstStyle/>
          <a:p>
            <a:endParaRPr lang="en-US"/>
          </a:p>
        </p:txBody>
      </p:sp>
      <p:sp>
        <p:nvSpPr>
          <p:cNvPr id="45" name="Text 43"/>
          <p:cNvSpPr/>
          <p:nvPr/>
        </p:nvSpPr>
        <p:spPr>
          <a:xfrm>
            <a:off x="329184" y="2633472"/>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Best for</a:t>
            </a:r>
            <a:endParaRPr lang="en-US" sz="950" dirty="0"/>
          </a:p>
        </p:txBody>
      </p:sp>
      <p:sp>
        <p:nvSpPr>
          <p:cNvPr id="46" name="Shape 44"/>
          <p:cNvSpPr/>
          <p:nvPr/>
        </p:nvSpPr>
        <p:spPr>
          <a:xfrm>
            <a:off x="2267712" y="2578608"/>
            <a:ext cx="2267712" cy="365760"/>
          </a:xfrm>
          <a:prstGeom prst="rect">
            <a:avLst/>
          </a:prstGeom>
          <a:solidFill>
            <a:srgbClr val="F7F9FC"/>
          </a:solidFill>
          <a:ln w="3810">
            <a:solidFill>
              <a:srgbClr val="E2E8EF"/>
            </a:solidFill>
            <a:prstDash val="solid"/>
          </a:ln>
        </p:spPr>
        <p:txBody>
          <a:bodyPr/>
          <a:lstStyle/>
          <a:p>
            <a:endParaRPr lang="en-US"/>
          </a:p>
        </p:txBody>
      </p:sp>
      <p:sp>
        <p:nvSpPr>
          <p:cNvPr id="47" name="Text 45"/>
          <p:cNvSpPr/>
          <p:nvPr/>
        </p:nvSpPr>
        <p:spPr>
          <a:xfrm>
            <a:off x="2322576" y="2633472"/>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DE between conditions</a:t>
            </a:r>
            <a:endParaRPr lang="en-US" sz="900" dirty="0"/>
          </a:p>
        </p:txBody>
      </p:sp>
      <p:sp>
        <p:nvSpPr>
          <p:cNvPr id="48" name="Shape 46"/>
          <p:cNvSpPr/>
          <p:nvPr/>
        </p:nvSpPr>
        <p:spPr>
          <a:xfrm>
            <a:off x="4572000" y="2578608"/>
            <a:ext cx="2267712" cy="365760"/>
          </a:xfrm>
          <a:prstGeom prst="rect">
            <a:avLst/>
          </a:prstGeom>
          <a:solidFill>
            <a:srgbClr val="F7F9FC"/>
          </a:solidFill>
          <a:ln w="3810">
            <a:solidFill>
              <a:srgbClr val="E2E8EF"/>
            </a:solidFill>
            <a:prstDash val="solid"/>
          </a:ln>
        </p:spPr>
        <p:txBody>
          <a:bodyPr/>
          <a:lstStyle/>
          <a:p>
            <a:endParaRPr lang="en-US"/>
          </a:p>
        </p:txBody>
      </p:sp>
      <p:sp>
        <p:nvSpPr>
          <p:cNvPr id="49" name="Text 47"/>
          <p:cNvSpPr/>
          <p:nvPr/>
        </p:nvSpPr>
        <p:spPr>
          <a:xfrm>
            <a:off x="4626864" y="2633472"/>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Cell type discovery</a:t>
            </a:r>
            <a:endParaRPr lang="en-US" sz="900" dirty="0"/>
          </a:p>
        </p:txBody>
      </p:sp>
      <p:sp>
        <p:nvSpPr>
          <p:cNvPr id="50" name="Shape 48"/>
          <p:cNvSpPr/>
          <p:nvPr/>
        </p:nvSpPr>
        <p:spPr>
          <a:xfrm>
            <a:off x="6876288" y="2578608"/>
            <a:ext cx="2139696" cy="365760"/>
          </a:xfrm>
          <a:prstGeom prst="rect">
            <a:avLst/>
          </a:prstGeom>
          <a:solidFill>
            <a:srgbClr val="F7F9FC"/>
          </a:solidFill>
          <a:ln w="3810">
            <a:solidFill>
              <a:srgbClr val="E2E8EF"/>
            </a:solidFill>
            <a:prstDash val="solid"/>
          </a:ln>
        </p:spPr>
        <p:txBody>
          <a:bodyPr/>
          <a:lstStyle/>
          <a:p>
            <a:endParaRPr lang="en-US"/>
          </a:p>
        </p:txBody>
      </p:sp>
      <p:sp>
        <p:nvSpPr>
          <p:cNvPr id="51" name="Text 49"/>
          <p:cNvSpPr/>
          <p:nvPr/>
        </p:nvSpPr>
        <p:spPr>
          <a:xfrm>
            <a:off x="6931152" y="2633472"/>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TME architecture, niches</a:t>
            </a:r>
            <a:endParaRPr lang="en-US" sz="900" dirty="0"/>
          </a:p>
        </p:txBody>
      </p:sp>
      <p:sp>
        <p:nvSpPr>
          <p:cNvPr id="52" name="Shape 50"/>
          <p:cNvSpPr/>
          <p:nvPr/>
        </p:nvSpPr>
        <p:spPr>
          <a:xfrm>
            <a:off x="274320" y="2962656"/>
            <a:ext cx="1956816" cy="365760"/>
          </a:xfrm>
          <a:prstGeom prst="rect">
            <a:avLst/>
          </a:prstGeom>
          <a:solidFill>
            <a:srgbClr val="FFFFFF"/>
          </a:solidFill>
          <a:ln w="3810">
            <a:solidFill>
              <a:srgbClr val="E2E8EF"/>
            </a:solidFill>
            <a:prstDash val="solid"/>
          </a:ln>
        </p:spPr>
        <p:txBody>
          <a:bodyPr/>
          <a:lstStyle/>
          <a:p>
            <a:endParaRPr lang="en-US"/>
          </a:p>
        </p:txBody>
      </p:sp>
      <p:sp>
        <p:nvSpPr>
          <p:cNvPr id="53" name="Text 51"/>
          <p:cNvSpPr/>
          <p:nvPr/>
        </p:nvSpPr>
        <p:spPr>
          <a:xfrm>
            <a:off x="329184" y="3017520"/>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Upstream tool</a:t>
            </a:r>
            <a:endParaRPr lang="en-US" sz="950" dirty="0"/>
          </a:p>
        </p:txBody>
      </p:sp>
      <p:sp>
        <p:nvSpPr>
          <p:cNvPr id="54" name="Shape 52"/>
          <p:cNvSpPr/>
          <p:nvPr/>
        </p:nvSpPr>
        <p:spPr>
          <a:xfrm>
            <a:off x="2267712" y="2962656"/>
            <a:ext cx="2267712" cy="365760"/>
          </a:xfrm>
          <a:prstGeom prst="rect">
            <a:avLst/>
          </a:prstGeom>
          <a:solidFill>
            <a:srgbClr val="FFFFFF"/>
          </a:solidFill>
          <a:ln w="3810">
            <a:solidFill>
              <a:srgbClr val="E2E8EF"/>
            </a:solidFill>
            <a:prstDash val="solid"/>
          </a:ln>
        </p:spPr>
        <p:txBody>
          <a:bodyPr/>
          <a:lstStyle/>
          <a:p>
            <a:endParaRPr lang="en-US"/>
          </a:p>
        </p:txBody>
      </p:sp>
      <p:sp>
        <p:nvSpPr>
          <p:cNvPr id="55" name="Text 53"/>
          <p:cNvSpPr/>
          <p:nvPr/>
        </p:nvSpPr>
        <p:spPr>
          <a:xfrm>
            <a:off x="2322576" y="3017520"/>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HISAT2 / STAR + featureCounts</a:t>
            </a:r>
            <a:endParaRPr lang="en-US" sz="900" dirty="0"/>
          </a:p>
        </p:txBody>
      </p:sp>
      <p:sp>
        <p:nvSpPr>
          <p:cNvPr id="56" name="Shape 54"/>
          <p:cNvSpPr/>
          <p:nvPr/>
        </p:nvSpPr>
        <p:spPr>
          <a:xfrm>
            <a:off x="4572000" y="2962656"/>
            <a:ext cx="2267712" cy="365760"/>
          </a:xfrm>
          <a:prstGeom prst="rect">
            <a:avLst/>
          </a:prstGeom>
          <a:solidFill>
            <a:srgbClr val="FFFFFF"/>
          </a:solidFill>
          <a:ln w="3810">
            <a:solidFill>
              <a:srgbClr val="E2E8EF"/>
            </a:solidFill>
            <a:prstDash val="solid"/>
          </a:ln>
        </p:spPr>
        <p:txBody>
          <a:bodyPr/>
          <a:lstStyle/>
          <a:p>
            <a:endParaRPr lang="en-US"/>
          </a:p>
        </p:txBody>
      </p:sp>
      <p:sp>
        <p:nvSpPr>
          <p:cNvPr id="57" name="Text 55"/>
          <p:cNvSpPr/>
          <p:nvPr/>
        </p:nvSpPr>
        <p:spPr>
          <a:xfrm>
            <a:off x="4626864" y="3017520"/>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Cell Ranger / STARsolo</a:t>
            </a:r>
            <a:endParaRPr lang="en-US" sz="900" dirty="0"/>
          </a:p>
        </p:txBody>
      </p:sp>
      <p:sp>
        <p:nvSpPr>
          <p:cNvPr id="58" name="Shape 56"/>
          <p:cNvSpPr/>
          <p:nvPr/>
        </p:nvSpPr>
        <p:spPr>
          <a:xfrm>
            <a:off x="6876288" y="2962656"/>
            <a:ext cx="2139696" cy="365760"/>
          </a:xfrm>
          <a:prstGeom prst="rect">
            <a:avLst/>
          </a:prstGeom>
          <a:solidFill>
            <a:srgbClr val="FFFFFF"/>
          </a:solidFill>
          <a:ln w="3810">
            <a:solidFill>
              <a:srgbClr val="E2E8EF"/>
            </a:solidFill>
            <a:prstDash val="solid"/>
          </a:ln>
        </p:spPr>
        <p:txBody>
          <a:bodyPr/>
          <a:lstStyle/>
          <a:p>
            <a:endParaRPr lang="en-US"/>
          </a:p>
        </p:txBody>
      </p:sp>
      <p:sp>
        <p:nvSpPr>
          <p:cNvPr id="59" name="Text 57"/>
          <p:cNvSpPr/>
          <p:nvPr/>
        </p:nvSpPr>
        <p:spPr>
          <a:xfrm>
            <a:off x="6931152" y="3017520"/>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Space Ranger</a:t>
            </a:r>
            <a:endParaRPr lang="en-US" sz="900" dirty="0"/>
          </a:p>
        </p:txBody>
      </p:sp>
      <p:sp>
        <p:nvSpPr>
          <p:cNvPr id="60" name="Shape 58"/>
          <p:cNvSpPr/>
          <p:nvPr/>
        </p:nvSpPr>
        <p:spPr>
          <a:xfrm>
            <a:off x="274320" y="3346704"/>
            <a:ext cx="1956816" cy="365760"/>
          </a:xfrm>
          <a:prstGeom prst="rect">
            <a:avLst/>
          </a:prstGeom>
          <a:solidFill>
            <a:srgbClr val="F7F9FC"/>
          </a:solidFill>
          <a:ln w="3810">
            <a:solidFill>
              <a:srgbClr val="E2E8EF"/>
            </a:solidFill>
            <a:prstDash val="solid"/>
          </a:ln>
        </p:spPr>
        <p:txBody>
          <a:bodyPr/>
          <a:lstStyle/>
          <a:p>
            <a:endParaRPr lang="en-US"/>
          </a:p>
        </p:txBody>
      </p:sp>
      <p:sp>
        <p:nvSpPr>
          <p:cNvPr id="61" name="Text 59"/>
          <p:cNvSpPr/>
          <p:nvPr/>
        </p:nvSpPr>
        <p:spPr>
          <a:xfrm>
            <a:off x="329184" y="3401568"/>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Downstream</a:t>
            </a:r>
            <a:endParaRPr lang="en-US" sz="950" dirty="0"/>
          </a:p>
        </p:txBody>
      </p:sp>
      <p:sp>
        <p:nvSpPr>
          <p:cNvPr id="62" name="Shape 60"/>
          <p:cNvSpPr/>
          <p:nvPr/>
        </p:nvSpPr>
        <p:spPr>
          <a:xfrm>
            <a:off x="2267712" y="3346704"/>
            <a:ext cx="2267712" cy="365760"/>
          </a:xfrm>
          <a:prstGeom prst="rect">
            <a:avLst/>
          </a:prstGeom>
          <a:solidFill>
            <a:srgbClr val="F7F9FC"/>
          </a:solidFill>
          <a:ln w="3810">
            <a:solidFill>
              <a:srgbClr val="E2E8EF"/>
            </a:solidFill>
            <a:prstDash val="solid"/>
          </a:ln>
        </p:spPr>
        <p:txBody>
          <a:bodyPr/>
          <a:lstStyle/>
          <a:p>
            <a:endParaRPr lang="en-US"/>
          </a:p>
        </p:txBody>
      </p:sp>
      <p:sp>
        <p:nvSpPr>
          <p:cNvPr id="63" name="Text 61"/>
          <p:cNvSpPr/>
          <p:nvPr/>
        </p:nvSpPr>
        <p:spPr>
          <a:xfrm>
            <a:off x="2322576" y="3401568"/>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DESeq2 / edgeR / GSEA</a:t>
            </a:r>
            <a:endParaRPr lang="en-US" sz="900" dirty="0"/>
          </a:p>
        </p:txBody>
      </p:sp>
      <p:sp>
        <p:nvSpPr>
          <p:cNvPr id="64" name="Shape 62"/>
          <p:cNvSpPr/>
          <p:nvPr/>
        </p:nvSpPr>
        <p:spPr>
          <a:xfrm>
            <a:off x="4572000" y="3346704"/>
            <a:ext cx="2267712" cy="365760"/>
          </a:xfrm>
          <a:prstGeom prst="rect">
            <a:avLst/>
          </a:prstGeom>
          <a:solidFill>
            <a:srgbClr val="F7F9FC"/>
          </a:solidFill>
          <a:ln w="3810">
            <a:solidFill>
              <a:srgbClr val="E2E8EF"/>
            </a:solidFill>
            <a:prstDash val="solid"/>
          </a:ln>
        </p:spPr>
        <p:txBody>
          <a:bodyPr/>
          <a:lstStyle/>
          <a:p>
            <a:endParaRPr lang="en-US"/>
          </a:p>
        </p:txBody>
      </p:sp>
      <p:sp>
        <p:nvSpPr>
          <p:cNvPr id="65" name="Text 63"/>
          <p:cNvSpPr/>
          <p:nvPr/>
        </p:nvSpPr>
        <p:spPr>
          <a:xfrm>
            <a:off x="4626864" y="3401568"/>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Scanpy / Seurat / scVelo</a:t>
            </a:r>
            <a:endParaRPr lang="en-US" sz="900" dirty="0"/>
          </a:p>
        </p:txBody>
      </p:sp>
      <p:sp>
        <p:nvSpPr>
          <p:cNvPr id="66" name="Shape 64"/>
          <p:cNvSpPr/>
          <p:nvPr/>
        </p:nvSpPr>
        <p:spPr>
          <a:xfrm>
            <a:off x="6876288" y="3346704"/>
            <a:ext cx="2139696" cy="365760"/>
          </a:xfrm>
          <a:prstGeom prst="rect">
            <a:avLst/>
          </a:prstGeom>
          <a:solidFill>
            <a:srgbClr val="F7F9FC"/>
          </a:solidFill>
          <a:ln w="3810">
            <a:solidFill>
              <a:srgbClr val="E2E8EF"/>
            </a:solidFill>
            <a:prstDash val="solid"/>
          </a:ln>
        </p:spPr>
        <p:txBody>
          <a:bodyPr/>
          <a:lstStyle/>
          <a:p>
            <a:endParaRPr lang="en-US"/>
          </a:p>
        </p:txBody>
      </p:sp>
      <p:sp>
        <p:nvSpPr>
          <p:cNvPr id="67" name="Text 65"/>
          <p:cNvSpPr/>
          <p:nvPr/>
        </p:nvSpPr>
        <p:spPr>
          <a:xfrm>
            <a:off x="6931152" y="3401568"/>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Scanpy + Squidpy</a:t>
            </a:r>
            <a:endParaRPr lang="en-US" sz="900" dirty="0"/>
          </a:p>
        </p:txBody>
      </p:sp>
      <p:sp>
        <p:nvSpPr>
          <p:cNvPr id="68" name="Shape 66"/>
          <p:cNvSpPr/>
          <p:nvPr/>
        </p:nvSpPr>
        <p:spPr>
          <a:xfrm>
            <a:off x="274320" y="3730752"/>
            <a:ext cx="1956816" cy="365760"/>
          </a:xfrm>
          <a:prstGeom prst="rect">
            <a:avLst/>
          </a:prstGeom>
          <a:solidFill>
            <a:srgbClr val="FFFFFF"/>
          </a:solidFill>
          <a:ln w="3810">
            <a:solidFill>
              <a:srgbClr val="E2E8EF"/>
            </a:solidFill>
            <a:prstDash val="solid"/>
          </a:ln>
        </p:spPr>
        <p:txBody>
          <a:bodyPr/>
          <a:lstStyle/>
          <a:p>
            <a:endParaRPr lang="en-US"/>
          </a:p>
        </p:txBody>
      </p:sp>
      <p:sp>
        <p:nvSpPr>
          <p:cNvPr id="69" name="Text 67"/>
          <p:cNvSpPr/>
          <p:nvPr/>
        </p:nvSpPr>
        <p:spPr>
          <a:xfrm>
            <a:off x="329184" y="3785616"/>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QC metrics</a:t>
            </a:r>
            <a:endParaRPr lang="en-US" sz="950" dirty="0"/>
          </a:p>
        </p:txBody>
      </p:sp>
      <p:sp>
        <p:nvSpPr>
          <p:cNvPr id="70" name="Shape 68"/>
          <p:cNvSpPr/>
          <p:nvPr/>
        </p:nvSpPr>
        <p:spPr>
          <a:xfrm>
            <a:off x="2267712" y="3730752"/>
            <a:ext cx="2267712" cy="365760"/>
          </a:xfrm>
          <a:prstGeom prst="rect">
            <a:avLst/>
          </a:prstGeom>
          <a:solidFill>
            <a:srgbClr val="FFFFFF"/>
          </a:solidFill>
          <a:ln w="3810">
            <a:solidFill>
              <a:srgbClr val="E2E8EF"/>
            </a:solidFill>
            <a:prstDash val="solid"/>
          </a:ln>
        </p:spPr>
        <p:txBody>
          <a:bodyPr/>
          <a:lstStyle/>
          <a:p>
            <a:endParaRPr lang="en-US"/>
          </a:p>
        </p:txBody>
      </p:sp>
      <p:sp>
        <p:nvSpPr>
          <p:cNvPr id="71" name="Text 69"/>
          <p:cNvSpPr/>
          <p:nvPr/>
        </p:nvSpPr>
        <p:spPr>
          <a:xfrm>
            <a:off x="2322576" y="3785616"/>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Mapping %, rRNA%</a:t>
            </a:r>
            <a:endParaRPr lang="en-US" sz="900" dirty="0"/>
          </a:p>
        </p:txBody>
      </p:sp>
      <p:sp>
        <p:nvSpPr>
          <p:cNvPr id="72" name="Shape 70"/>
          <p:cNvSpPr/>
          <p:nvPr/>
        </p:nvSpPr>
        <p:spPr>
          <a:xfrm>
            <a:off x="4572000" y="3730752"/>
            <a:ext cx="2267712" cy="365760"/>
          </a:xfrm>
          <a:prstGeom prst="rect">
            <a:avLst/>
          </a:prstGeom>
          <a:solidFill>
            <a:srgbClr val="FFFFFF"/>
          </a:solidFill>
          <a:ln w="3810">
            <a:solidFill>
              <a:srgbClr val="E2E8EF"/>
            </a:solidFill>
            <a:prstDash val="solid"/>
          </a:ln>
        </p:spPr>
        <p:txBody>
          <a:bodyPr/>
          <a:lstStyle/>
          <a:p>
            <a:endParaRPr lang="en-US"/>
          </a:p>
        </p:txBody>
      </p:sp>
      <p:sp>
        <p:nvSpPr>
          <p:cNvPr id="73" name="Text 71"/>
          <p:cNvSpPr/>
          <p:nvPr/>
        </p:nvSpPr>
        <p:spPr>
          <a:xfrm>
            <a:off x="4626864" y="3785616"/>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MT%, doublets, nGenes</a:t>
            </a:r>
            <a:endParaRPr lang="en-US" sz="900" dirty="0"/>
          </a:p>
        </p:txBody>
      </p:sp>
      <p:sp>
        <p:nvSpPr>
          <p:cNvPr id="74" name="Shape 72"/>
          <p:cNvSpPr/>
          <p:nvPr/>
        </p:nvSpPr>
        <p:spPr>
          <a:xfrm>
            <a:off x="6876288" y="3730752"/>
            <a:ext cx="2139696" cy="365760"/>
          </a:xfrm>
          <a:prstGeom prst="rect">
            <a:avLst/>
          </a:prstGeom>
          <a:solidFill>
            <a:srgbClr val="FFFFFF"/>
          </a:solidFill>
          <a:ln w="3810">
            <a:solidFill>
              <a:srgbClr val="E2E8EF"/>
            </a:solidFill>
            <a:prstDash val="solid"/>
          </a:ln>
        </p:spPr>
        <p:txBody>
          <a:bodyPr/>
          <a:lstStyle/>
          <a:p>
            <a:endParaRPr lang="en-US"/>
          </a:p>
        </p:txBody>
      </p:sp>
      <p:sp>
        <p:nvSpPr>
          <p:cNvPr id="75" name="Text 73"/>
          <p:cNvSpPr/>
          <p:nvPr/>
        </p:nvSpPr>
        <p:spPr>
          <a:xfrm>
            <a:off x="6931152" y="3785616"/>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MT%, HB%, spatial QC</a:t>
            </a:r>
            <a:endParaRPr lang="en-US" sz="900" dirty="0"/>
          </a:p>
        </p:txBody>
      </p:sp>
      <p:sp>
        <p:nvSpPr>
          <p:cNvPr id="76" name="Shape 74"/>
          <p:cNvSpPr/>
          <p:nvPr/>
        </p:nvSpPr>
        <p:spPr>
          <a:xfrm>
            <a:off x="274320" y="4114800"/>
            <a:ext cx="1956816" cy="365760"/>
          </a:xfrm>
          <a:prstGeom prst="rect">
            <a:avLst/>
          </a:prstGeom>
          <a:solidFill>
            <a:srgbClr val="F7F9FC"/>
          </a:solidFill>
          <a:ln w="3810">
            <a:solidFill>
              <a:srgbClr val="E2E8EF"/>
            </a:solidFill>
            <a:prstDash val="solid"/>
          </a:ln>
        </p:spPr>
        <p:txBody>
          <a:bodyPr/>
          <a:lstStyle/>
          <a:p>
            <a:endParaRPr lang="en-US"/>
          </a:p>
        </p:txBody>
      </p:sp>
      <p:sp>
        <p:nvSpPr>
          <p:cNvPr id="77" name="Text 75"/>
          <p:cNvSpPr/>
          <p:nvPr/>
        </p:nvSpPr>
        <p:spPr>
          <a:xfrm>
            <a:off x="329184" y="4169664"/>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Output</a:t>
            </a:r>
            <a:endParaRPr lang="en-US" sz="950" dirty="0"/>
          </a:p>
        </p:txBody>
      </p:sp>
      <p:sp>
        <p:nvSpPr>
          <p:cNvPr id="78" name="Shape 76"/>
          <p:cNvSpPr/>
          <p:nvPr/>
        </p:nvSpPr>
        <p:spPr>
          <a:xfrm>
            <a:off x="2267712" y="4114800"/>
            <a:ext cx="2267712" cy="365760"/>
          </a:xfrm>
          <a:prstGeom prst="rect">
            <a:avLst/>
          </a:prstGeom>
          <a:solidFill>
            <a:srgbClr val="F7F9FC"/>
          </a:solidFill>
          <a:ln w="3810">
            <a:solidFill>
              <a:srgbClr val="E2E8EF"/>
            </a:solidFill>
            <a:prstDash val="solid"/>
          </a:ln>
        </p:spPr>
        <p:txBody>
          <a:bodyPr/>
          <a:lstStyle/>
          <a:p>
            <a:endParaRPr lang="en-US"/>
          </a:p>
        </p:txBody>
      </p:sp>
      <p:sp>
        <p:nvSpPr>
          <p:cNvPr id="79" name="Text 77"/>
          <p:cNvSpPr/>
          <p:nvPr/>
        </p:nvSpPr>
        <p:spPr>
          <a:xfrm>
            <a:off x="2322576" y="4169664"/>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Gene expression table</a:t>
            </a:r>
            <a:endParaRPr lang="en-US" sz="900" dirty="0"/>
          </a:p>
        </p:txBody>
      </p:sp>
      <p:sp>
        <p:nvSpPr>
          <p:cNvPr id="80" name="Shape 78"/>
          <p:cNvSpPr/>
          <p:nvPr/>
        </p:nvSpPr>
        <p:spPr>
          <a:xfrm>
            <a:off x="4572000" y="4114800"/>
            <a:ext cx="2267712" cy="365760"/>
          </a:xfrm>
          <a:prstGeom prst="rect">
            <a:avLst/>
          </a:prstGeom>
          <a:solidFill>
            <a:srgbClr val="F7F9FC"/>
          </a:solidFill>
          <a:ln w="3810">
            <a:solidFill>
              <a:srgbClr val="E2E8EF"/>
            </a:solidFill>
            <a:prstDash val="solid"/>
          </a:ln>
        </p:spPr>
        <p:txBody>
          <a:bodyPr/>
          <a:lstStyle/>
          <a:p>
            <a:endParaRPr lang="en-US"/>
          </a:p>
        </p:txBody>
      </p:sp>
      <p:sp>
        <p:nvSpPr>
          <p:cNvPr id="81" name="Text 79"/>
          <p:cNvSpPr/>
          <p:nvPr/>
        </p:nvSpPr>
        <p:spPr>
          <a:xfrm>
            <a:off x="4626864" y="4169664"/>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UMAP + clusters</a:t>
            </a:r>
            <a:endParaRPr lang="en-US" sz="900" dirty="0"/>
          </a:p>
        </p:txBody>
      </p:sp>
      <p:sp>
        <p:nvSpPr>
          <p:cNvPr id="82" name="Shape 80"/>
          <p:cNvSpPr/>
          <p:nvPr/>
        </p:nvSpPr>
        <p:spPr>
          <a:xfrm>
            <a:off x="6876288" y="4114800"/>
            <a:ext cx="2139696" cy="365760"/>
          </a:xfrm>
          <a:prstGeom prst="rect">
            <a:avLst/>
          </a:prstGeom>
          <a:solidFill>
            <a:srgbClr val="F7F9FC"/>
          </a:solidFill>
          <a:ln w="3810">
            <a:solidFill>
              <a:srgbClr val="E2E8EF"/>
            </a:solidFill>
            <a:prstDash val="solid"/>
          </a:ln>
        </p:spPr>
        <p:txBody>
          <a:bodyPr/>
          <a:lstStyle/>
          <a:p>
            <a:endParaRPr lang="en-US"/>
          </a:p>
        </p:txBody>
      </p:sp>
      <p:sp>
        <p:nvSpPr>
          <p:cNvPr id="83" name="Text 81"/>
          <p:cNvSpPr/>
          <p:nvPr/>
        </p:nvSpPr>
        <p:spPr>
          <a:xfrm>
            <a:off x="6931152" y="4169664"/>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Spatial cluster map</a:t>
            </a:r>
            <a:endParaRPr lang="en-US" sz="900" dirty="0"/>
          </a:p>
        </p:txBody>
      </p:sp>
      <p:sp>
        <p:nvSpPr>
          <p:cNvPr id="84" name="Shape 82"/>
          <p:cNvSpPr/>
          <p:nvPr/>
        </p:nvSpPr>
        <p:spPr>
          <a:xfrm>
            <a:off x="274320" y="4498848"/>
            <a:ext cx="1956816" cy="365760"/>
          </a:xfrm>
          <a:prstGeom prst="rect">
            <a:avLst/>
          </a:prstGeom>
          <a:solidFill>
            <a:srgbClr val="FFFFFF"/>
          </a:solidFill>
          <a:ln w="3810">
            <a:solidFill>
              <a:srgbClr val="E2E8EF"/>
            </a:solidFill>
            <a:prstDash val="solid"/>
          </a:ln>
        </p:spPr>
        <p:txBody>
          <a:bodyPr/>
          <a:lstStyle/>
          <a:p>
            <a:endParaRPr lang="en-US"/>
          </a:p>
        </p:txBody>
      </p:sp>
      <p:sp>
        <p:nvSpPr>
          <p:cNvPr id="85" name="Text 83"/>
          <p:cNvSpPr/>
          <p:nvPr/>
        </p:nvSpPr>
        <p:spPr>
          <a:xfrm>
            <a:off x="329184" y="4553712"/>
            <a:ext cx="1865376" cy="256032"/>
          </a:xfrm>
          <a:prstGeom prst="rect">
            <a:avLst/>
          </a:prstGeom>
          <a:noFill/>
          <a:ln/>
        </p:spPr>
        <p:txBody>
          <a:bodyPr wrap="square" rtlCol="0" anchor="ctr"/>
          <a:lstStyle/>
          <a:p>
            <a:pPr marL="0" indent="0">
              <a:buNone/>
            </a:pPr>
            <a:r>
              <a:rPr lang="en-US" sz="950" b="1" dirty="0">
                <a:solidFill>
                  <a:srgbClr val="3A4F65"/>
                </a:solidFill>
                <a:latin typeface="Calibri" pitchFamily="34" charset="0"/>
                <a:ea typeface="Calibri" pitchFamily="34" charset="-122"/>
                <a:cs typeface="Calibri" pitchFamily="34" charset="-120"/>
              </a:rPr>
              <a:t>Limitation</a:t>
            </a:r>
            <a:endParaRPr lang="en-US" sz="950" dirty="0"/>
          </a:p>
        </p:txBody>
      </p:sp>
      <p:sp>
        <p:nvSpPr>
          <p:cNvPr id="86" name="Shape 84"/>
          <p:cNvSpPr/>
          <p:nvPr/>
        </p:nvSpPr>
        <p:spPr>
          <a:xfrm>
            <a:off x="2267712" y="4498848"/>
            <a:ext cx="2267712" cy="365760"/>
          </a:xfrm>
          <a:prstGeom prst="rect">
            <a:avLst/>
          </a:prstGeom>
          <a:solidFill>
            <a:srgbClr val="FFFFFF"/>
          </a:solidFill>
          <a:ln w="3810">
            <a:solidFill>
              <a:srgbClr val="E2E8EF"/>
            </a:solidFill>
            <a:prstDash val="solid"/>
          </a:ln>
        </p:spPr>
        <p:txBody>
          <a:bodyPr/>
          <a:lstStyle/>
          <a:p>
            <a:endParaRPr lang="en-US"/>
          </a:p>
        </p:txBody>
      </p:sp>
      <p:sp>
        <p:nvSpPr>
          <p:cNvPr id="87" name="Text 85"/>
          <p:cNvSpPr/>
          <p:nvPr/>
        </p:nvSpPr>
        <p:spPr>
          <a:xfrm>
            <a:off x="2322576" y="4553712"/>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No cell type resolution</a:t>
            </a:r>
            <a:endParaRPr lang="en-US" sz="900" dirty="0"/>
          </a:p>
        </p:txBody>
      </p:sp>
      <p:sp>
        <p:nvSpPr>
          <p:cNvPr id="88" name="Shape 86"/>
          <p:cNvSpPr/>
          <p:nvPr/>
        </p:nvSpPr>
        <p:spPr>
          <a:xfrm>
            <a:off x="4572000" y="4498848"/>
            <a:ext cx="2267712" cy="365760"/>
          </a:xfrm>
          <a:prstGeom prst="rect">
            <a:avLst/>
          </a:prstGeom>
          <a:solidFill>
            <a:srgbClr val="FFFFFF"/>
          </a:solidFill>
          <a:ln w="3810">
            <a:solidFill>
              <a:srgbClr val="E2E8EF"/>
            </a:solidFill>
            <a:prstDash val="solid"/>
          </a:ln>
        </p:spPr>
        <p:txBody>
          <a:bodyPr/>
          <a:lstStyle/>
          <a:p>
            <a:endParaRPr lang="en-US"/>
          </a:p>
        </p:txBody>
      </p:sp>
      <p:sp>
        <p:nvSpPr>
          <p:cNvPr id="89" name="Text 87"/>
          <p:cNvSpPr/>
          <p:nvPr/>
        </p:nvSpPr>
        <p:spPr>
          <a:xfrm>
            <a:off x="4626864" y="4553712"/>
            <a:ext cx="2176272"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No spatial context</a:t>
            </a:r>
            <a:endParaRPr lang="en-US" sz="900" dirty="0"/>
          </a:p>
        </p:txBody>
      </p:sp>
      <p:sp>
        <p:nvSpPr>
          <p:cNvPr id="90" name="Shape 88"/>
          <p:cNvSpPr/>
          <p:nvPr/>
        </p:nvSpPr>
        <p:spPr>
          <a:xfrm>
            <a:off x="6876288" y="4498848"/>
            <a:ext cx="2139696" cy="365760"/>
          </a:xfrm>
          <a:prstGeom prst="rect">
            <a:avLst/>
          </a:prstGeom>
          <a:solidFill>
            <a:srgbClr val="FFFFFF"/>
          </a:solidFill>
          <a:ln w="3810">
            <a:solidFill>
              <a:srgbClr val="E2E8EF"/>
            </a:solidFill>
            <a:prstDash val="solid"/>
          </a:ln>
        </p:spPr>
        <p:txBody>
          <a:bodyPr/>
          <a:lstStyle/>
          <a:p>
            <a:endParaRPr lang="en-US"/>
          </a:p>
        </p:txBody>
      </p:sp>
      <p:sp>
        <p:nvSpPr>
          <p:cNvPr id="91" name="Text 89"/>
          <p:cNvSpPr/>
          <p:nvPr/>
        </p:nvSpPr>
        <p:spPr>
          <a:xfrm>
            <a:off x="6931152" y="4553712"/>
            <a:ext cx="2048256" cy="256032"/>
          </a:xfrm>
          <a:prstGeom prst="rect">
            <a:avLst/>
          </a:prstGeom>
          <a:noFill/>
          <a:ln/>
        </p:spPr>
        <p:txBody>
          <a:bodyPr wrap="square" rtlCol="0" anchor="ctr"/>
          <a:lstStyle/>
          <a:p>
            <a:pPr marL="0" indent="0">
              <a:buNone/>
            </a:pPr>
            <a:r>
              <a:rPr lang="en-US" sz="900" dirty="0">
                <a:solidFill>
                  <a:srgbClr val="3A4F65"/>
                </a:solidFill>
                <a:latin typeface="Calibri" pitchFamily="34" charset="0"/>
                <a:ea typeface="Calibri" pitchFamily="34" charset="-122"/>
                <a:cs typeface="Calibri" pitchFamily="34" charset="-120"/>
              </a:rPr>
              <a:t>~8 cells/spot resolution</a:t>
            </a:r>
            <a:endParaRPr lang="en-US" sz="900" dirty="0"/>
          </a:p>
        </p:txBody>
      </p:sp>
      <p:sp>
        <p:nvSpPr>
          <p:cNvPr id="92" name="Shape 90"/>
          <p:cNvSpPr/>
          <p:nvPr/>
        </p:nvSpPr>
        <p:spPr>
          <a:xfrm>
            <a:off x="274320" y="5033772"/>
            <a:ext cx="8741664" cy="109728"/>
          </a:xfrm>
          <a:prstGeom prst="rect">
            <a:avLst/>
          </a:prstGeom>
          <a:solidFill>
            <a:srgbClr val="E0F5F2"/>
          </a:solidFill>
          <a:ln w="12700">
            <a:solidFill>
              <a:srgbClr val="0B6E63"/>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FBBFC-FF55-2102-2FEB-F8B3696691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C306CA-2672-8D74-C598-7FBAF70A7AAA}"/>
              </a:ext>
            </a:extLst>
          </p:cNvPr>
          <p:cNvSpPr>
            <a:spLocks noGrp="1"/>
          </p:cNvSpPr>
          <p:nvPr>
            <p:ph idx="1"/>
          </p:nvPr>
        </p:nvSpPr>
        <p:spPr>
          <a:xfrm>
            <a:off x="104324" y="833182"/>
            <a:ext cx="4174472" cy="3656705"/>
          </a:xfrm>
        </p:spPr>
        <p:txBody>
          <a:bodyPr vert="horz" lIns="68580" tIns="34290" rIns="68580" bIns="34290" rtlCol="0" anchor="t">
            <a:normAutofit/>
          </a:bodyPr>
          <a:lstStyle/>
          <a:p>
            <a:pPr>
              <a:buFont typeface="Wingdings" panose="05000000000000000000" pitchFamily="2" charset="2"/>
              <a:buChar char="ü"/>
            </a:pPr>
            <a:r>
              <a:rPr lang="en-US" sz="1500" b="1" dirty="0">
                <a:latin typeface="Times New Roman" panose="02020603050405020304" pitchFamily="18" charset="0"/>
                <a:cs typeface="Times New Roman" panose="02020603050405020304" pitchFamily="18" charset="0"/>
              </a:rPr>
              <a:t>Transcriptomics Analysis</a:t>
            </a:r>
          </a:p>
          <a:p>
            <a:r>
              <a:rPr lang="en-US" sz="1500" dirty="0">
                <a:latin typeface="Times New Roman" panose="02020603050405020304" pitchFamily="18" charset="0"/>
                <a:cs typeface="Times New Roman" panose="02020603050405020304" pitchFamily="18" charset="0"/>
              </a:rPr>
              <a:t>End-to-end RNA-seq preprocessing (QC → alignment → quantification)</a:t>
            </a:r>
          </a:p>
          <a:p>
            <a:r>
              <a:rPr lang="en-US" sz="1500" dirty="0">
                <a:latin typeface="Times New Roman" panose="02020603050405020304" pitchFamily="18" charset="0"/>
                <a:cs typeface="Times New Roman" panose="02020603050405020304" pitchFamily="18" charset="0"/>
              </a:rPr>
              <a:t>Differential expression &amp; normalization (DESeq2)</a:t>
            </a:r>
          </a:p>
          <a:p>
            <a:r>
              <a:rPr lang="en-US" sz="1500" dirty="0">
                <a:latin typeface="Times New Roman" panose="02020603050405020304" pitchFamily="18" charset="0"/>
                <a:cs typeface="Times New Roman" panose="02020603050405020304" pitchFamily="18" charset="0"/>
              </a:rPr>
              <a:t>Network-based systems analysis (WGCNA)</a:t>
            </a:r>
          </a:p>
          <a:p>
            <a:r>
              <a:rPr lang="en-US" sz="1500" dirty="0">
                <a:latin typeface="Times New Roman" panose="02020603050405020304" pitchFamily="18" charset="0"/>
                <a:cs typeface="Times New Roman" panose="02020603050405020304" pitchFamily="18" charset="0"/>
              </a:rPr>
              <a:t>Single-cell RNA-seq clustering &amp; annotation</a:t>
            </a:r>
          </a:p>
          <a:p>
            <a:pPr marL="0" indent="0">
              <a:buNone/>
            </a:pPr>
            <a:endParaRPr lang="en-US" sz="1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500" b="1" dirty="0">
                <a:latin typeface="Times New Roman" panose="02020603050405020304" pitchFamily="18" charset="0"/>
                <a:cs typeface="Times New Roman" panose="02020603050405020304" pitchFamily="18" charset="0"/>
              </a:rPr>
              <a:t>Structured &amp; Reproducible Workflows</a:t>
            </a:r>
          </a:p>
          <a:p>
            <a:r>
              <a:rPr lang="en-US" sz="1500" dirty="0">
                <a:latin typeface="Times New Roman" panose="02020603050405020304" pitchFamily="18" charset="0"/>
                <a:cs typeface="Times New Roman" panose="02020603050405020304" pitchFamily="18" charset="0"/>
              </a:rPr>
              <a:t>HPC/SLURM-based scalable pipelines</a:t>
            </a:r>
          </a:p>
          <a:p>
            <a:r>
              <a:rPr lang="en-US" sz="1500" dirty="0">
                <a:latin typeface="Times New Roman" panose="02020603050405020304" pitchFamily="18" charset="0"/>
                <a:cs typeface="Times New Roman" panose="02020603050405020304" pitchFamily="18" charset="0"/>
              </a:rPr>
              <a:t>Metadata integration &amp; batch-aware analysis</a:t>
            </a:r>
          </a:p>
          <a:p>
            <a:r>
              <a:rPr lang="en-US" sz="1500" dirty="0">
                <a:latin typeface="Times New Roman" panose="02020603050405020304" pitchFamily="18" charset="0"/>
                <a:cs typeface="Times New Roman" panose="02020603050405020304" pitchFamily="18" charset="0"/>
              </a:rPr>
              <a:t>Clean documentation &amp; traceable outputs</a:t>
            </a:r>
          </a:p>
          <a:p>
            <a:r>
              <a:rPr lang="en-US" sz="1500" dirty="0">
                <a:latin typeface="Times New Roman" panose="02020603050405020304" pitchFamily="18" charset="0"/>
                <a:cs typeface="Times New Roman" panose="02020603050405020304" pitchFamily="18" charset="0"/>
              </a:rPr>
              <a:t>Organized large-scale genomic datasets</a:t>
            </a:r>
          </a:p>
          <a:p>
            <a:pPr marL="0" indent="0">
              <a:buNone/>
            </a:pP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4BBC96CA-63BF-20ED-5EC8-AC38A307D20C}"/>
              </a:ext>
            </a:extLst>
          </p:cNvPr>
          <p:cNvSpPr txBox="1">
            <a:spLocks/>
          </p:cNvSpPr>
          <p:nvPr/>
        </p:nvSpPr>
        <p:spPr>
          <a:xfrm>
            <a:off x="4373318" y="899085"/>
            <a:ext cx="4378589" cy="3904762"/>
          </a:xfrm>
          <a:prstGeom prst="rect">
            <a:avLst/>
          </a:prstGeom>
        </p:spPr>
        <p:txBody>
          <a:bodyPr vert="horz" lIns="68580" tIns="34290" rIns="68580" bIns="3429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1500" b="1" dirty="0">
                <a:latin typeface="Times New Roman" panose="02020603050405020304" pitchFamily="18" charset="0"/>
                <a:cs typeface="Times New Roman" panose="02020603050405020304" pitchFamily="18" charset="0"/>
              </a:rPr>
              <a:t>Biological Wet Lab Analysis</a:t>
            </a:r>
          </a:p>
          <a:p>
            <a:r>
              <a:rPr lang="en-US" sz="1500" dirty="0">
                <a:latin typeface="Times New Roman" panose="02020603050405020304" pitchFamily="18" charset="0"/>
                <a:cs typeface="Times New Roman" panose="02020603050405020304" pitchFamily="18" charset="0"/>
              </a:rPr>
              <a:t>PCR </a:t>
            </a:r>
          </a:p>
          <a:p>
            <a:r>
              <a:rPr lang="en-US" sz="1500" dirty="0">
                <a:latin typeface="Times New Roman" panose="02020603050405020304" pitchFamily="18" charset="0"/>
                <a:cs typeface="Times New Roman" panose="02020603050405020304" pitchFamily="18" charset="0"/>
              </a:rPr>
              <a:t>ELISA</a:t>
            </a:r>
          </a:p>
          <a:p>
            <a:r>
              <a:rPr lang="en-US" sz="1500" dirty="0">
                <a:latin typeface="Times New Roman" panose="02020603050405020304" pitchFamily="18" charset="0"/>
                <a:cs typeface="Times New Roman" panose="02020603050405020304" pitchFamily="18" charset="0"/>
              </a:rPr>
              <a:t>Biological Assay</a:t>
            </a:r>
          </a:p>
          <a:p>
            <a:r>
              <a:rPr lang="en-US" sz="1500" dirty="0">
                <a:latin typeface="Times New Roman" panose="02020603050405020304" pitchFamily="18" charset="0"/>
                <a:cs typeface="Times New Roman" panose="02020603050405020304" pitchFamily="18" charset="0"/>
              </a:rPr>
              <a:t>Maintenance of Cell Culture</a:t>
            </a:r>
          </a:p>
          <a:p>
            <a:pPr marL="0" indent="0">
              <a:buNone/>
            </a:pPr>
            <a:endParaRPr lang="en-US" sz="15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500" b="1" dirty="0">
                <a:latin typeface="Times New Roman" panose="02020603050405020304" pitchFamily="18" charset="0"/>
                <a:cs typeface="Times New Roman" panose="02020603050405020304" pitchFamily="18" charset="0"/>
              </a:rPr>
              <a:t>Collaborative &amp; Research-Oriented Approach</a:t>
            </a:r>
          </a:p>
          <a:p>
            <a:r>
              <a:rPr lang="en-US" sz="1500" dirty="0">
                <a:latin typeface="Times New Roman" panose="02020603050405020304" pitchFamily="18" charset="0"/>
                <a:cs typeface="Times New Roman" panose="02020603050405020304" pitchFamily="18" charset="0"/>
              </a:rPr>
              <a:t>Experience working with wet-lab teams</a:t>
            </a:r>
          </a:p>
          <a:p>
            <a:r>
              <a:rPr lang="en-US" sz="1500" dirty="0">
                <a:latin typeface="Times New Roman" panose="02020603050405020304" pitchFamily="18" charset="0"/>
                <a:cs typeface="Times New Roman" panose="02020603050405020304" pitchFamily="18" charset="0"/>
              </a:rPr>
              <a:t>Clear scientific communication</a:t>
            </a:r>
          </a:p>
          <a:p>
            <a:r>
              <a:rPr lang="en-US" sz="1500" dirty="0">
                <a:latin typeface="Times New Roman" panose="02020603050405020304" pitchFamily="18" charset="0"/>
                <a:cs typeface="Times New Roman" panose="02020603050405020304" pitchFamily="18" charset="0"/>
              </a:rPr>
              <a:t>Comfortable contributing to figures &amp; manuscripts</a:t>
            </a:r>
          </a:p>
          <a:p>
            <a:pPr marL="0" indent="0">
              <a:buNone/>
            </a:pP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9" name="Shape 0">
            <a:extLst>
              <a:ext uri="{FF2B5EF4-FFF2-40B4-BE49-F238E27FC236}">
                <a16:creationId xmlns:a16="http://schemas.microsoft.com/office/drawing/2014/main" id="{BED4A1FF-B9D7-5591-3B77-FC5E7DD0DCB2}"/>
              </a:ext>
            </a:extLst>
          </p:cNvPr>
          <p:cNvSpPr/>
          <p:nvPr/>
        </p:nvSpPr>
        <p:spPr>
          <a:xfrm>
            <a:off x="0" y="0"/>
            <a:ext cx="9144000" cy="594360"/>
          </a:xfrm>
          <a:prstGeom prst="rect">
            <a:avLst/>
          </a:prstGeom>
          <a:solidFill>
            <a:srgbClr val="2C385E"/>
          </a:solidFill>
          <a:ln w="12700">
            <a:solidFill>
              <a:srgbClr val="2C385E"/>
            </a:solidFill>
            <a:prstDash val="solid"/>
          </a:ln>
        </p:spPr>
        <p:txBody>
          <a:bodyPr/>
          <a:lstStyle/>
          <a:p>
            <a:endParaRPr lang="en-US"/>
          </a:p>
        </p:txBody>
      </p:sp>
      <p:sp>
        <p:nvSpPr>
          <p:cNvPr id="14" name="Text 1">
            <a:extLst>
              <a:ext uri="{FF2B5EF4-FFF2-40B4-BE49-F238E27FC236}">
                <a16:creationId xmlns:a16="http://schemas.microsoft.com/office/drawing/2014/main" id="{72B9D8DC-E232-FB37-CE01-F2F6C27E3846}"/>
              </a:ext>
            </a:extLst>
          </p:cNvPr>
          <p:cNvSpPr/>
          <p:nvPr/>
        </p:nvSpPr>
        <p:spPr>
          <a:xfrm>
            <a:off x="104324" y="109728"/>
            <a:ext cx="3825125" cy="374904"/>
          </a:xfrm>
          <a:prstGeom prst="rect">
            <a:avLst/>
          </a:prstGeom>
          <a:noFill/>
          <a:ln/>
        </p:spPr>
        <p:txBody>
          <a:bodyPr wrap="square" rtlCol="0" anchor="ctr"/>
          <a:lstStyle/>
          <a:p>
            <a:r>
              <a:rPr lang="en-US" b="1" dirty="0">
                <a:solidFill>
                  <a:schemeClr val="bg1"/>
                </a:solidFill>
                <a:latin typeface="Georgia" panose="02040502050405020303" pitchFamily="18" charset="0"/>
                <a:cs typeface="Times New Roman" panose="02020603050405020304" pitchFamily="18" charset="0"/>
              </a:rPr>
              <a:t>WHAT I BRING TO THE LAB</a:t>
            </a:r>
            <a:endParaRPr lang="en-US" sz="17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383133120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B35DFA1-1915-2963-8215-524341B761E3}"/>
              </a:ext>
            </a:extLst>
          </p:cNvPr>
          <p:cNvSpPr txBox="1"/>
          <p:nvPr/>
        </p:nvSpPr>
        <p:spPr>
          <a:xfrm>
            <a:off x="140043" y="0"/>
            <a:ext cx="9003957" cy="5143500"/>
          </a:xfrm>
          <a:prstGeom prst="rect">
            <a:avLst/>
          </a:prstGeom>
          <a:solidFill>
            <a:srgbClr val="23AD89"/>
          </a:solidFill>
        </p:spPr>
        <p:txBody>
          <a:bodyPr wrap="square" rtlCol="0">
            <a:spAutoFit/>
          </a:bodyPr>
          <a:lstStyle/>
          <a:p>
            <a:endParaRPr lang="en-US" dirty="0"/>
          </a:p>
        </p:txBody>
      </p:sp>
      <p:sp>
        <p:nvSpPr>
          <p:cNvPr id="2" name="Shape 0"/>
          <p:cNvSpPr/>
          <p:nvPr/>
        </p:nvSpPr>
        <p:spPr>
          <a:xfrm>
            <a:off x="0" y="0"/>
            <a:ext cx="128016" cy="5143500"/>
          </a:xfrm>
          <a:prstGeom prst="rect">
            <a:avLst/>
          </a:prstGeom>
          <a:solidFill>
            <a:srgbClr val="0B6E63"/>
          </a:solidFill>
          <a:ln w="12700">
            <a:solidFill>
              <a:srgbClr val="0B6E63"/>
            </a:solidFill>
            <a:prstDash val="solid"/>
          </a:ln>
        </p:spPr>
        <p:txBody>
          <a:bodyPr/>
          <a:lstStyle/>
          <a:p>
            <a:endParaRPr lang="en-US"/>
          </a:p>
        </p:txBody>
      </p:sp>
      <p:sp>
        <p:nvSpPr>
          <p:cNvPr id="3" name="Text 1"/>
          <p:cNvSpPr/>
          <p:nvPr/>
        </p:nvSpPr>
        <p:spPr>
          <a:xfrm>
            <a:off x="237744" y="640080"/>
            <a:ext cx="5303520" cy="1463040"/>
          </a:xfrm>
          <a:prstGeom prst="rect">
            <a:avLst/>
          </a:prstGeom>
          <a:noFill/>
          <a:ln/>
        </p:spPr>
        <p:txBody>
          <a:bodyPr wrap="square" rtlCol="0" anchor="ctr"/>
          <a:lstStyle/>
          <a:p>
            <a:pPr marL="0" indent="0">
              <a:buNone/>
            </a:pPr>
            <a:r>
              <a:rPr lang="en-US" sz="4400" b="1" dirty="0">
                <a:solidFill>
                  <a:schemeClr val="bg1"/>
                </a:solidFill>
                <a:latin typeface="Georgia" pitchFamily="34" charset="0"/>
                <a:ea typeface="Georgia" pitchFamily="34" charset="-122"/>
                <a:cs typeface="Georgia" pitchFamily="34" charset="-120"/>
              </a:rPr>
              <a:t>Questions &amp;</a:t>
            </a:r>
            <a:endParaRPr lang="en-US" sz="4400" dirty="0">
              <a:solidFill>
                <a:schemeClr val="bg1"/>
              </a:solidFill>
            </a:endParaRPr>
          </a:p>
          <a:p>
            <a:pPr marL="0" indent="0">
              <a:buNone/>
            </a:pPr>
            <a:r>
              <a:rPr lang="en-US" sz="4400" b="1" dirty="0">
                <a:solidFill>
                  <a:schemeClr val="bg1"/>
                </a:solidFill>
                <a:latin typeface="Georgia" pitchFamily="34" charset="0"/>
                <a:ea typeface="Georgia" pitchFamily="34" charset="-122"/>
                <a:cs typeface="Georgia" pitchFamily="34" charset="-120"/>
              </a:rPr>
              <a:t>Discussion</a:t>
            </a:r>
            <a:endParaRPr lang="en-US" sz="4400" dirty="0">
              <a:solidFill>
                <a:schemeClr val="bg1"/>
              </a:solidFill>
            </a:endParaRPr>
          </a:p>
        </p:txBody>
      </p:sp>
      <p:sp>
        <p:nvSpPr>
          <p:cNvPr id="4" name="Shape 2"/>
          <p:cNvSpPr/>
          <p:nvPr/>
        </p:nvSpPr>
        <p:spPr>
          <a:xfrm>
            <a:off x="329184" y="2240280"/>
            <a:ext cx="2560320" cy="36576"/>
          </a:xfrm>
          <a:prstGeom prst="rect">
            <a:avLst/>
          </a:prstGeom>
          <a:solidFill>
            <a:srgbClr val="0B6E63"/>
          </a:solidFill>
          <a:ln w="12700">
            <a:solidFill>
              <a:srgbClr val="0B6E63"/>
            </a:solidFill>
            <a:prstDash val="solid"/>
          </a:ln>
        </p:spPr>
        <p:txBody>
          <a:bodyPr/>
          <a:lstStyle/>
          <a:p>
            <a:endParaRPr lang="en-US"/>
          </a:p>
        </p:txBody>
      </p:sp>
      <p:pic>
        <p:nvPicPr>
          <p:cNvPr id="3074" name="Picture 2" descr="Any questions sign stock illustration. Illustration of mark - 66662474">
            <a:extLst>
              <a:ext uri="{FF2B5EF4-FFF2-40B4-BE49-F238E27FC236}">
                <a16:creationId xmlns:a16="http://schemas.microsoft.com/office/drawing/2014/main" id="{D8D9DEFA-D4A8-4F69-8DB2-ACBC0A3254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64" t="11111" r="1745" b="20000"/>
          <a:stretch/>
        </p:blipFill>
        <p:spPr bwMode="auto">
          <a:xfrm>
            <a:off x="6359611" y="3131774"/>
            <a:ext cx="2644346" cy="15466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D49C1CF-99EE-4A1B-9B65-F97358710983}"/>
              </a:ext>
            </a:extLst>
          </p:cNvPr>
          <p:cNvSpPr txBox="1"/>
          <p:nvPr/>
        </p:nvSpPr>
        <p:spPr>
          <a:xfrm>
            <a:off x="140043" y="4466019"/>
            <a:ext cx="5715000" cy="600164"/>
          </a:xfrm>
          <a:prstGeom prst="rect">
            <a:avLst/>
          </a:prstGeom>
          <a:noFill/>
        </p:spPr>
        <p:txBody>
          <a:bodyPr wrap="square" rtlCol="0">
            <a:spAutoFit/>
          </a:bodyPr>
          <a:lstStyle/>
          <a:p>
            <a:r>
              <a:rPr lang="en-IN" sz="1100" b="1" dirty="0">
                <a:solidFill>
                  <a:schemeClr val="bg1"/>
                </a:solidFill>
              </a:rPr>
              <a:t>Email:</a:t>
            </a:r>
            <a:r>
              <a:rPr lang="en-IN" sz="1100" dirty="0"/>
              <a:t> </a:t>
            </a:r>
            <a:r>
              <a:rPr lang="en-IN" sz="1100" dirty="0">
                <a:hlinkClick r:id="rId4"/>
              </a:rPr>
              <a:t>mahimamahabaleshwar@gmail.com</a:t>
            </a:r>
            <a:r>
              <a:rPr lang="en-IN" sz="1100" dirty="0"/>
              <a:t> </a:t>
            </a:r>
          </a:p>
          <a:p>
            <a:r>
              <a:rPr lang="en-IN" sz="1100" b="1" dirty="0">
                <a:solidFill>
                  <a:schemeClr val="bg1"/>
                </a:solidFill>
              </a:rPr>
              <a:t>LinkedIn:</a:t>
            </a:r>
            <a:r>
              <a:rPr lang="en-IN" sz="1100" dirty="0"/>
              <a:t> </a:t>
            </a:r>
            <a:r>
              <a:rPr lang="en-IN" sz="1100" dirty="0">
                <a:hlinkClick r:id="rId5"/>
              </a:rPr>
              <a:t>https://www.linkedin.com/in/mahima-siddheshwar-98a585196</a:t>
            </a:r>
            <a:endParaRPr lang="en-IN" sz="1100" dirty="0"/>
          </a:p>
          <a:p>
            <a:r>
              <a:rPr lang="en-IN" sz="1100" b="1" dirty="0">
                <a:solidFill>
                  <a:schemeClr val="bg1"/>
                </a:solidFill>
              </a:rPr>
              <a:t>GitHub:</a:t>
            </a:r>
            <a:r>
              <a:rPr lang="en-IN" sz="1100" dirty="0"/>
              <a:t> </a:t>
            </a:r>
            <a:r>
              <a:rPr lang="en-IN" sz="1100" dirty="0">
                <a:hlinkClick r:id="rId6"/>
              </a:rPr>
              <a:t>https://github.com/MahimaMSiddheshwar</a:t>
            </a:r>
            <a:r>
              <a:rPr lang="en-IN" sz="1100" dirty="0"/>
              <a:t> </a:t>
            </a:r>
          </a:p>
        </p:txBody>
      </p:sp>
      <p:sp>
        <p:nvSpPr>
          <p:cNvPr id="6" name="Rectangle 5">
            <a:extLst>
              <a:ext uri="{FF2B5EF4-FFF2-40B4-BE49-F238E27FC236}">
                <a16:creationId xmlns:a16="http://schemas.microsoft.com/office/drawing/2014/main" id="{5BE1CAA1-0E5C-4F3D-95EC-9B5A0A1DD7EA}"/>
              </a:ext>
            </a:extLst>
          </p:cNvPr>
          <p:cNvSpPr/>
          <p:nvPr/>
        </p:nvSpPr>
        <p:spPr>
          <a:xfrm>
            <a:off x="6242917" y="4678467"/>
            <a:ext cx="2865016" cy="392415"/>
          </a:xfrm>
          <a:prstGeom prst="rect">
            <a:avLst/>
          </a:prstGeom>
          <a:noFill/>
        </p:spPr>
        <p:txBody>
          <a:bodyPr wrap="none" lIns="68580" tIns="34290" rIns="68580" bIns="34290">
            <a:spAutoFit/>
          </a:bodyPr>
          <a:lstStyle/>
          <a:p>
            <a:pPr algn="ctr"/>
            <a:r>
              <a:rPr lang="en-US" sz="2100" b="1" dirty="0">
                <a:ln w="9525">
                  <a:solidFill>
                    <a:schemeClr val="bg1"/>
                  </a:solidFill>
                  <a:prstDash val="solid"/>
                </a:ln>
                <a:solidFill>
                  <a:schemeClr val="bg1"/>
                </a:solidFill>
                <a:effectLst>
                  <a:outerShdw blurRad="12700" dist="38100" dir="2700000" algn="tl" rotWithShape="0">
                    <a:schemeClr val="bg1">
                      <a:lumMod val="50000"/>
                    </a:schemeClr>
                  </a:outerShdw>
                </a:effectLst>
              </a:rPr>
              <a:t>Mahima M Siddheshwar</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740</TotalTime>
  <Words>3661</Words>
  <Application>Microsoft Office PowerPoint</Application>
  <PresentationFormat>On-screen Show (16:9)</PresentationFormat>
  <Paragraphs>512</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Consolas</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Mahima Sidd</cp:lastModifiedBy>
  <cp:revision>87</cp:revision>
  <dcterms:created xsi:type="dcterms:W3CDTF">2026-04-05T01:59:44Z</dcterms:created>
  <dcterms:modified xsi:type="dcterms:W3CDTF">2026-04-16T19:51:35Z</dcterms:modified>
</cp:coreProperties>
</file>